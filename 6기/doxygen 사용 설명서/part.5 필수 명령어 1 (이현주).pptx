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61" r:id="rId5"/>
    <p:sldId id="258" r:id="rId6"/>
    <p:sldId id="259" r:id="rId7"/>
    <p:sldId id="265" r:id="rId8"/>
    <p:sldId id="266" r:id="rId9"/>
    <p:sldId id="267" r:id="rId10"/>
    <p:sldId id="269" r:id="rId11"/>
    <p:sldId id="270" r:id="rId12"/>
    <p:sldId id="260" r:id="rId13"/>
  </p:sldIdLst>
  <p:sldSz cx="24384000" cy="13716000"/>
  <p:notesSz cx="6858000" cy="9144000"/>
  <p:embeddedFontLst>
    <p:embeddedFont>
      <p:font typeface="Pretendard Bold" panose="020B0600000101010101" charset="-127"/>
      <p:bold r:id="rId15"/>
    </p:embeddedFont>
    <p:embeddedFont>
      <p:font typeface="Pretendard ExtraBold" panose="020B0600000101010101" charset="-127"/>
      <p:bold r:id="rId16"/>
    </p:embeddedFont>
    <p:embeddedFont>
      <p:font typeface="Pretendard Regular" panose="020B0600000101010101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2F0"/>
    <a:srgbClr val="595959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61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1218C-4106-439C-BFC1-4FF33B2B44A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BF343-2136-47CD-B4D0-E09A08124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85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BF343-2136-47CD-B4D0-E09A081245F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12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oxygen.nl/manual/command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117600"/>
            <a:ext cx="216916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46200" y="2628900"/>
            <a:ext cx="16865600" cy="4229100"/>
          </a:xfrm>
          <a:prstGeom prst="rect">
            <a:avLst/>
          </a:prstGeom>
        </p:spPr>
        <p:txBody>
          <a:bodyPr lIns="0" tIns="100751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16600" b="0" i="0" u="none" strike="noStrike" dirty="0" err="1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Doxygen</a:t>
            </a:r>
            <a:r>
              <a:rPr lang="en-US" altLang="ko-KR" sz="11500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ko-KR" altLang="en-US" sz="11500" dirty="0" err="1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독시젠</a:t>
            </a:r>
            <a:r>
              <a:rPr lang="en-US" altLang="ko-KR" sz="11500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)</a:t>
            </a:r>
            <a:endParaRPr lang="en-US" sz="11500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>
              <a:lnSpc>
                <a:spcPct val="102089"/>
              </a:lnSpc>
            </a:pPr>
            <a:r>
              <a:rPr lang="ko-KR" altLang="en-US" sz="9600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특수 명령</a:t>
            </a:r>
            <a:r>
              <a:rPr lang="ko-KR" altLang="en-US" sz="9600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어</a:t>
            </a:r>
            <a:r>
              <a:rPr lang="ko-KR" altLang="en-US" sz="9600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로 </a:t>
            </a:r>
            <a:r>
              <a:rPr lang="ko-KR" altLang="en-US" sz="9600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주석 </a:t>
            </a:r>
            <a:r>
              <a:rPr lang="ko-KR" altLang="en-US" sz="9600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작성하기</a:t>
            </a:r>
            <a:endParaRPr lang="en-US" sz="9600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84300" y="1828800"/>
            <a:ext cx="85852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2026 </a:t>
            </a:r>
            <a:r>
              <a:rPr lang="ko-KR" altLang="en-US" sz="34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34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14500" y="10896600"/>
            <a:ext cx="85979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5329"/>
              </a:lnSpc>
            </a:pPr>
            <a:r>
              <a:rPr lang="en-US" sz="4400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202317067 </a:t>
            </a:r>
            <a:r>
              <a:rPr lang="ko-KR" altLang="en-US" sz="4400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이현주</a:t>
            </a:r>
            <a:endParaRPr lang="en-US" sz="4400" b="0" i="0" u="none" strike="noStrike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46200" y="1905000"/>
            <a:ext cx="150495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8000" b="0" i="0" u="none" strike="noStrike" dirty="0" err="1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  <a:endParaRPr lang="en-US" sz="8000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346200" y="3733801"/>
            <a:ext cx="63627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71600" y="40894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49530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730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좋은 주석 작성 원칙</a:t>
            </a:r>
            <a:endParaRPr lang="en-US" sz="3730" b="0" i="0" u="none" strike="noStrike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5803901"/>
            <a:ext cx="61976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altLang="ko-KR" sz="306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Google C++ Style Guide</a:t>
            </a:r>
            <a:r>
              <a:rPr lang="ko-KR" altLang="en-US" sz="306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기준으로 함수</a:t>
            </a:r>
            <a:r>
              <a:rPr lang="en-US" altLang="ko-KR" sz="306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306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클래스 주석 작성법에 대해 알아보자</a:t>
            </a:r>
            <a:r>
              <a:rPr lang="en-US" altLang="ko-KR" sz="306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066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6675100" y="3733801"/>
            <a:ext cx="63627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00500" y="40894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00500" y="49530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400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@brief</a:t>
            </a:r>
            <a:endParaRPr lang="en-US" altLang="ko-KR" sz="4000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700500" y="5803901"/>
            <a:ext cx="61976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서식을 담당하는 특수 명령어를 함수 및 클래스에서의 사용법을 알아보자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066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9017000" y="3733801"/>
            <a:ext cx="63627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029700" y="40894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9700" y="49530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73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Special</a:t>
            </a:r>
            <a:r>
              <a:rPr lang="ko-KR" altLang="en-US" sz="373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73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command</a:t>
            </a:r>
            <a:endParaRPr lang="en-US" altLang="ko-KR" sz="3730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42400" y="5803900"/>
            <a:ext cx="61976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특수 명령이 무엇인지 알아보자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066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346200" y="7912101"/>
            <a:ext cx="6362700" cy="508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71600" y="82677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1600" y="91313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733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@details</a:t>
            </a:r>
            <a:endParaRPr lang="en-US" altLang="ko-KR" sz="3733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71600" y="9994901"/>
            <a:ext cx="61976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서식을 담당하는 특수 명령어를 함수 및 클래스에서의 사용법을 알아보자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066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6675100" y="7912101"/>
            <a:ext cx="6362700" cy="50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6700500" y="82677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00500" y="91313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733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@return</a:t>
            </a:r>
            <a:endParaRPr lang="en-US" altLang="ko-KR" sz="3733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700500" y="9994901"/>
            <a:ext cx="61976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25329"/>
              </a:lnSpc>
            </a:pPr>
            <a:r>
              <a:rPr lang="ko-KR" altLang="en-US" sz="306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 내용 </a:t>
            </a:r>
            <a:r>
              <a:rPr lang="en-US" altLang="ko-KR" sz="306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/ </a:t>
            </a:r>
            <a:r>
              <a:rPr lang="ko-KR" altLang="en-US" sz="306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서식을 담당하는 특수 명령어를 함수 및 클래스에서의 사용법을 알아보자</a:t>
            </a:r>
            <a:r>
              <a:rPr lang="en-US" altLang="ko-KR" sz="306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3066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9017000" y="7912101"/>
            <a:ext cx="6362700" cy="508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029700" y="8267701"/>
            <a:ext cx="2514600" cy="6477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29700" y="9131301"/>
            <a:ext cx="58801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733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@param</a:t>
            </a:r>
            <a:endParaRPr lang="en-US" altLang="ko-KR" sz="3733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042400" y="9994901"/>
            <a:ext cx="6197600" cy="116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 내용 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/ </a:t>
            </a:r>
            <a:r>
              <a:rPr lang="ko-KR" altLang="en-US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서식을 담당하는 특수 명령어를 함수 및 클래스에서의 사용법을 알아보자</a:t>
            </a:r>
            <a:r>
              <a:rPr lang="en-US" altLang="ko-KR" sz="3066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3066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290C-798C-0F22-5E9F-51C0D50E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1B3159-C624-6979-65D4-02036452A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3962400"/>
            <a:ext cx="723900" cy="7239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B159B9B-2521-238E-ABE0-B5C9A0B1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8B353BC-CFAF-F27B-2CD6-352B5891A331}"/>
              </a:ext>
            </a:extLst>
          </p:cNvPr>
          <p:cNvSpPr txBox="1"/>
          <p:nvPr/>
        </p:nvSpPr>
        <p:spPr>
          <a:xfrm>
            <a:off x="1371600" y="1930400"/>
            <a:ext cx="150622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</a:t>
            </a:r>
            <a:r>
              <a:rPr lang="en-US" altLang="ko-KR" sz="6933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lang="en-US" altLang="ko-KR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. </a:t>
            </a:r>
            <a:r>
              <a:rPr lang="ko-KR" altLang="en-US" sz="6933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좋은 주석 작성 원칙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3BC8985-B1E1-7AA1-F2E6-14FC757C3879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6FED49-3B13-7A06-E2F4-40A26CCE33F4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03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3CCADF5-BEA5-A95E-060E-A0BCAE2B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C3D350A-A813-7DFA-F330-47BF391A4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000102" y="8038200"/>
            <a:ext cx="8422774" cy="62623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501D9546-6B4C-4A2A-4F72-FD44A4BE4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346200" y="3810001"/>
            <a:ext cx="21691600" cy="508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ABFA8133-A8D2-7076-69F1-C80871D021E6}"/>
              </a:ext>
            </a:extLst>
          </p:cNvPr>
          <p:cNvSpPr txBox="1"/>
          <p:nvPr/>
        </p:nvSpPr>
        <p:spPr>
          <a:xfrm>
            <a:off x="1473200" y="4064000"/>
            <a:ext cx="558800" cy="495300"/>
          </a:xfrm>
          <a:prstGeom prst="rect">
            <a:avLst/>
          </a:prstGeom>
        </p:spPr>
        <p:txBody>
          <a:bodyPr lIns="0" tIns="3338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28" b="0" i="0" u="none" strike="noStrike" cap="all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3CF4C-F251-084B-9F12-AD565AB8F89B}"/>
              </a:ext>
            </a:extLst>
          </p:cNvPr>
          <p:cNvSpPr txBox="1"/>
          <p:nvPr/>
        </p:nvSpPr>
        <p:spPr>
          <a:xfrm>
            <a:off x="1371600" y="4762500"/>
            <a:ext cx="91186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733" b="0" i="0" u="none" strike="noStrike" dirty="0">
                <a:solidFill>
                  <a:srgbClr val="3452F0"/>
                </a:solidFill>
                <a:latin typeface="Pretendard Bold"/>
                <a:ea typeface="Pretendard Bold"/>
                <a:cs typeface="Pretendard Bold"/>
              </a:rPr>
              <a:t>함수 주석</a:t>
            </a:r>
            <a:endParaRPr lang="en-US" sz="3733" b="0" i="0" u="none" strike="noStrike" dirty="0">
              <a:solidFill>
                <a:srgbClr val="3452F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E7A0DA0-2689-A632-A927-F87ED7E6202C}"/>
              </a:ext>
            </a:extLst>
          </p:cNvPr>
          <p:cNvSpPr txBox="1"/>
          <p:nvPr/>
        </p:nvSpPr>
        <p:spPr>
          <a:xfrm>
            <a:off x="1371600" y="5638800"/>
            <a:ext cx="9956800" cy="328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 선언의 주석은 </a:t>
            </a:r>
            <a:r>
              <a:rPr lang="ko-KR" altLang="en-US" sz="3199" b="0" i="0" u="sng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함수를 사용하는 방법을 설명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하도록 한다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거의 모든 함수 선언에는 함수가 무엇을 하는지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어떻게 사용하는지에 대한 주석이 있어야 한다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endParaRPr lang="en-US" altLang="ko-KR" sz="2800" b="0" i="0" u="none" strike="noStrike" dirty="0">
              <a:solidFill>
                <a:srgbClr val="B9B9B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 정의의 주석은 </a:t>
            </a:r>
            <a:r>
              <a:rPr lang="ko-KR" altLang="en-US" sz="3199" u="sng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함수가 어떻게 동작하는지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설명하도록 한다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어떤 방식으로 구현했는지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왜 그렇게 구현했는지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특별한 구현상의 이유에 대해 작성하도록 한다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 구현에 대한 주석은 정의 부분에서 설명하도록 한다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D25E5D3A-23CF-1AB6-5C03-92DA685FE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9700" y="3962400"/>
            <a:ext cx="723900" cy="7239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907BD147-0DD0-1D75-9144-6B8E2291B3B8}"/>
              </a:ext>
            </a:extLst>
          </p:cNvPr>
          <p:cNvSpPr txBox="1"/>
          <p:nvPr/>
        </p:nvSpPr>
        <p:spPr>
          <a:xfrm>
            <a:off x="12928600" y="4064000"/>
            <a:ext cx="558800" cy="495300"/>
          </a:xfrm>
          <a:prstGeom prst="rect">
            <a:avLst/>
          </a:prstGeom>
        </p:spPr>
        <p:txBody>
          <a:bodyPr lIns="0" tIns="3338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28" b="0" i="0" u="none" strike="noStrike" cap="all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E83BB77-1E03-E187-7903-6DE1237D73A8}"/>
              </a:ext>
            </a:extLst>
          </p:cNvPr>
          <p:cNvSpPr txBox="1"/>
          <p:nvPr/>
        </p:nvSpPr>
        <p:spPr>
          <a:xfrm>
            <a:off x="12839700" y="4762500"/>
            <a:ext cx="91186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733" b="0" i="0" u="none" strike="noStrike" dirty="0">
                <a:solidFill>
                  <a:srgbClr val="3452F0"/>
                </a:solidFill>
                <a:latin typeface="Pretendard Bold"/>
                <a:ea typeface="Pretendard Bold"/>
                <a:cs typeface="Pretendard Bold"/>
              </a:rPr>
              <a:t>클래스 주석</a:t>
            </a:r>
            <a:endParaRPr lang="en-US" sz="3733" b="0" i="0" u="none" strike="noStrike" dirty="0">
              <a:solidFill>
                <a:srgbClr val="3452F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9A3982B-D0BA-90AC-28BF-89F1D3A4029D}"/>
              </a:ext>
            </a:extLst>
          </p:cNvPr>
          <p:cNvSpPr txBox="1"/>
          <p:nvPr/>
        </p:nvSpPr>
        <p:spPr>
          <a:xfrm>
            <a:off x="12839700" y="5676900"/>
            <a:ext cx="9956800" cy="628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명확하지 않은 모든 클래스나 구조체 선언에는 </a:t>
            </a:r>
            <a:r>
              <a:rPr lang="ko-KR" altLang="en-US" sz="3199" b="0" i="0" u="sng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무엇을 위한 클래스인지 설명해주는 주석이 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있어야 한다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2800" b="0" i="0" u="none" strike="noStrike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언제 사용하는 클래스인지</a:t>
            </a:r>
            <a:r>
              <a:rPr lang="en-US" altLang="ko-KR" sz="2800" b="0" i="0" u="none" strike="noStrike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어떻게 사용하는 클래스인지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</a:t>
            </a:r>
          </a:p>
          <a:p>
            <a:pPr lvl="0" algn="l">
              <a:lnSpc>
                <a:spcPct val="125329"/>
              </a:lnSpc>
            </a:pPr>
            <a:r>
              <a:rPr lang="ko-KR" altLang="en-US" sz="2800" b="0" i="0" u="none" strike="noStrike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올바르게 사용하기 위해 알아야 할 추가 사항이 있는지 등에 대한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내용이 포함되면 좋은 주석이라 볼 수 있다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2800" b="0" i="0" u="none" strike="noStrike" dirty="0">
              <a:solidFill>
                <a:srgbClr val="B9B9B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ko-KR" altLang="en-US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인터페이스를 설명하는 내용은 클래스 선언부에</a:t>
            </a: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구현 방법은 구현부에 작성하는 것을 권장한다</a:t>
            </a: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sz="3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2422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3962400"/>
            <a:ext cx="723900" cy="723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71600" y="1930400"/>
            <a:ext cx="150622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02. </a:t>
            </a:r>
            <a:r>
              <a:rPr lang="en-US" altLang="ko-KR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Special Command(</a:t>
            </a:r>
            <a:r>
              <a:rPr lang="ko-KR" altLang="en-US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특수 명령어</a:t>
            </a:r>
            <a:r>
              <a:rPr lang="en-US" altLang="ko-KR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)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04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000102" y="8038200"/>
            <a:ext cx="8422774" cy="6262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346200" y="3810001"/>
            <a:ext cx="216916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73200" y="4064000"/>
            <a:ext cx="558800" cy="495300"/>
          </a:xfrm>
          <a:prstGeom prst="rect">
            <a:avLst/>
          </a:prstGeom>
        </p:spPr>
        <p:txBody>
          <a:bodyPr lIns="0" tIns="3338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28" b="0" i="0" u="none" strike="noStrike" cap="all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4762500"/>
            <a:ext cx="91186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733" b="0" i="0" u="none" strike="noStrike" dirty="0">
                <a:solidFill>
                  <a:srgbClr val="3452F0"/>
                </a:solidFill>
                <a:latin typeface="Pretendard Bold"/>
                <a:ea typeface="Pretendard Bold"/>
                <a:cs typeface="Pretendard Bold"/>
              </a:rPr>
              <a:t>특수 명령어란</a:t>
            </a:r>
            <a:r>
              <a:rPr lang="en-US" altLang="ko-KR" sz="3733" b="0" i="0" u="none" strike="noStrike" dirty="0">
                <a:solidFill>
                  <a:srgbClr val="3452F0"/>
                </a:solidFill>
                <a:latin typeface="Pretendard Bold"/>
                <a:ea typeface="Pretendard Bold"/>
                <a:cs typeface="Pretendard Bold"/>
              </a:rPr>
              <a:t>?</a:t>
            </a:r>
            <a:endParaRPr lang="en-US" sz="3733" b="0" i="0" u="none" strike="noStrike" dirty="0">
              <a:solidFill>
                <a:srgbClr val="3452F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71600" y="5676900"/>
            <a:ext cx="9956800" cy="328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199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Doxygen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이 문서화 정보를 특별하게 처리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\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또는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@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로 시작하여 인식되도록 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하도록 하는 명령어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sz="3199" b="0" i="0" u="none" strike="noStrike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Ex) \brief, @brief </a:t>
            </a:r>
            <a:r>
              <a:rPr lang="ko-KR" altLang="en-US" sz="3199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등</a:t>
            </a:r>
            <a:endParaRPr lang="en-US" sz="3199" b="0" i="0" u="none" strike="noStrike" dirty="0">
              <a:solidFill>
                <a:srgbClr val="B9B9B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9700" y="3962400"/>
            <a:ext cx="723900" cy="723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928600" y="4064000"/>
            <a:ext cx="558800" cy="495300"/>
          </a:xfrm>
          <a:prstGeom prst="rect">
            <a:avLst/>
          </a:prstGeom>
        </p:spPr>
        <p:txBody>
          <a:bodyPr lIns="0" tIns="3338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28" b="0" i="0" u="none" strike="noStrike" cap="all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39700" y="4762500"/>
            <a:ext cx="91186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3733" b="0" i="0" u="none" strike="noStrike" dirty="0">
                <a:solidFill>
                  <a:srgbClr val="3452F0"/>
                </a:solidFill>
                <a:latin typeface="Pretendard Bold"/>
                <a:ea typeface="Pretendard Bold"/>
                <a:cs typeface="Pretendard Bold"/>
              </a:rPr>
              <a:t>특수 명령어 사용 규칙</a:t>
            </a:r>
            <a:endParaRPr lang="en-US" sz="3733" b="0" i="0" u="none" strike="noStrike" dirty="0">
              <a:solidFill>
                <a:srgbClr val="3452F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839700" y="5676900"/>
            <a:ext cx="9956800" cy="628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1.  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모든 명령어는 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\ 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또는 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로 시작한다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en-US" sz="28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Doxygen</a:t>
            </a:r>
            <a:r>
              <a:rPr 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문서에서 사용되는 모든 명령어는 백슬래시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(\) </a:t>
            </a:r>
            <a:endParaRPr lang="en-US" altLang="ko-KR" sz="28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또는 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at-sign(@)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으로 시작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</a:p>
          <a:p>
            <a:pPr lvl="0" algn="l">
              <a:lnSpc>
                <a:spcPct val="125329"/>
              </a:lnSpc>
            </a:pPr>
            <a:endParaRPr lang="en-US" altLang="ko-KR" sz="28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2.  </a:t>
            </a:r>
            <a:r>
              <a:rPr lang="ko-KR" altLang="en-US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일부 명령어는 하나 이상의 인자를 가진다</a:t>
            </a:r>
            <a:r>
              <a:rPr lang="en-US" altLang="ko-KR" sz="3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일부 명령어는 하나 이상의 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argument(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인자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가지며 그 인자는 </a:t>
            </a:r>
            <a:r>
              <a:rPr lang="en-US" altLang="ko-KR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ko-KR" altLang="en-US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특정한 범위</a:t>
            </a:r>
            <a:r>
              <a:rPr lang="en-US" altLang="ko-KR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(range)</a:t>
            </a:r>
            <a:r>
              <a:rPr lang="ko-KR" altLang="en-US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가진다</a:t>
            </a:r>
            <a:r>
              <a:rPr lang="en-US" altLang="ko-KR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즉 </a:t>
            </a:r>
            <a:r>
              <a:rPr lang="en-US" altLang="ko-KR" sz="28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Doxygen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명령어에서 인자를 작성할 </a:t>
            </a:r>
            <a:r>
              <a:rPr lang="ko-KR" altLang="en-US" sz="28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때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어떤 종류의 괄호를 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	</a:t>
            </a:r>
            <a:r>
              <a:rPr lang="ko-KR" altLang="en-US" sz="28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사용하느냐에</a:t>
            </a:r>
            <a:r>
              <a:rPr lang="ko-KR" altLang="en-US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따라 그 인자가 어디까지 이어지는지가 결정된다</a:t>
            </a:r>
            <a:r>
              <a:rPr lang="en-US" altLang="ko-KR" sz="28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28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3.  </a:t>
            </a:r>
            <a:r>
              <a:rPr lang="ko-KR" altLang="en-US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인식하지 못하는 명령어는 일반적인 텍스트로 처리한다</a:t>
            </a:r>
            <a:r>
              <a:rPr lang="en-US" altLang="ko-KR" sz="3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28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46199" y="1600200"/>
            <a:ext cx="17779995" cy="12700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02-2-2 </a:t>
            </a:r>
            <a:r>
              <a:rPr lang="ko-KR" altLang="en-US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일부 명령어는 하나 이상의 인자를 가진다 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46200" y="3009900"/>
            <a:ext cx="14503400" cy="41669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2933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괄호에 따라 달라지는 인자의 범위</a:t>
            </a:r>
            <a:r>
              <a:rPr lang="en-US" altLang="ko-KR" sz="2933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933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괄호를 확인하여 명령어 사용의 구성 요소를 파악할 수 있다</a:t>
            </a:r>
            <a:r>
              <a:rPr lang="en-US" altLang="ko-KR" sz="2933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.)</a:t>
            </a:r>
            <a:endParaRPr lang="en-US" sz="2933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05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58900" y="469900"/>
            <a:ext cx="85598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02. Special command(</a:t>
            </a:r>
            <a:r>
              <a:rPr lang="ko-KR" alt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특수 명령어</a:t>
            </a:r>
            <a:r>
              <a:rPr lang="en-US" altLang="ko-KR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B64F8B3-D9A7-B41C-F191-1A39D3106348}"/>
              </a:ext>
            </a:extLst>
          </p:cNvPr>
          <p:cNvGrpSpPr/>
          <p:nvPr/>
        </p:nvGrpSpPr>
        <p:grpSpPr>
          <a:xfrm>
            <a:off x="1554221" y="4097389"/>
            <a:ext cx="21229579" cy="7345311"/>
            <a:chOff x="1554221" y="4097389"/>
            <a:chExt cx="21877185" cy="8005711"/>
          </a:xfrm>
        </p:grpSpPr>
        <p:sp>
          <p:nvSpPr>
            <p:cNvPr id="6" name="TextBox 6"/>
            <p:cNvSpPr txBox="1"/>
            <p:nvPr/>
          </p:nvSpPr>
          <p:spPr>
            <a:xfrm>
              <a:off x="1554221" y="4097389"/>
              <a:ext cx="4607907" cy="571788"/>
            </a:xfrm>
            <a:prstGeom prst="rect">
              <a:avLst/>
            </a:prstGeom>
          </p:spPr>
          <p:txBody>
            <a:bodyPr lIns="0" tIns="44026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&lt;&gt; </a:t>
              </a:r>
              <a:r>
                <a:rPr lang="ko-KR" altLang="en-US" sz="3600" b="0" i="0" u="none" strike="noStrike" cap="all" dirty="0" err="1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꺾쇠괄호가</a:t>
              </a:r>
              <a:r>
                <a:rPr lang="ko-KR" alt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 사용되는 경우</a:t>
              </a:r>
              <a:endParaRPr lang="en-US" sz="3600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54221" y="5287943"/>
              <a:ext cx="4607908" cy="50551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&lt;</a:t>
              </a:r>
              <a:r>
                <a:rPr 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argument&gt;</a:t>
              </a:r>
            </a:p>
            <a:p>
              <a:pPr lvl="0" algn="l">
                <a:lnSpc>
                  <a:spcPct val="125329"/>
                </a:lnSpc>
              </a:pP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25329"/>
                </a:lnSpc>
              </a:pPr>
              <a:r>
                <a:rPr lang="ko-KR" altLang="en-US" sz="3600" b="0" i="0" u="none" strike="noStrike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꺾쇠괄호가</a:t>
              </a:r>
              <a:r>
                <a:rPr lang="ko-KR" alt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사용되면 해당 인자는 하나의 단어로 인식된다</a:t>
              </a:r>
              <a:r>
                <a:rPr lang="en-US" altLang="ko-KR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하나의 단어를 인자로 사용하고 싶을 때 사용</a:t>
              </a:r>
              <a:r>
                <a:rPr lang="en-US" altLang="ko-KR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 flipV="1">
              <a:off x="3254870" y="8441924"/>
              <a:ext cx="6936796" cy="7032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386752" y="4097389"/>
              <a:ext cx="4607907" cy="571788"/>
            </a:xfrm>
            <a:prstGeom prst="rect">
              <a:avLst/>
            </a:prstGeom>
          </p:spPr>
          <p:txBody>
            <a:bodyPr lIns="0" tIns="44026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 () </a:t>
              </a:r>
              <a:r>
                <a:rPr lang="ko-KR" alt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소괄호가 사용되는 경우</a:t>
              </a:r>
              <a:endParaRPr lang="en-US" sz="3600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5619" y="5287943"/>
              <a:ext cx="4670177" cy="50551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(</a:t>
              </a:r>
              <a:r>
                <a:rPr 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argument)</a:t>
              </a:r>
            </a:p>
            <a:p>
              <a:pPr lvl="0" algn="l">
                <a:lnSpc>
                  <a:spcPct val="125329"/>
                </a:lnSpc>
              </a:pP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25329"/>
                </a:lnSpc>
              </a:pPr>
              <a:r>
                <a:rPr lang="ko-KR" alt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소괄호가 사용되면 해당 인자는 그 명령어가 발견된 줄의 끝까지 이어진다</a:t>
              </a:r>
              <a:r>
                <a:rPr lang="en-US" altLang="ko-KR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현재 줄에서 명령어 뒤에 이어지는 내용 전체가 그 인자의 범위가 된다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V="1">
              <a:off x="9014755" y="8441924"/>
              <a:ext cx="6936796" cy="70321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3146638" y="4097389"/>
              <a:ext cx="4597530" cy="571788"/>
            </a:xfrm>
            <a:prstGeom prst="rect">
              <a:avLst/>
            </a:prstGeom>
          </p:spPr>
          <p:txBody>
            <a:bodyPr lIns="0" tIns="44026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{} </a:t>
              </a:r>
              <a:r>
                <a:rPr lang="ko-KR" alt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중괄호가 사용되는 경우</a:t>
              </a:r>
              <a:endParaRPr lang="en-US" sz="3600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57016" y="5275598"/>
              <a:ext cx="4597530" cy="5211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{</a:t>
              </a:r>
              <a:r>
                <a:rPr 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argument}</a:t>
              </a:r>
            </a:p>
            <a:p>
              <a:pPr lvl="0" algn="l">
                <a:lnSpc>
                  <a:spcPct val="125329"/>
                </a:lnSpc>
              </a:pP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25329"/>
                </a:lnSpc>
              </a:pPr>
              <a:r>
                <a:rPr lang="ko-KR" alt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중괄호가 사용되면 해당 인자는 다음 문단까지 이어진다</a:t>
              </a:r>
              <a:r>
                <a:rPr lang="en-US" altLang="ko-KR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문단의 구분은 빈 줄</a:t>
              </a:r>
              <a:r>
                <a:rPr lang="en-US" altLang="ko-KR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section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indicator(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섹션 지시기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)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로 한다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이 때 명령어와 시작 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{ 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사이에는 공백이 없어야 한다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</a:p>
          </p:txBody>
        </p:sp>
        <p:pic>
          <p:nvPicPr>
            <p:cNvPr id="24" name="Picture 11">
              <a:extLst>
                <a:ext uri="{FF2B5EF4-FFF2-40B4-BE49-F238E27FC236}">
                  <a16:creationId xmlns:a16="http://schemas.microsoft.com/office/drawing/2014/main" id="{A3CC4B86-D0C1-A5B4-B067-A88C67A0E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V="1">
              <a:off x="14743500" y="8599540"/>
              <a:ext cx="6936799" cy="70321"/>
            </a:xfrm>
            <a:prstGeom prst="rect">
              <a:avLst/>
            </a:prstGeom>
          </p:spPr>
        </p:pic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C5934335-7C36-8EF3-CB22-69F7D10DCF4F}"/>
                </a:ext>
              </a:extLst>
            </p:cNvPr>
            <p:cNvSpPr txBox="1"/>
            <p:nvPr/>
          </p:nvSpPr>
          <p:spPr>
            <a:xfrm>
              <a:off x="18833876" y="4097389"/>
              <a:ext cx="4597530" cy="571788"/>
            </a:xfrm>
            <a:prstGeom prst="rect">
              <a:avLst/>
            </a:prstGeom>
          </p:spPr>
          <p:txBody>
            <a:bodyPr lIns="0" tIns="44026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[] </a:t>
              </a:r>
              <a:r>
                <a:rPr lang="ko-KR" altLang="en-US" sz="3600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대</a:t>
              </a:r>
              <a:r>
                <a:rPr lang="ko-KR" altLang="en-US" sz="3600" b="0" i="0" u="none" strike="noStrike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Pretendard Regular"/>
                  <a:ea typeface="Pretendard Regular"/>
                  <a:cs typeface="Pretendard Regular"/>
                </a:rPr>
                <a:t>괄호가 사용되는 경우</a:t>
              </a:r>
              <a:endParaRPr lang="en-US" sz="3600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endParaRP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8726FA04-4849-9146-0E19-5F555538AFFF}"/>
                </a:ext>
              </a:extLst>
            </p:cNvPr>
            <p:cNvSpPr txBox="1"/>
            <p:nvPr/>
          </p:nvSpPr>
          <p:spPr>
            <a:xfrm>
              <a:off x="18833876" y="5275598"/>
              <a:ext cx="4597530" cy="5211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&lt;</a:t>
              </a:r>
              <a:r>
                <a:rPr 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argument&gt;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[</a:t>
              </a:r>
              <a:r>
                <a:rPr 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option</a:t>
              </a:r>
              <a:r>
                <a:rPr lang="en-US" sz="3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]</a:t>
              </a:r>
              <a:endParaRPr lang="en-US" sz="3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25329"/>
                </a:lnSpc>
              </a:pPr>
              <a:endParaRPr lang="en-US" sz="3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lvl="0" algn="l">
                <a:lnSpc>
                  <a:spcPct val="125329"/>
                </a:lnSpc>
              </a:pP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대괄호가 사용되면 해당 인자는 선택적이라는 의미다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단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예외적으로 대괄호가 따옴표 안에 있다면 이는 대괄호 자체가 명령어 인자의 필수적인 부분으로 취급된다</a:t>
              </a:r>
              <a:r>
                <a:rPr lang="en-US" altLang="ko-KR" sz="3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6933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03. </a:t>
            </a:r>
            <a:r>
              <a:rPr lang="en-US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@</a:t>
            </a:r>
            <a:r>
              <a:rPr lang="en-US" sz="6933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brief(\brief)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58900" y="469900"/>
            <a:ext cx="85598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03 @</a:t>
            </a:r>
            <a:r>
              <a:rPr 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brief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1346200" y="11542607"/>
            <a:ext cx="21678900" cy="9009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125200" y="4194243"/>
            <a:ext cx="5869445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함수 및 클래스 에서의 사용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6D3EE6A-3D6C-3EA4-7126-9EACEF4DD9CB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@brief</a:t>
            </a:r>
            <a:r>
              <a:rPr 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명령어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5F34F232-7186-BC2A-7DC1-40102621A5C5}"/>
              </a:ext>
            </a:extLst>
          </p:cNvPr>
          <p:cNvSpPr txBox="1"/>
          <p:nvPr/>
        </p:nvSpPr>
        <p:spPr>
          <a:xfrm>
            <a:off x="1415174" y="5102578"/>
            <a:ext cx="8119241" cy="471875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199" dirty="0">
                <a:solidFill>
                  <a:srgbClr val="3452F0"/>
                </a:solidFill>
                <a:latin typeface="Pretendard Regular"/>
                <a:ea typeface="Pretendard Regular"/>
                <a:cs typeface="Pretendard Regular"/>
              </a:rPr>
              <a:t>@brief { brief description }</a:t>
            </a:r>
          </a:p>
          <a:p>
            <a:pPr lvl="0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서화 대상에 대한 간단한 설명을 작성할 때 사용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여러 줄에 걸쳐 작성할 수 있지만 가능한 한 짧고 간결하게 작성하는 것이 권장됨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@brief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의 설명은 빈 줄이나 다른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sectioning command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가 나타나면 종료됨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하나의 문서화 블록 안에 여러 개의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@brief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가 있다면 하나의 설명으로 </a:t>
            </a:r>
            <a:r>
              <a:rPr lang="ko-KR" altLang="en-US" sz="3199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합쳐짐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24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altLang="ko-KR" sz="24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@short</a:t>
            </a:r>
            <a:r>
              <a:rPr lang="ko-KR" altLang="en-US" sz="24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는</a:t>
            </a:r>
            <a:r>
              <a:rPr lang="en-US" altLang="ko-KR" sz="24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 @brief</a:t>
            </a:r>
            <a:r>
              <a:rPr lang="ko-KR" altLang="en-US" sz="24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와 동일한 기능을 수행하기도 한다</a:t>
            </a:r>
            <a:r>
              <a:rPr lang="en-US" altLang="ko-KR" sz="24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3199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914AF48-CDE8-450E-B02E-9E80830ED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46200" y="3643489"/>
            <a:ext cx="8572500" cy="53622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08027DD-D581-B972-81E9-F70C51A21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458" y="4945183"/>
            <a:ext cx="5554342" cy="5976191"/>
          </a:xfrm>
          <a:prstGeom prst="rect">
            <a:avLst/>
          </a:prstGeom>
        </p:spPr>
      </p:pic>
      <p:pic>
        <p:nvPicPr>
          <p:cNvPr id="48" name="그림 47" descr="Calculator&#10;&#10;AI 생성 콘텐츠는 정확하지 않을 수 있습니다.">
            <a:extLst>
              <a:ext uri="{FF2B5EF4-FFF2-40B4-BE49-F238E27FC236}">
                <a16:creationId xmlns:a16="http://schemas.microsoft.com/office/drawing/2014/main" id="{3CCC67E5-1626-C6C0-0DE7-CC7D55E267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41"/>
          <a:stretch>
            <a:fillRect/>
          </a:stretch>
        </p:blipFill>
        <p:spPr>
          <a:xfrm>
            <a:off x="16967182" y="4945184"/>
            <a:ext cx="5585797" cy="597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1EE0-B581-11D5-4E67-3F559FB6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23435A-54DA-E38B-6DFA-2D9FAFAC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332A1673-78F7-EBDA-3DB8-63E339AB70BA}"/>
              </a:ext>
            </a:extLst>
          </p:cNvPr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6933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04. </a:t>
            </a:r>
            <a:r>
              <a:rPr lang="en-US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@</a:t>
            </a:r>
            <a:r>
              <a:rPr lang="en-US" sz="6933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details(\details)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EFB2BCF-40C7-83B0-6FB8-7D62DFD4EF64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FF4FD0-71F4-1945-C0DD-803518A5EBF7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07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13C2558-9502-762F-3B8B-C3602D526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DA2E673-3797-84D4-D09C-190B86E7D995}"/>
              </a:ext>
            </a:extLst>
          </p:cNvPr>
          <p:cNvSpPr txBox="1"/>
          <p:nvPr/>
        </p:nvSpPr>
        <p:spPr>
          <a:xfrm>
            <a:off x="1358900" y="469900"/>
            <a:ext cx="85598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04 @details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625AC62-4E3D-8AE2-D103-AC170094D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1346200" y="11542607"/>
            <a:ext cx="21678900" cy="90091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F739F43-C5F6-AD13-70B8-3AA050AC98BF}"/>
              </a:ext>
            </a:extLst>
          </p:cNvPr>
          <p:cNvSpPr txBox="1"/>
          <p:nvPr/>
        </p:nvSpPr>
        <p:spPr>
          <a:xfrm>
            <a:off x="11125200" y="4191000"/>
            <a:ext cx="5869445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함수 및 클래스 에서의 사용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F6B8D7A6-CE75-C938-DB7C-4855B1E5E1DE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@details</a:t>
            </a:r>
            <a:r>
              <a:rPr 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명령어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750DDACB-1F26-C8F2-6974-FF02B4D28618}"/>
              </a:ext>
            </a:extLst>
          </p:cNvPr>
          <p:cNvSpPr txBox="1"/>
          <p:nvPr/>
        </p:nvSpPr>
        <p:spPr>
          <a:xfrm>
            <a:off x="1415174" y="5102578"/>
            <a:ext cx="8119241" cy="471875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199" dirty="0">
                <a:solidFill>
                  <a:srgbClr val="3452F0"/>
                </a:solidFill>
                <a:latin typeface="Pretendard Regular"/>
                <a:ea typeface="Pretendard Regular"/>
                <a:cs typeface="Pretendard Regular"/>
              </a:rPr>
              <a:t>@details { detailed description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서화 대상에 대한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상세</a:t>
            </a:r>
            <a:r>
              <a:rPr lang="ko-KR" altLang="en-US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한 설명을 작성할 때 사용</a:t>
            </a:r>
            <a:r>
              <a:rPr lang="en-US" altLang="ko-KR" sz="31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@brief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보다 자세한 설명을 작성할 때 사용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여러 문단에 걸쳐 긴 설명을 작성할 수 있음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문서화 대상의 동작 원리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사용 방법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주의사항 등을 자유롭게 기술할 수 있음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하나의 문서화 블록 안에 여러 개의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@details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가 존재하면 하나의 상세 설명으로 이어져 처리됨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endParaRPr lang="en-US" altLang="ko-KR" sz="2400" dirty="0">
              <a:solidFill>
                <a:srgbClr val="B9B9B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3199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902706FE-A2AD-9513-577C-A314422F3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371600" y="3639511"/>
            <a:ext cx="9208459" cy="57600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A42ADC2-C560-7088-A10E-8DEB76F56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6458" y="4920409"/>
            <a:ext cx="5554342" cy="5976191"/>
          </a:xfrm>
          <a:prstGeom prst="rect">
            <a:avLst/>
          </a:prstGeom>
        </p:spPr>
      </p:pic>
      <p:pic>
        <p:nvPicPr>
          <p:cNvPr id="12" name="그림 11" descr="This image is a code snippet in C++, containing a function for adding two integers and a class for simple arithmetic operations.&#10;&#10;AI 생성 콘텐츠는 정확하지 않을 수 있습니다.">
            <a:extLst>
              <a:ext uri="{FF2B5EF4-FFF2-40B4-BE49-F238E27FC236}">
                <a16:creationId xmlns:a16="http://schemas.microsoft.com/office/drawing/2014/main" id="{74874E53-6236-9A50-62A0-804AC66C3B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7182" y="4920408"/>
            <a:ext cx="5585797" cy="59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8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F9DC-FFD7-20C2-0C05-7C51868C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8D5B43-68A2-C895-9C74-1438C207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7ECDC611-9317-1849-5DE8-84060F5833F0}"/>
              </a:ext>
            </a:extLst>
          </p:cNvPr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6933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05. </a:t>
            </a:r>
            <a:r>
              <a:rPr lang="en-US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@</a:t>
            </a:r>
            <a:r>
              <a:rPr lang="en-US" sz="6933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param(\param)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02D098-0043-3B5B-6C42-561A63636B71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6AB49C-D191-5C86-64B2-EA7F9C5253C9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08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BB7EC082-7A2F-5264-7720-386337292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3609CA2-F458-2E4E-505A-F25D55208A7E}"/>
              </a:ext>
            </a:extLst>
          </p:cNvPr>
          <p:cNvSpPr txBox="1"/>
          <p:nvPr/>
        </p:nvSpPr>
        <p:spPr>
          <a:xfrm>
            <a:off x="1358900" y="469900"/>
            <a:ext cx="85598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05 @param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1336236-B59D-6838-9157-36C413D9C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1346200" y="11542607"/>
            <a:ext cx="21678900" cy="90091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82068C0-7D38-9B4B-E370-AA3D16C272B0}"/>
              </a:ext>
            </a:extLst>
          </p:cNvPr>
          <p:cNvSpPr txBox="1"/>
          <p:nvPr/>
        </p:nvSpPr>
        <p:spPr>
          <a:xfrm>
            <a:off x="11125200" y="4178468"/>
            <a:ext cx="5869445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함수 및 클래스 에서의 사용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B3B1E9A5-D819-5962-9008-624CC70FE3A8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@param</a:t>
            </a:r>
            <a:r>
              <a:rPr 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명령어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FD8A50F6-5206-FA95-6822-A84D809D490D}"/>
              </a:ext>
            </a:extLst>
          </p:cNvPr>
          <p:cNvSpPr txBox="1"/>
          <p:nvPr/>
        </p:nvSpPr>
        <p:spPr>
          <a:xfrm>
            <a:off x="1415174" y="5102577"/>
            <a:ext cx="8503526" cy="597618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200" dirty="0">
                <a:solidFill>
                  <a:srgbClr val="3452F0"/>
                </a:solidFill>
                <a:latin typeface="Pretendard Regular"/>
                <a:ea typeface="Pretendard Regular"/>
                <a:cs typeface="Pretendard Regular"/>
              </a:rPr>
              <a:t>@param &lt;parameter-name&gt; { parameter description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함수의 매개변수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(parameter)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설명하는 명령어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함수의 각 매개변수마다 하나씩 작성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첫 번째 인자로 매개변수 이름을 작성하고 그 뒤에 해당 매개변수의 역할을 설명함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하나의 함수에 여러 개의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@param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을 사용할 수 있음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방향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(direction)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을 함께 표시 가능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ex)@param[in], @param[out], @param[in,out]</a:t>
            </a:r>
          </a:p>
          <a:p>
            <a:pPr lvl="0" algn="l">
              <a:lnSpc>
                <a:spcPct val="125329"/>
              </a:lnSpc>
            </a:pP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전용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출력 전용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입출력 매개변수를 나타낼 수 있다</a:t>
            </a:r>
            <a:r>
              <a:rPr lang="en-US" altLang="ko-KR" sz="2800" dirty="0">
                <a:solidFill>
                  <a:srgbClr val="B9B9B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3199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8808A32-E022-049F-1A71-83BFEE17B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07141" y="3639511"/>
            <a:ext cx="9208459" cy="57600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2DDED503-5276-3025-5E97-02E984C33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0778" y="4929408"/>
            <a:ext cx="5554342" cy="5976191"/>
          </a:xfrm>
          <a:prstGeom prst="rect">
            <a:avLst/>
          </a:prstGeom>
        </p:spPr>
      </p:pic>
      <p:pic>
        <p:nvPicPr>
          <p:cNvPr id="12" name="그림 11" descr="The image displays a snippet of C++ code with Doxygen-style documentation, including a class `Calculator` that has two methods: `add` for adding two integers, and `multiply` for multiplying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948E51D5-155E-B2A7-9468-E1B7DF967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9403" y="4924515"/>
            <a:ext cx="5585797" cy="59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9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9BB7-7A31-32BA-97D5-FDAE36B7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E7E8121-B5A6-0BF5-6CC2-E29C93A61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9121DAD-F670-2E95-F1D5-CA259CC23BEE}"/>
              </a:ext>
            </a:extLst>
          </p:cNvPr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6933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06. </a:t>
            </a:r>
            <a:r>
              <a:rPr lang="en-US" sz="6933" b="0" i="0" u="none" strike="noStrike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@return</a:t>
            </a:r>
            <a:r>
              <a:rPr lang="en-US" sz="6933" dirty="0">
                <a:solidFill>
                  <a:srgbClr val="3452F0"/>
                </a:solidFill>
                <a:latin typeface="Pretendard ExtraBold"/>
                <a:ea typeface="Pretendard ExtraBold"/>
                <a:cs typeface="Pretendard ExtraBold"/>
              </a:rPr>
              <a:t>(\return)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A79DD0-0578-6608-12CC-68B877821F0D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680E66E-90C4-1713-6A03-4BCA37C2D76D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09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F6A7EBF-E1DF-A2FA-F820-0D4DAAD14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33EDAC2-E355-7A7A-1F76-C4ED204E33EB}"/>
              </a:ext>
            </a:extLst>
          </p:cNvPr>
          <p:cNvSpPr txBox="1"/>
          <p:nvPr/>
        </p:nvSpPr>
        <p:spPr>
          <a:xfrm>
            <a:off x="1358900" y="469900"/>
            <a:ext cx="85598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0</a:t>
            </a:r>
            <a:r>
              <a:rPr 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6</a:t>
            </a:r>
            <a:r>
              <a:rPr lang="en-US" sz="2666" b="0" i="0" u="none" strike="noStrike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 @</a:t>
            </a:r>
            <a:r>
              <a:rPr 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return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41D6263-6212-0DE8-5DB4-BAFB2EF74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1346200" y="11542607"/>
            <a:ext cx="21678900" cy="90091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60094F8-D066-A69C-4DE1-0084E1A05AD2}"/>
              </a:ext>
            </a:extLst>
          </p:cNvPr>
          <p:cNvSpPr txBox="1"/>
          <p:nvPr/>
        </p:nvSpPr>
        <p:spPr>
          <a:xfrm>
            <a:off x="11123155" y="4195011"/>
            <a:ext cx="5869445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함수 및 클래스 에서의 사용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AA90F5A8-2DD5-AC17-9D42-A4E8588BF5E4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 @</a:t>
            </a:r>
            <a:r>
              <a:rPr 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return </a:t>
            </a:r>
            <a:r>
              <a:rPr lang="ko-KR" alt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명령어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36223234-B12A-CDC4-8391-82AC2FDE1166}"/>
              </a:ext>
            </a:extLst>
          </p:cNvPr>
          <p:cNvSpPr txBox="1"/>
          <p:nvPr/>
        </p:nvSpPr>
        <p:spPr>
          <a:xfrm>
            <a:off x="1415174" y="5102578"/>
            <a:ext cx="8119241" cy="471875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199" dirty="0">
                <a:solidFill>
                  <a:srgbClr val="3452F0"/>
                </a:solidFill>
                <a:latin typeface="Pretendard Regular"/>
                <a:ea typeface="Pretendard Regular"/>
                <a:cs typeface="Pretendard Regular"/>
              </a:rPr>
              <a:t>@return { return description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함수의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199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반환값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altLang="ko-KR" sz="3199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retrun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value)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을 설명하는 명령어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함수가 무엇을 반환하는지 설명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반환형이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void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인 함수에서는 일반적으로 사용하지 않음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3199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반환값이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있는 함수라면 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return </a:t>
            </a:r>
            <a:r>
              <a:rPr lang="ko-KR" alt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명령어를 사용하는 것이 권장됨</a:t>
            </a:r>
            <a:r>
              <a:rPr lang="en-US" altLang="ko-KR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3199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F7F7DE06-CFBF-B382-2360-2ED4B5C7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46200" y="3643489"/>
            <a:ext cx="9245600" cy="57832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5AB7806-52B2-1EC8-D279-0205D380B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4945951"/>
            <a:ext cx="5554342" cy="5976191"/>
          </a:xfrm>
          <a:prstGeom prst="rect">
            <a:avLst/>
          </a:prstGeom>
        </p:spPr>
      </p:pic>
      <p:pic>
        <p:nvPicPr>
          <p:cNvPr id="12" name="그림 11" descr="The image shows a snippet of C++ code, specifically a class named `Calculator` with two functions: `add` for addition and `multiply` for multiplication, both taking two integer parameters and returning their respective results.&#10;&#10;AI 생성 콘텐츠는 정확하지 않을 수 있습니다.">
            <a:extLst>
              <a:ext uri="{FF2B5EF4-FFF2-40B4-BE49-F238E27FC236}">
                <a16:creationId xmlns:a16="http://schemas.microsoft.com/office/drawing/2014/main" id="{ADF1969D-4731-31A3-13CB-BF9F70FE7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1425" y="4941058"/>
            <a:ext cx="5585797" cy="59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6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BC4E-8FE6-9244-4244-B615AAAA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50750FE-BEF0-ACBC-FFE6-9B001B81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246B143F-3B7D-286D-817A-0A1D1463AE1F}"/>
              </a:ext>
            </a:extLst>
          </p:cNvPr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ko-KR" altLang="en-US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문서화 결과 확인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4D2811F-9647-9377-D844-72044CD8B753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5DBB60-AA19-E46B-133B-C318F81825D1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10</a:t>
            </a:r>
            <a:endParaRPr lang="en-US" sz="2666" b="0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F098B287-5D76-B552-80D5-3877395D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A843FB1A-F89F-2F3C-98E0-72C257838986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함수 주석 문서화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303358FF-8BD4-BA8D-9C0A-80C0D8C0B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46200" y="3643489"/>
            <a:ext cx="9245600" cy="57832"/>
          </a:xfrm>
          <a:prstGeom prst="rect">
            <a:avLst/>
          </a:prstGeom>
        </p:spPr>
      </p:pic>
      <p:pic>
        <p:nvPicPr>
          <p:cNvPr id="20" name="그림 19" descr="This image is a web page interface for a software documentation platform, specifically displaying a Doxygen-generated test file for a 'Calculator' class with a 'add' function.&#10;&#10;AI 생성 콘텐츠는 정확하지 않을 수 있습니다.">
            <a:extLst>
              <a:ext uri="{FF2B5EF4-FFF2-40B4-BE49-F238E27FC236}">
                <a16:creationId xmlns:a16="http://schemas.microsoft.com/office/drawing/2014/main" id="{5DF01A15-12E8-F2BF-DF5F-EDAA59032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0" y="2425471"/>
            <a:ext cx="9036467" cy="9863103"/>
          </a:xfrm>
          <a:prstGeom prst="rect">
            <a:avLst/>
          </a:prstGeom>
        </p:spPr>
      </p:pic>
      <p:pic>
        <p:nvPicPr>
          <p:cNvPr id="28" name="그림 27" descr="The image shows a webpage layout with a navigation bar and a list of files, including links to classes and file members, with a specific file, doxygen_test.cpp, highlighted.&#10;&#10;AI 생성 콘텐츠는 정확하지 않을 수 있습니다.">
            <a:extLst>
              <a:ext uri="{FF2B5EF4-FFF2-40B4-BE49-F238E27FC236}">
                <a16:creationId xmlns:a16="http://schemas.microsoft.com/office/drawing/2014/main" id="{6766837E-C33D-2D8D-146E-406D112D0E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7627"/>
          <a:stretch>
            <a:fillRect/>
          </a:stretch>
        </p:blipFill>
        <p:spPr>
          <a:xfrm>
            <a:off x="1395466" y="5427918"/>
            <a:ext cx="11025134" cy="369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1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3C66-08C2-BEB3-A991-382F4E3C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4C19FD-7390-7156-6F88-DEFA28A5C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BA979A85-95BB-DDC5-E548-DC16264F875A}"/>
              </a:ext>
            </a:extLst>
          </p:cNvPr>
          <p:cNvSpPr txBox="1"/>
          <p:nvPr/>
        </p:nvSpPr>
        <p:spPr>
          <a:xfrm>
            <a:off x="1346200" y="1865840"/>
            <a:ext cx="152146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>
              <a:lnSpc>
                <a:spcPct val="102089"/>
              </a:lnSpc>
            </a:pPr>
            <a:r>
              <a:rPr lang="ko-KR" altLang="en-US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문서화 결과 확인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23670D-D7B2-670B-A358-19C63AA11877}"/>
              </a:ext>
            </a:extLst>
          </p:cNvPr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60C22-9027-780E-6D39-888D36C5C80F}"/>
              </a:ext>
            </a:extLst>
          </p:cNvPr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11</a:t>
            </a:r>
            <a:endParaRPr lang="en-US" sz="2666" b="0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847AADF6-59BB-00EA-EABF-3C26C89C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33B644FD-3209-F4D6-4EDB-816F42DDD061}"/>
              </a:ext>
            </a:extLst>
          </p:cNvPr>
          <p:cNvSpPr txBox="1"/>
          <p:nvPr/>
        </p:nvSpPr>
        <p:spPr>
          <a:xfrm>
            <a:off x="1395466" y="4191000"/>
            <a:ext cx="4528282" cy="683683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466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클래스</a:t>
            </a:r>
            <a:r>
              <a:rPr lang="ko-KR" altLang="en-US" sz="3466" b="0" i="0" u="none" strike="noStrike" cap="all" dirty="0">
                <a:solidFill>
                  <a:srgbClr val="FFFFFF"/>
                </a:solidFill>
                <a:highlight>
                  <a:srgbClr val="3452F0"/>
                </a:highlight>
                <a:latin typeface="Pretendard Regular"/>
                <a:ea typeface="Pretendard Regular"/>
                <a:cs typeface="Pretendard Regular"/>
              </a:rPr>
              <a:t> 주석 문서화</a:t>
            </a:r>
            <a:endParaRPr lang="en-US" sz="3466" b="0" i="0" u="none" strike="noStrike" cap="all" dirty="0">
              <a:solidFill>
                <a:srgbClr val="FFFFFF"/>
              </a:solidFill>
              <a:highlight>
                <a:srgbClr val="3452F0"/>
              </a:highlight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283A7B1-7BD0-9053-768F-34A0B35AF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346200" y="3643489"/>
            <a:ext cx="9245600" cy="57832"/>
          </a:xfrm>
          <a:prstGeom prst="rect">
            <a:avLst/>
          </a:prstGeom>
        </p:spPr>
      </p:pic>
      <p:pic>
        <p:nvPicPr>
          <p:cNvPr id="6" name="그림 5" descr="The image displays a user interface for a software application, specifically a test page with sections for classes, files, and search options, and includes a list of a calculator class with a brief description.&#10;&#10;AI 생성 콘텐츠는 정확하지 않을 수 있습니다.">
            <a:extLst>
              <a:ext uri="{FF2B5EF4-FFF2-40B4-BE49-F238E27FC236}">
                <a16:creationId xmlns:a16="http://schemas.microsoft.com/office/drawing/2014/main" id="{689CAB62-03BF-7F59-E57E-DFBAE5A9F3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203"/>
          <a:stretch>
            <a:fillRect/>
          </a:stretch>
        </p:blipFill>
        <p:spPr>
          <a:xfrm>
            <a:off x="1346200" y="5190612"/>
            <a:ext cx="10617200" cy="3445123"/>
          </a:xfrm>
          <a:prstGeom prst="rect">
            <a:avLst/>
          </a:prstGeom>
        </p:spPr>
      </p:pic>
      <p:pic>
        <p:nvPicPr>
          <p:cNvPr id="11" name="그림 10" descr="A screenshot of a user interface displaying a test page with sections for classes, files, and member functions, specifically detailing a multiplication function.&#10;&#10;AI 생성 콘텐츠는 정확하지 않을 수 있습니다.">
            <a:extLst>
              <a:ext uri="{FF2B5EF4-FFF2-40B4-BE49-F238E27FC236}">
                <a16:creationId xmlns:a16="http://schemas.microsoft.com/office/drawing/2014/main" id="{21724A56-3068-5448-09EF-64E014127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2" y="2406586"/>
            <a:ext cx="9011064" cy="9859164"/>
          </a:xfrm>
          <a:prstGeom prst="rect">
            <a:avLst/>
          </a:prstGeom>
        </p:spPr>
      </p:pic>
      <p:pic>
        <p:nvPicPr>
          <p:cNvPr id="13" name="그림 12" descr="The image displays a structured layout, likely a software interface, with sections for a Test 1, Class Index, Class Members, and Files, including a calculator.&#10;&#10;AI 생성 콘텐츠는 정확하지 않을 수 있습니다.">
            <a:extLst>
              <a:ext uri="{FF2B5EF4-FFF2-40B4-BE49-F238E27FC236}">
                <a16:creationId xmlns:a16="http://schemas.microsoft.com/office/drawing/2014/main" id="{CB2CFB6C-A6A2-2F27-FDF8-28746EE7B0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6683"/>
          <a:stretch>
            <a:fillRect/>
          </a:stretch>
        </p:blipFill>
        <p:spPr>
          <a:xfrm>
            <a:off x="1338179" y="8951664"/>
            <a:ext cx="6586621" cy="2370007"/>
          </a:xfrm>
          <a:prstGeom prst="rect">
            <a:avLst/>
          </a:prstGeom>
        </p:spPr>
      </p:pic>
      <p:pic>
        <p:nvPicPr>
          <p:cNvPr id="15" name="그림 14" descr="Multiply&#10;&#10;AI 생성 콘텐츠는 정확하지 않을 수 있습니다.">
            <a:extLst>
              <a:ext uri="{FF2B5EF4-FFF2-40B4-BE49-F238E27FC236}">
                <a16:creationId xmlns:a16="http://schemas.microsoft.com/office/drawing/2014/main" id="{2EFCC6B1-59D5-5FFC-08F3-0D7E592AC36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5553"/>
          <a:stretch>
            <a:fillRect/>
          </a:stretch>
        </p:blipFill>
        <p:spPr>
          <a:xfrm>
            <a:off x="7924800" y="8951664"/>
            <a:ext cx="6586622" cy="24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3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2509500"/>
            <a:ext cx="21691600" cy="63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46200" y="2159000"/>
            <a:ext cx="14973300" cy="12700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 algn="l">
              <a:lnSpc>
                <a:spcPct val="102089"/>
              </a:lnSpc>
            </a:pPr>
            <a:r>
              <a:rPr lang="ko-KR" altLang="en-US" sz="6933" b="0" i="0" u="none" strike="noStrike" dirty="0">
                <a:solidFill>
                  <a:srgbClr val="595959"/>
                </a:solidFill>
                <a:latin typeface="Pretendard ExtraBold"/>
                <a:ea typeface="Pretendard ExtraBold"/>
                <a:cs typeface="Pretendard ExtraBold"/>
              </a:rPr>
              <a:t>참조 문헌</a:t>
            </a:r>
            <a:endParaRPr lang="en-US" sz="6933" b="0" i="0" u="none" strike="noStrike" dirty="0">
              <a:solidFill>
                <a:srgbClr val="595959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589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66" cap="all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레퍼런스</a:t>
            </a:r>
            <a:endParaRPr lang="en-US" sz="2666" b="0" i="0" u="none" strike="noStrike" cap="all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015200" y="12814300"/>
            <a:ext cx="30099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12</a:t>
            </a:r>
            <a:endParaRPr lang="en-US" sz="2666" b="0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257300"/>
            <a:ext cx="21691600" cy="63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46200" y="4025900"/>
            <a:ext cx="212852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  <a:hlinkClick r:id="rId4"/>
              </a:rPr>
              <a:t>https://google.github.io/styleguide/cppguide.html#Class_Comments</a:t>
            </a:r>
          </a:p>
          <a:p>
            <a:pPr lvl="0">
              <a:lnSpc>
                <a:spcPct val="125329"/>
              </a:lnSpc>
            </a:pPr>
            <a:r>
              <a:rPr 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  <a:hlinkClick r:id="rId4"/>
              </a:rPr>
              <a:t>https://google.github.io/styleguide/cppguide.html#Function_Comments</a:t>
            </a:r>
          </a:p>
          <a:p>
            <a:pPr lvl="0">
              <a:lnSpc>
                <a:spcPct val="125329"/>
              </a:lnSpc>
            </a:pPr>
            <a:r>
              <a:rPr lang="en-US" sz="3199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  <a:hlinkClick r:id="rId4"/>
              </a:rPr>
              <a:t>https://www.doxygen.nl/manual/commands.html</a:t>
            </a:r>
            <a:endParaRPr lang="en-US" sz="3199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942</Words>
  <Application>Microsoft Office PowerPoint</Application>
  <PresentationFormat>사용자 지정</PresentationFormat>
  <Paragraphs>149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Pretendard Bold</vt:lpstr>
      <vt:lpstr>맑은 고딕</vt:lpstr>
      <vt:lpstr>Pretendard Regular</vt:lpstr>
      <vt:lpstr>Calibri</vt:lpstr>
      <vt:lpstr>Arial</vt:lpstr>
      <vt:lpstr>Pretendard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현주 이</cp:lastModifiedBy>
  <cp:revision>8</cp:revision>
  <dcterms:created xsi:type="dcterms:W3CDTF">2006-08-16T00:00:00Z</dcterms:created>
  <dcterms:modified xsi:type="dcterms:W3CDTF">2026-08-10T04:26:31Z</dcterms:modified>
</cp:coreProperties>
</file>