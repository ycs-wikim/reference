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12192000"/>
  <p:embeddedFontLst>
    <p:embeddedFont>
      <p:font typeface="맑은 고딕" panose="020B0503020000020004" pitchFamily="50" charset="-127"/>
      <p:regular r:id="rId10"/>
      <p:bold r:id="rId11"/>
    </p:embeddedFont>
    <p:embeddedFont>
      <p:font typeface="Cambria" panose="02040503050406030204" pitchFamily="18" charset="0"/>
      <p:regular r:id="rId12"/>
      <p:bold r:id="rId13"/>
      <p:italic r:id="rId14"/>
      <p:boldItalic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134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필수 </a:t>
            </a:r>
            <a:r>
              <a:rPr lang="en-US" sz="4200" b="1" dirty="0" err="1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명령어</a:t>
            </a:r>
            <a:r>
              <a:rPr lang="en-US" sz="42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 </a:t>
            </a:r>
            <a:endParaRPr lang="en-US" sz="42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입출력 관련 </a:t>
            </a:r>
            <a:r>
              <a:rPr lang="en-US" sz="1900" dirty="0" err="1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명령어</a:t>
            </a:r>
            <a:r>
              <a:rPr lang="en-US" sz="1900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  @param, @return</a:t>
            </a:r>
            <a:endParaRPr lang="en-US" sz="1900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8229600" cy="0"/>
          </a:xfrm>
          <a:prstGeom prst="line">
            <a:avLst/>
          </a:prstGeom>
          <a:noFill/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함수에 무엇을 넣고, 무엇을 </a:t>
            </a:r>
            <a:r>
              <a:rPr lang="en-US" sz="1350" dirty="0" err="1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돌려받는지</a:t>
            </a:r>
            <a:r>
              <a:rPr lang="en-US" sz="13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실무</a:t>
            </a:r>
            <a:r>
              <a:rPr lang="en-US" sz="13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 문서에서 가장 먼저 눈이 가는 두 </a:t>
            </a:r>
            <a:r>
              <a:rPr lang="en-US" sz="1350" dirty="0" err="1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줄이다</a:t>
            </a:r>
            <a:r>
              <a:rPr lang="en-US" sz="13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265105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451281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입력과 출력, 이 두 가지만 알아도 함수를 호출할 수 있</a:t>
            </a:r>
            <a:r>
              <a:rPr lang="ko-KR" altLang="en-US" sz="130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습니다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22876" y="3265716"/>
            <a:ext cx="274320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22876" y="3265716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+mj-ea"/>
                <a:ea typeface="+mj-ea"/>
                <a:cs typeface="Courier New" pitchFamily="34" charset="-120"/>
              </a:rPr>
              <a:t>function()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40280" y="3791496"/>
            <a:ext cx="2482596" cy="0"/>
          </a:xfrm>
          <a:prstGeom prst="line">
            <a:avLst/>
          </a:prstGeom>
          <a:noFill/>
          <a:ln w="19050">
            <a:solidFill>
              <a:srgbClr val="1F5C5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40280" y="2854236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@param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40280" y="4390428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들어가는 값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66076" y="3791496"/>
            <a:ext cx="2482596" cy="0"/>
          </a:xfrm>
          <a:prstGeom prst="line">
            <a:avLst/>
          </a:prstGeom>
          <a:noFill/>
          <a:ln w="19050">
            <a:solidFill>
              <a:srgbClr val="8A5A2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66076" y="2854236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5A2B"/>
                </a:solidFill>
                <a:latin typeface="+mj-ea"/>
                <a:ea typeface="+mj-ea"/>
                <a:cs typeface="Courier New" pitchFamily="34" charset="-120"/>
              </a:rPr>
              <a:t>@return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66076" y="4390428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나오는 값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7240" y="5048796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647C107A-2FE6-0986-CFC4-F7182B3DA235}"/>
              </a:ext>
            </a:extLst>
          </p:cNvPr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4EF30E6C-65B1-F6BC-FB42-5C020A2EF80B}"/>
              </a:ext>
            </a:extLst>
          </p:cNvPr>
          <p:cNvSpPr/>
          <p:nvPr/>
        </p:nvSpPr>
        <p:spPr>
          <a:xfrm>
            <a:off x="77724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dirty="0">
                <a:solidFill>
                  <a:srgbClr val="222222"/>
                </a:solidFill>
                <a:latin typeface="+mn-ea"/>
                <a:cs typeface="Cambria" pitchFamily="34" charset="-120"/>
              </a:rPr>
              <a:t>함수는 자판기입니다</a:t>
            </a:r>
            <a:r>
              <a:rPr lang="en-US" altLang="ko-KR" sz="2800" dirty="0">
                <a:solidFill>
                  <a:srgbClr val="222222"/>
                </a:solidFill>
                <a:latin typeface="+mn-ea"/>
                <a:cs typeface="Cambria" pitchFamily="34" charset="-120"/>
              </a:rPr>
              <a:t>.</a:t>
            </a:r>
            <a:endParaRPr lang="en-US" altLang="ko-KR" sz="2800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990C10-2676-1CEF-C288-8E3788DE3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08" y="1320965"/>
            <a:ext cx="5144262" cy="4850452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5C644542-E580-C123-0D9E-4B8B24407CA8}"/>
              </a:ext>
            </a:extLst>
          </p:cNvPr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3D6376-E437-A45D-5043-A9FBCE9F28E6}"/>
              </a:ext>
            </a:extLst>
          </p:cNvPr>
          <p:cNvSpPr txBox="1"/>
          <p:nvPr/>
        </p:nvSpPr>
        <p:spPr>
          <a:xfrm>
            <a:off x="530273" y="687417"/>
            <a:ext cx="486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+mj-ea"/>
                <a:ea typeface="+mj-ea"/>
              </a:rPr>
              <a:t>독시젠</a:t>
            </a:r>
            <a:r>
              <a:rPr lang="ko-KR" altLang="en-US" b="1" dirty="0">
                <a:latin typeface="+mj-ea"/>
                <a:ea typeface="+mj-ea"/>
              </a:rPr>
              <a:t> 구현 </a:t>
            </a:r>
            <a:r>
              <a:rPr lang="en-US" altLang="ko-KR" b="1" dirty="0">
                <a:latin typeface="+mj-ea"/>
                <a:ea typeface="+mj-ea"/>
              </a:rPr>
              <a:t>@param,@return </a:t>
            </a:r>
            <a:r>
              <a:rPr lang="ko-KR" altLang="en-US" b="1" dirty="0">
                <a:latin typeface="+mj-ea"/>
                <a:ea typeface="+mj-ea"/>
              </a:rPr>
              <a:t>설정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A3AFB7-C794-D2E1-B624-F8B19496A3B4}"/>
              </a:ext>
            </a:extLst>
          </p:cNvPr>
          <p:cNvSpPr txBox="1"/>
          <p:nvPr/>
        </p:nvSpPr>
        <p:spPr>
          <a:xfrm>
            <a:off x="6026332" y="1609526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WARN_IF_UNDOCUMENTED</a:t>
            </a:r>
            <a:endParaRPr lang="en-US" altLang="ko-KR" b="1" dirty="0"/>
          </a:p>
          <a:p>
            <a:r>
              <a:rPr lang="ko-KR" altLang="ko-KR" dirty="0"/>
              <a:t>아예 설명이 하나도 없는 함수/변수가 있으면 경고</a:t>
            </a:r>
            <a:endParaRPr lang="en-US" altLang="ko-KR" dirty="0"/>
          </a:p>
          <a:p>
            <a:endParaRPr lang="en-US" altLang="ko-KR" b="1" dirty="0"/>
          </a:p>
          <a:p>
            <a:r>
              <a:rPr lang="ko-KR" altLang="ko-KR" b="1" dirty="0"/>
              <a:t>WARN_IF_DOC_ERROR</a:t>
            </a:r>
            <a:r>
              <a:rPr lang="en-US" altLang="ko-KR" b="1" dirty="0"/>
              <a:t> </a:t>
            </a:r>
          </a:p>
          <a:p>
            <a:r>
              <a:rPr lang="ko-KR" altLang="ko-KR" dirty="0"/>
              <a:t>@param에 존재하지 않는 매개변수를 적었거나, 문법을 잘못 썼을 때 경고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b="1" dirty="0"/>
              <a:t>WARN_IF_INCOMPLETE_DOC</a:t>
            </a:r>
            <a:endParaRPr lang="en-US" altLang="ko-KR" b="1" dirty="0"/>
          </a:p>
          <a:p>
            <a:pPr fontAlgn="ctr"/>
            <a:r>
              <a:rPr lang="ko-KR" altLang="ko-KR" dirty="0"/>
              <a:t>매개변수가 3개인데 2개만 @param 썼을 때처럼, 일부만 빠뜨렸을 때 경고</a:t>
            </a:r>
            <a:endParaRPr lang="en-US" altLang="ko-KR" dirty="0"/>
          </a:p>
          <a:p>
            <a:pPr fontAlgn="ctr"/>
            <a:endParaRPr lang="en-US" altLang="ko-KR" dirty="0"/>
          </a:p>
          <a:p>
            <a:pPr fontAlgn="ctr"/>
            <a:r>
              <a:rPr lang="ko-KR" altLang="ko-KR" b="1" dirty="0"/>
              <a:t>WARN_NO_PARAMDOC</a:t>
            </a:r>
          </a:p>
          <a:p>
            <a:pPr fontAlgn="ctr"/>
            <a:r>
              <a:rPr lang="ko-KR" altLang="ko-KR" dirty="0"/>
              <a:t>@param·@return을 아예 통째로 안 썼을 때 경고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70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7724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param — 문법과 규칙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3533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함수의 각 매개변수를 설명하는 태그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@param  </a:t>
            </a:r>
            <a:r>
              <a:rPr lang="en-US" sz="1600" dirty="0">
                <a:solidFill>
                  <a:srgbClr val="222222"/>
                </a:solidFill>
                <a:latin typeface="+mj-ea"/>
                <a:ea typeface="+mj-ea"/>
                <a:cs typeface="Courier New" pitchFamily="34" charset="-120"/>
              </a:rPr>
              <a:t>[방향]  이름  설명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2128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예)  @param[in]  count  </a:t>
            </a:r>
            <a:r>
              <a:rPr lang="en-US" sz="1300" dirty="0" err="1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처리할</a:t>
            </a: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 </a:t>
            </a:r>
            <a:r>
              <a:rPr lang="en-US" sz="1300" dirty="0" err="1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항목</a:t>
            </a: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 </a:t>
            </a:r>
            <a:r>
              <a:rPr lang="en-US" sz="1300" dirty="0" err="1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개수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2743200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작성 규칙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alibri" pitchFamily="34" charset="-120"/>
              </a:rPr>
              <a:t>· </a:t>
            </a:r>
            <a:r>
              <a:rPr lang="en-US" sz="12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매개변수 개수만큼 @param을 반복해서 작성한다.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6941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alibri" pitchFamily="34" charset="-120"/>
              </a:rPr>
              <a:t>· </a:t>
            </a:r>
            <a:r>
              <a:rPr lang="en-US" sz="12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선언 순서와 동일한 순서로 작성한다.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4096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alibri" pitchFamily="34" charset="-120"/>
              </a:rPr>
              <a:t>· </a:t>
            </a:r>
            <a:r>
              <a:rPr lang="en-US" sz="12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이름은 실제 매개변수명과 정확히 일치해야 인식된다.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방향 지정자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[in]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입력 전용 — 함수 안에서 값을 읽기만 함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0" y="36941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[out]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0" y="36941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출력 전용 — 함수 안에서 값이 채워져서 나감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40965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[in,out]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0" y="4096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입출력 겸용 — 들어간 값을 함수가 수정해서 내보냄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77240" y="4709160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267737AA-482A-EC01-AD8F-AC1833D5F196}"/>
              </a:ext>
            </a:extLst>
          </p:cNvPr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77240" y="1669869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@param 예제 — 실제 결과 화면</a:t>
            </a:r>
            <a:endParaRPr lang="en-US" sz="2700" dirty="0">
              <a:latin typeface="+mj-ea"/>
              <a:ea typeface="+mj-ea"/>
            </a:endParaRPr>
          </a:p>
        </p:txBody>
      </p:sp>
      <p:pic>
        <p:nvPicPr>
          <p:cNvPr id="10" name="Image 0" descr="/home/claude/pptx_proj5/assets/trim_sum_array_s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298" y="1874520"/>
            <a:ext cx="4339244" cy="1828800"/>
          </a:xfrm>
          <a:prstGeom prst="rect">
            <a:avLst/>
          </a:prstGeom>
        </p:spPr>
      </p:pic>
      <p:pic>
        <p:nvPicPr>
          <p:cNvPr id="12" name="Image 1" descr="/home/claude/pptx_proj5/assets/trim_sum_ar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298" y="4306824"/>
            <a:ext cx="3646714" cy="1920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085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arr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452360" y="23417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[in] — 읽기만 하는 배열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452360" y="2744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size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452360" y="3000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[in] — 배열 길이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452360" y="3402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isValid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452360" y="3658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[out] — 함수가 채워서 돌려줌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7452360" y="4106528"/>
            <a:ext cx="393192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F3EEC8F4-F85D-4B73-EE04-A204D741C664}"/>
              </a:ext>
            </a:extLst>
          </p:cNvPr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A4C1F3FE-004A-BA4F-64CA-266966091ED4}"/>
              </a:ext>
            </a:extLst>
          </p:cNvPr>
          <p:cNvSpPr/>
          <p:nvPr/>
        </p:nvSpPr>
        <p:spPr>
          <a:xfrm>
            <a:off x="0" y="37216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Doxygen이 생성한 문서 화면</a:t>
            </a:r>
            <a:endParaRPr lang="en-US" sz="950" dirty="0">
              <a:latin typeface="+mj-ea"/>
              <a:ea typeface="+mj-ea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A75A13B1-E0C9-094F-E54A-8C7976BCA792}"/>
              </a:ext>
            </a:extLst>
          </p:cNvPr>
          <p:cNvCxnSpPr/>
          <p:nvPr/>
        </p:nvCxnSpPr>
        <p:spPr>
          <a:xfrm>
            <a:off x="3074126" y="402336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7724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@return — 문법과 규칙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3533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함수가 돌려주는 반환값을 설명하는 태그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A2B"/>
                </a:solidFill>
                <a:latin typeface="+mj-ea"/>
                <a:ea typeface="+mj-ea"/>
                <a:cs typeface="Courier New" pitchFamily="34" charset="-120"/>
              </a:rPr>
              <a:t>@return  </a:t>
            </a:r>
            <a:r>
              <a:rPr lang="en-US" sz="1600" dirty="0">
                <a:solidFill>
                  <a:srgbClr val="222222"/>
                </a:solidFill>
                <a:latin typeface="+mj-ea"/>
                <a:ea typeface="+mj-ea"/>
                <a:cs typeface="Courier New" pitchFamily="34" charset="-120"/>
              </a:rPr>
              <a:t>설명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2128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예)  @return  성공 시 0, 실패 시 음수 에러 코드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2743200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작성 규칙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2B"/>
                </a:solidFill>
                <a:latin typeface="+mj-ea"/>
                <a:ea typeface="+mj-ea"/>
                <a:cs typeface="Calibri" pitchFamily="34" charset="-120"/>
              </a:rPr>
              <a:t>· </a:t>
            </a:r>
            <a:r>
              <a:rPr lang="en-US" sz="12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함수당 딱 한 번만 작성한다 (반환값은 하나이므로).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6941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2B"/>
                </a:solidFill>
                <a:latin typeface="+mj-ea"/>
                <a:ea typeface="+mj-ea"/>
                <a:cs typeface="Calibri" pitchFamily="34" charset="-120"/>
              </a:rPr>
              <a:t>· </a:t>
            </a:r>
            <a:r>
              <a:rPr lang="en-US" sz="12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반환 타입이 void 이면 @return을 생략한다.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4096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2B"/>
                </a:solidFill>
                <a:latin typeface="+mj-ea"/>
                <a:ea typeface="+mj-ea"/>
                <a:cs typeface="Calibri" pitchFamily="34" charset="-120"/>
              </a:rPr>
              <a:t>· </a:t>
            </a:r>
            <a:r>
              <a:rPr lang="en-US" sz="12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정상값뿐 아니라 실패·예외 케이스도 함께 명시한다.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좋은 예 vs 아쉬운 예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33101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56"/>
                </a:solidFill>
                <a:latin typeface="+mj-ea"/>
                <a:ea typeface="+mj-ea"/>
                <a:cs typeface="Calibri" pitchFamily="34" charset="-120"/>
              </a:rPr>
              <a:t>좋은 예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+mj-ea"/>
                <a:ea typeface="+mj-ea"/>
                <a:cs typeface="Courier New" pitchFamily="34" charset="-120"/>
              </a:rPr>
              <a:t>@return  성공하면 true, 배열이 비어 있으면 false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0" y="38587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어떤 조건에서 어떤 값인지 구체적으로 설명한다.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0" y="4251960"/>
            <a:ext cx="5120640" cy="0"/>
          </a:xfrm>
          <a:prstGeom prst="line">
            <a:avLst/>
          </a:prstGeom>
          <a:noFill/>
          <a:ln w="635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43708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아쉬운 예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46268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+mj-ea"/>
                <a:ea typeface="+mj-ea"/>
                <a:cs typeface="Courier New" pitchFamily="34" charset="-120"/>
              </a:rPr>
              <a:t>@return  결과값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0" y="49194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무엇을 의미하는 결과인지 알 수 없다.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77240" y="5394960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7240" y="553212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다음 장에서 성공·실패 케이스가 있는 함수로, @return이 실제 화면에 어떻게 나오는지 확인한다.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B4ED2D01-7929-9F6A-1ED3-9A405E6D727B}"/>
              </a:ext>
            </a:extLst>
          </p:cNvPr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7724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@return </a:t>
            </a:r>
            <a:r>
              <a:rPr lang="en-US" sz="2700" b="1" dirty="0" err="1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예제</a:t>
            </a: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 —</a:t>
            </a:r>
            <a:r>
              <a:rPr lang="en-US" sz="2700" b="1" dirty="0" err="1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실제</a:t>
            </a: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 결과 화면</a:t>
            </a:r>
            <a:endParaRPr lang="en-US" sz="2700" dirty="0">
              <a:latin typeface="+mj-ea"/>
              <a:ea typeface="+mj-ea"/>
            </a:endParaRPr>
          </a:p>
        </p:txBody>
      </p:sp>
      <p:pic>
        <p:nvPicPr>
          <p:cNvPr id="10" name="Image 0" descr="/home/claude/pptx_proj5/assets/trim_divide_s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924" y="1874520"/>
            <a:ext cx="3511992" cy="1691640"/>
          </a:xfrm>
          <a:prstGeom prst="rect">
            <a:avLst/>
          </a:prstGeom>
        </p:spPr>
      </p:pic>
      <p:pic>
        <p:nvPicPr>
          <p:cNvPr id="12" name="Image 1" descr="/home/claude/pptx_proj5/assets/trim_div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5592" y="4389120"/>
            <a:ext cx="3014385" cy="18687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0" y="37216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Doxygen이 생성한 문서 화면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452360" y="22402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"나눗셈 결과를 돌려주는데, 0으로 나누면 INT_MIN이라는 특별한 값을 돌려준다"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 err="1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성공·실패</a:t>
            </a:r>
            <a:r>
              <a:rPr lang="en-US" sz="11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 두 경우를 </a:t>
            </a:r>
            <a:r>
              <a:rPr lang="en-US" sz="1150" dirty="0" err="1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모두</a:t>
            </a:r>
            <a:r>
              <a:rPr lang="en-US" sz="11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적었</a:t>
            </a:r>
            <a:r>
              <a:rPr lang="ko-KR" altLang="en-US" sz="11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습니다</a:t>
            </a:r>
            <a:r>
              <a:rPr lang="en-US" altLang="ko-KR" sz="11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452360" y="3429000"/>
            <a:ext cx="393192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9410DE1-7C66-B44D-7CD7-5B2A68AA607C}"/>
              </a:ext>
            </a:extLst>
          </p:cNvPr>
          <p:cNvCxnSpPr/>
          <p:nvPr/>
        </p:nvCxnSpPr>
        <p:spPr>
          <a:xfrm>
            <a:off x="3074126" y="402336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0">
            <a:extLst>
              <a:ext uri="{FF2B5EF4-FFF2-40B4-BE49-F238E27FC236}">
                <a16:creationId xmlns:a16="http://schemas.microsoft.com/office/drawing/2014/main" id="{67CFBBD4-A6E0-F9D8-EFDB-6C3182CA59D8}"/>
              </a:ext>
            </a:extLst>
          </p:cNvPr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50A88A15-3CA1-E819-BB22-C53FC6BBE2AE}"/>
              </a:ext>
            </a:extLst>
          </p:cNvPr>
          <p:cNvSpPr/>
          <p:nvPr/>
        </p:nvSpPr>
        <p:spPr>
          <a:xfrm>
            <a:off x="777240" y="1669869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8163F023-B932-973F-8998-E34E01025695}"/>
              </a:ext>
            </a:extLst>
          </p:cNvPr>
          <p:cNvSpPr/>
          <p:nvPr/>
        </p:nvSpPr>
        <p:spPr>
          <a:xfrm>
            <a:off x="777240" y="6299226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421</Words>
  <Application>Microsoft Office PowerPoint</Application>
  <PresentationFormat>와이드스크린</PresentationFormat>
  <Paragraphs>78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Courier New</vt:lpstr>
      <vt:lpstr>Cambria</vt:lpstr>
      <vt:lpstr>Calibri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Doxygen 필수 명령어 ② (입출력 관련) — @param, @return</dc:title>
  <dc:subject>PptxGenJS Presentation</dc:subject>
  <dc:creator>Docyzen</dc:creator>
  <cp:lastModifiedBy>정현창</cp:lastModifiedBy>
  <cp:revision>4</cp:revision>
  <dcterms:created xsi:type="dcterms:W3CDTF">2026-08-10T07:01:06Z</dcterms:created>
  <dcterms:modified xsi:type="dcterms:W3CDTF">2026-08-10T09:04:22Z</dcterms:modified>
</cp:coreProperties>
</file>