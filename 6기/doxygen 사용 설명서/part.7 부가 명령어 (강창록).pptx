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embeddedFontLst>
    <p:embeddedFont>
      <p:font typeface="맑은 고딕" panose="020B0503020000020004" pitchFamily="34" charset="-127"/>
      <p:regular r:id="rId9"/>
      <p:bold r:id="rId10"/>
    </p:embeddedFont>
    <p:embeddedFont>
      <p:font typeface="Pretendard" panose="02000503000000020004" pitchFamily="2" charset="-127"/>
      <p:regular r:id="rId11"/>
      <p:bold r:id="rId12"/>
    </p:embeddedFont>
    <p:embeddedFont>
      <p:font typeface="Pretendard Medium" panose="02000503000000020004" pitchFamily="2" charset="-127"/>
      <p:regular r:id="rId13"/>
    </p:embeddedFont>
    <p:embeddedFont>
      <p:font typeface="Pretendard SemiBold" panose="02000503000000020004" pitchFamily="2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50"/>
    <p:restoredTop sz="94670"/>
  </p:normalViewPr>
  <p:slideViewPr>
    <p:cSldViewPr snapToGrid="0">
      <p:cViewPr varScale="1">
        <p:scale>
          <a:sx n="109" d="100"/>
          <a:sy n="109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6FD86-24F9-A3FC-CA0E-AEF584C61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27E84E-856D-8B13-AD0A-28D300E6A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91919E-BF0A-A918-58BB-C6451B96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2B5B60-9783-EA0C-9549-60256203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02C3F-48EB-9301-D85C-DE941049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694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673F6-D233-5653-E4A5-7683CBB2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F1C1FB-FF87-CA16-8D0C-09A1C2A74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01F17-08CA-DCDA-05BB-037CC4AB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3E25C-96F9-229C-447A-C348127AD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10EC0B-FF6F-20EB-EAC5-EED4E9E0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207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B55C2-99FF-D21F-D3DF-C6B11D91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C6490-8926-B34E-DDCD-EA63CF498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F6A9A-E79B-6B76-CA9E-BE7577F7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CF71E6-B56E-FADD-6B39-15A42EF9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9A0B6-8D73-2A8B-F6AF-BA103B2E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6981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3CA2A-6259-88D1-B800-66687696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0CC1A1-3BFC-8ED3-3DAD-E4B345820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CE5EA-61D7-FCC7-7C5E-D15CEF069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309D9E-2079-A111-0D9E-3230CEA22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3D9B91-676F-CA52-ACE1-486714F4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B8E4E-6387-CEA0-290E-3A1DACDC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575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CCD7B-798F-0D10-D0BB-4C9B18B4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6226F0-AE09-E699-4E3E-95311C673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B768DC-16BA-0579-B0A8-7234F9641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CA8C9D-E687-304D-27C4-C0F025DFC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27974C-44EF-3D7B-5C8A-ACD1DA86E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EE0373-A949-772A-C43C-808026B9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43B440-A3BF-0033-09EE-EC432D19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6B16DE-67C4-11C4-BC28-5BD0BB55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644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AB59E-1FAC-F64B-F862-CF2B4AB8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D9F4AF-FA25-58EF-D95F-0BFE1D14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F1EF9B-3BDF-4EDF-4DCF-6DB98C4E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2EFC4C-0138-57C1-BADD-113F41D7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085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C12A16-C738-F577-4A21-BAEBFED5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78EC7B-611D-3053-6DE5-E185CDF5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02CE8-E06D-5E5B-DCFF-EC15E4B0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5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24BE6-D4C9-80FF-57F1-3CE103DB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3203D4-8E70-4426-18A3-72906DF48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B15982-6C39-E9A0-42B8-0C28372E3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081B2B-BB89-79DF-FD4E-F94DEDED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E813C1-C15C-717C-5ABE-46B90F20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3D89B2-910D-A606-51F1-3D9A7F03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318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8A94D-2B90-5551-9309-A7CFF9A6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800077-7370-A650-C251-C7F84EFA0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31DF13-CA3E-99FC-8FB4-B29F03FDD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C1A8FB-44F7-4977-7626-595C0CB1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6B3412-FDBE-B75C-AC42-295C21B1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DBBD7C-EE73-F5DE-B222-1A625F5EA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586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E8233-6AE6-E215-B630-3340AAC1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8CBE28-8FD1-7126-2739-204F0069F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DE1B7D-1C6F-957D-A9BE-2FF38E58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C47216-4E31-CD9B-3E1B-8BF10BA9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5B288-F04B-E540-5C0E-351F5030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009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1B604E-305C-D084-0BD5-C46EC7251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380F03-ACE1-DD94-6AAC-0279C5C56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09B719-B4D0-3C71-5AEE-40933E73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A3D4A0-11CD-F9AF-4144-7999A9F9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2C7D65-BC6D-D7AB-4F85-4DCA7146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609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1030CC-3874-4EF6-799E-2F08C2AE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299F40-E3A4-669B-7A03-C6CA7CA76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4BF039-57A5-8D88-83FF-106C74960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D4A3F-DB27-844D-9149-C8B260E39CB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727A7-51A9-958F-98B2-D627A4A9A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4885F7-E0DA-9BB9-DF40-77FECA539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7389B-E2E9-6B4F-9122-3AD6E2F493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929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7A67B4-8591-1050-F224-772FC4012BF5}"/>
              </a:ext>
            </a:extLst>
          </p:cNvPr>
          <p:cNvSpPr txBox="1"/>
          <p:nvPr/>
        </p:nvSpPr>
        <p:spPr>
          <a:xfrm>
            <a:off x="2980403" y="2844225"/>
            <a:ext cx="6231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독시젠에</a:t>
            </a:r>
            <a:r>
              <a:rPr kumimoji="1" lang="ko-KR" altLang="en-US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사용되는 유용한 부가 명령어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51D62-BB6E-178B-1476-C186F5C82635}"/>
              </a:ext>
            </a:extLst>
          </p:cNvPr>
          <p:cNvSpPr txBox="1"/>
          <p:nvPr/>
        </p:nvSpPr>
        <p:spPr>
          <a:xfrm>
            <a:off x="128954" y="6377353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202507021</a:t>
            </a:r>
            <a:r>
              <a:rPr kumimoji="1" lang="ko-KR" altLang="en-US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강창록</a:t>
            </a:r>
          </a:p>
        </p:txBody>
      </p:sp>
    </p:spTree>
    <p:extLst>
      <p:ext uri="{BB962C8B-B14F-4D97-AF65-F5344CB8AC3E}">
        <p14:creationId xmlns:p14="http://schemas.microsoft.com/office/powerpoint/2010/main" val="3463991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AD5B9F-E855-4D64-0FF4-CD2B41B54D6D}"/>
              </a:ext>
            </a:extLst>
          </p:cNvPr>
          <p:cNvSpPr txBox="1"/>
          <p:nvPr/>
        </p:nvSpPr>
        <p:spPr>
          <a:xfrm>
            <a:off x="269630" y="181690"/>
            <a:ext cx="4208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@note &amp; @warning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12B60-01A3-17BF-CEE9-6B3D4D55149F}"/>
              </a:ext>
            </a:extLst>
          </p:cNvPr>
          <p:cNvSpPr txBox="1"/>
          <p:nvPr/>
        </p:nvSpPr>
        <p:spPr>
          <a:xfrm>
            <a:off x="269630" y="1055076"/>
            <a:ext cx="795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@note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사용자에게 참고할 만한 추가적인 정보를 제공하거나 주의를 줄 때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55360-935C-34BF-65AA-A2B696EE4505}"/>
              </a:ext>
            </a:extLst>
          </p:cNvPr>
          <p:cNvSpPr txBox="1"/>
          <p:nvPr/>
        </p:nvSpPr>
        <p:spPr>
          <a:xfrm>
            <a:off x="269630" y="1713019"/>
            <a:ext cx="949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@warning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부작용이나 주의가 필요한 중요한 내용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위험 요소 등을 사전에 알리고 경고할 때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04AE0-F97B-B4F5-A240-C8E0C411D3EC}"/>
              </a:ext>
            </a:extLst>
          </p:cNvPr>
          <p:cNvSpPr txBox="1"/>
          <p:nvPr/>
        </p:nvSpPr>
        <p:spPr>
          <a:xfrm>
            <a:off x="269630" y="2370962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FDB573-C717-9494-9785-55CA02A0E076}"/>
              </a:ext>
            </a:extLst>
          </p:cNvPr>
          <p:cNvSpPr txBox="1"/>
          <p:nvPr/>
        </p:nvSpPr>
        <p:spPr>
          <a:xfrm>
            <a:off x="269630" y="3977785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314F39B-5C81-6F38-A2EE-0A67668B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409" y="3977785"/>
            <a:ext cx="7489347" cy="278717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4F881C9-0549-0C6B-5879-2D1161731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30" y="2709516"/>
            <a:ext cx="7772400" cy="77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91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AAFF7A-2E1D-D796-9130-D7E6B4437175}"/>
              </a:ext>
            </a:extLst>
          </p:cNvPr>
          <p:cNvSpPr txBox="1"/>
          <p:nvPr/>
        </p:nvSpPr>
        <p:spPr>
          <a:xfrm>
            <a:off x="269630" y="181690"/>
            <a:ext cx="3398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@see &amp; @</a:t>
            </a:r>
            <a:r>
              <a:rPr kumimoji="1" lang="en-US" altLang="ko-KR" sz="3200" b="1" dirty="0" err="1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todo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A56B1-FE08-4E27-612D-DBFC64B23402}"/>
              </a:ext>
            </a:extLst>
          </p:cNvPr>
          <p:cNvSpPr txBox="1"/>
          <p:nvPr/>
        </p:nvSpPr>
        <p:spPr>
          <a:xfrm>
            <a:off x="269630" y="1055076"/>
            <a:ext cx="996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@see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관련된 다른 함수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클래스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파일 또는 외부 웹사이트 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URL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을 참조할 수 있게 하이퍼링크를 생성해줍니다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E7C96-37B2-0F00-6204-3642C40E1185}"/>
              </a:ext>
            </a:extLst>
          </p:cNvPr>
          <p:cNvSpPr txBox="1"/>
          <p:nvPr/>
        </p:nvSpPr>
        <p:spPr>
          <a:xfrm>
            <a:off x="269630" y="1713019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</a:t>
            </a:r>
            <a:r>
              <a:rPr kumimoji="1" lang="en-US" altLang="ko-K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todo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: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앞으로 해야 할 작업 혹은 개선 사항 등 프로젝트 관리에 도움이 되는 명령어입니다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99655-5AA0-AC0A-3C5F-6EF337F91D37}"/>
              </a:ext>
            </a:extLst>
          </p:cNvPr>
          <p:cNvSpPr txBox="1"/>
          <p:nvPr/>
        </p:nvSpPr>
        <p:spPr>
          <a:xfrm>
            <a:off x="269630" y="2235316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B2628-2F89-9659-E41B-D0E6B48AB2DE}"/>
              </a:ext>
            </a:extLst>
          </p:cNvPr>
          <p:cNvSpPr txBox="1"/>
          <p:nvPr/>
        </p:nvSpPr>
        <p:spPr>
          <a:xfrm>
            <a:off x="269630" y="4247414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5F95D3-A698-E53B-AC6D-516039D6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0" y="4577267"/>
            <a:ext cx="7772400" cy="20990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90459D-6088-1821-52C0-19B660F1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70" y="4582746"/>
            <a:ext cx="3253997" cy="20935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7F0338-D246-DA2B-1AA7-0A2761E3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30" y="2573870"/>
            <a:ext cx="7772400" cy="140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8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748ED-B433-F8BC-BAFB-9315825C75DF}"/>
              </a:ext>
            </a:extLst>
          </p:cNvPr>
          <p:cNvSpPr txBox="1"/>
          <p:nvPr/>
        </p:nvSpPr>
        <p:spPr>
          <a:xfrm>
            <a:off x="269630" y="181690"/>
            <a:ext cx="4485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@code ~ @</a:t>
            </a:r>
            <a:r>
              <a:rPr kumimoji="1" lang="en-US" altLang="ko-KR" sz="3200" b="1" dirty="0" err="1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endcode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5D8A8-1D53-9687-6622-0BEBF02E6622}"/>
              </a:ext>
            </a:extLst>
          </p:cNvPr>
          <p:cNvSpPr txBox="1"/>
          <p:nvPr/>
        </p:nvSpPr>
        <p:spPr>
          <a:xfrm>
            <a:off x="269630" y="1090245"/>
            <a:ext cx="11008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@code ~ @</a:t>
            </a:r>
            <a:r>
              <a:rPr kumimoji="1" lang="en-US" altLang="ko-K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endcode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문서 안에 실제 코드 예제를 깔끔하게 정리하여 보여주기 위할 때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</a:p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		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      코드 블록 시작과 끝을 명확히 지정하며 구문 강조를 지원하기 때문에 직관적으로 이해하기 좋음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!!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F44225-624E-345F-226F-CDD1ADFB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0" y="2492131"/>
            <a:ext cx="4076700" cy="393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B6332D-016B-0BB6-F472-9F047A17367B}"/>
              </a:ext>
            </a:extLst>
          </p:cNvPr>
          <p:cNvSpPr txBox="1"/>
          <p:nvPr/>
        </p:nvSpPr>
        <p:spPr>
          <a:xfrm>
            <a:off x="269630" y="2153577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EE5A5A-B28F-5E19-A67E-127995F6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893" y="3247693"/>
            <a:ext cx="7303477" cy="3181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6B4995-6E4D-A057-9050-B0E1803A8E12}"/>
              </a:ext>
            </a:extLst>
          </p:cNvPr>
          <p:cNvSpPr txBox="1"/>
          <p:nvPr/>
        </p:nvSpPr>
        <p:spPr>
          <a:xfrm>
            <a:off x="4618893" y="2909139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560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BDC17D-A251-2E77-D70A-BA551AC2BEF6}"/>
              </a:ext>
            </a:extLst>
          </p:cNvPr>
          <p:cNvSpPr txBox="1"/>
          <p:nvPr/>
        </p:nvSpPr>
        <p:spPr>
          <a:xfrm>
            <a:off x="269630" y="181690"/>
            <a:ext cx="5024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@file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@date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@brief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D35E2-C43E-0D44-8275-C94756697E73}"/>
              </a:ext>
            </a:extLst>
          </p:cNvPr>
          <p:cNvSpPr txBox="1"/>
          <p:nvPr/>
        </p:nvSpPr>
        <p:spPr>
          <a:xfrm>
            <a:off x="269630" y="1055076"/>
            <a:ext cx="504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@file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소스 파일에 대한 설명을 작성할 때 사용됩니다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02CD3-9D67-F40A-6E94-FDB18264BF2E}"/>
              </a:ext>
            </a:extLst>
          </p:cNvPr>
          <p:cNvSpPr txBox="1"/>
          <p:nvPr/>
        </p:nvSpPr>
        <p:spPr>
          <a:xfrm>
            <a:off x="269630" y="1713019"/>
            <a:ext cx="4499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@date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작성일 또는 최종 수정일을 기록합니다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6D49AF-E2BC-8B62-E8AE-0941FD065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0" y="4421502"/>
            <a:ext cx="5826370" cy="1583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4E28A-B4AC-63DC-9948-E075EA6FD0A8}"/>
              </a:ext>
            </a:extLst>
          </p:cNvPr>
          <p:cNvSpPr txBox="1"/>
          <p:nvPr/>
        </p:nvSpPr>
        <p:spPr>
          <a:xfrm>
            <a:off x="269630" y="4082948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B4C2F8-F974-F4CD-BA4E-A0977B49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039" y="3699795"/>
            <a:ext cx="3853961" cy="2304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2D7D2A-B069-5745-140A-CB438842B511}"/>
              </a:ext>
            </a:extLst>
          </p:cNvPr>
          <p:cNvSpPr txBox="1"/>
          <p:nvPr/>
        </p:nvSpPr>
        <p:spPr>
          <a:xfrm>
            <a:off x="6814039" y="3361241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9E986-46FA-2DB4-F57F-5DE495876E82}"/>
              </a:ext>
            </a:extLst>
          </p:cNvPr>
          <p:cNvSpPr txBox="1"/>
          <p:nvPr/>
        </p:nvSpPr>
        <p:spPr>
          <a:xfrm>
            <a:off x="269630" y="2370962"/>
            <a:ext cx="567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@brief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한 줄로 요약된 간단한 설명 작성을 위해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516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AA3AF-0452-48D1-3A4D-D885BAFF837A}"/>
              </a:ext>
            </a:extLst>
          </p:cNvPr>
          <p:cNvSpPr txBox="1"/>
          <p:nvPr/>
        </p:nvSpPr>
        <p:spPr>
          <a:xfrm>
            <a:off x="269630" y="181690"/>
            <a:ext cx="1455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그 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033A1-4697-ED5E-B7BD-06DCEE78F192}"/>
              </a:ext>
            </a:extLst>
          </p:cNvPr>
          <p:cNvSpPr txBox="1"/>
          <p:nvPr/>
        </p:nvSpPr>
        <p:spPr>
          <a:xfrm>
            <a:off x="269630" y="989202"/>
            <a:ext cx="7863050" cy="6328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def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매크로</a:t>
            </a:r>
            <a:r>
              <a:rPr lang="en-US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C/C++ #define)</a:t>
            </a:r>
            <a:r>
              <a:rPr lang="ko-KR" altLang="en-US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설명할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en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fn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특정 함수에 대한 설명을 별도로 분리하여 작성할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@struct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구조체를 지정하여 설명할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@class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클래스를 지정하여 설명할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param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함수의 매개변수(인자)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설명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return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(또는 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returns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함수의 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반환값이나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리턴 타입을 설명합니다.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retval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특정 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반환값에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대한 구체적인 의미를 개별적으로 설명할 때 사용합니다.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exception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(또는 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throws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함수에서 발생할 수 있는 예외(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Exception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상황을 명시합니다.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author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코드의 작성자 이름을 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기입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version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해당 코드의 현재 버전을 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명시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since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해당 기능이 처음 도입된 버전을 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명시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copyright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저작권 정보를 표시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등등 </a:t>
            </a:r>
            <a:r>
              <a:rPr lang="en-US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…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kumimoji="1" lang="ko-KR" altLang="en-US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9426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EDC259-094D-6F5E-B8BC-BE663329CB18}"/>
              </a:ext>
            </a:extLst>
          </p:cNvPr>
          <p:cNvSpPr txBox="1"/>
          <p:nvPr/>
        </p:nvSpPr>
        <p:spPr>
          <a:xfrm>
            <a:off x="5118007" y="3136612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0006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336</Words>
  <Application>Microsoft Macintosh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Pretendard</vt:lpstr>
      <vt:lpstr>맑은 고딕</vt:lpstr>
      <vt:lpstr>Pretendard SemiBold</vt:lpstr>
      <vt:lpstr>Pretendard Medium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강창록</dc:creator>
  <cp:lastModifiedBy>강창록</cp:lastModifiedBy>
  <cp:revision>41</cp:revision>
  <dcterms:created xsi:type="dcterms:W3CDTF">2026-08-10T00:24:14Z</dcterms:created>
  <dcterms:modified xsi:type="dcterms:W3CDTF">2026-08-10T03:25:29Z</dcterms:modified>
</cp:coreProperties>
</file>