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60" r:id="rId5"/>
    <p:sldId id="262" r:id="rId6"/>
    <p:sldId id="261" r:id="rId7"/>
    <p:sldId id="266" r:id="rId8"/>
    <p:sldId id="259" r:id="rId9"/>
    <p:sldId id="265" r:id="rId10"/>
    <p:sldId id="267" r:id="rId11"/>
    <p:sldId id="268" r:id="rId12"/>
    <p:sldId id="269" r:id="rId13"/>
    <p:sldId id="271" r:id="rId14"/>
    <p:sldId id="270" r:id="rId15"/>
    <p:sldId id="275" r:id="rId16"/>
    <p:sldId id="272" r:id="rId17"/>
    <p:sldId id="273" r:id="rId18"/>
    <p:sldId id="274" r:id="rId19"/>
    <p:sldId id="263" r:id="rId20"/>
    <p:sldId id="276" r:id="rId21"/>
    <p:sldId id="322" r:id="rId22"/>
    <p:sldId id="291" r:id="rId23"/>
    <p:sldId id="280" r:id="rId24"/>
    <p:sldId id="292" r:id="rId25"/>
    <p:sldId id="293" r:id="rId26"/>
    <p:sldId id="281" r:id="rId27"/>
    <p:sldId id="295" r:id="rId28"/>
    <p:sldId id="294" r:id="rId29"/>
    <p:sldId id="296" r:id="rId30"/>
    <p:sldId id="282" r:id="rId31"/>
    <p:sldId id="298" r:id="rId32"/>
    <p:sldId id="301" r:id="rId33"/>
    <p:sldId id="299" r:id="rId34"/>
    <p:sldId id="300" r:id="rId35"/>
    <p:sldId id="297" r:id="rId36"/>
    <p:sldId id="303" r:id="rId37"/>
    <p:sldId id="302" r:id="rId38"/>
    <p:sldId id="304" r:id="rId39"/>
    <p:sldId id="305" r:id="rId40"/>
    <p:sldId id="306" r:id="rId41"/>
    <p:sldId id="283" r:id="rId42"/>
    <p:sldId id="307" r:id="rId43"/>
    <p:sldId id="287" r:id="rId44"/>
    <p:sldId id="309" r:id="rId45"/>
    <p:sldId id="308" r:id="rId46"/>
    <p:sldId id="311" r:id="rId47"/>
    <p:sldId id="310" r:id="rId48"/>
    <p:sldId id="312" r:id="rId49"/>
    <p:sldId id="284" r:id="rId50"/>
    <p:sldId id="285" r:id="rId51"/>
    <p:sldId id="314" r:id="rId52"/>
    <p:sldId id="315" r:id="rId53"/>
    <p:sldId id="286" r:id="rId54"/>
    <p:sldId id="316" r:id="rId55"/>
    <p:sldId id="313" r:id="rId56"/>
    <p:sldId id="320" r:id="rId57"/>
    <p:sldId id="288" r:id="rId58"/>
    <p:sldId id="289" r:id="rId59"/>
    <p:sldId id="317" r:id="rId60"/>
    <p:sldId id="318" r:id="rId61"/>
    <p:sldId id="319" r:id="rId62"/>
    <p:sldId id="290" r:id="rId63"/>
    <p:sldId id="321" r:id="rId64"/>
  </p:sldIdLst>
  <p:sldSz cx="12192000" cy="6858000"/>
  <p:notesSz cx="6858000" cy="9144000"/>
  <p:embeddedFontLst>
    <p:embeddedFont>
      <p:font typeface="맑은 고딕" panose="020B0503020000020004" pitchFamily="50" charset="-127"/>
      <p:regular r:id="rId66"/>
      <p:bold r:id="rId67"/>
    </p:embeddedFont>
    <p:embeddedFont>
      <p:font typeface="Abadi" panose="020B0604020104020204" pitchFamily="34" charset="0"/>
      <p:regular r:id="rId68"/>
      <p:bold r:id="rId6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9AECF-012E-4D15-89E1-94B97B7115B5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67DC6-2487-4A87-9489-9B4DDDB48F2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180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430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723FC-75A8-4424-CB73-1016CF7B1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5265F67-61FE-4B5A-E0CE-B892092A78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B289593-93C0-5AA8-121E-ED21B18CDA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261C03-1E2F-D96E-64A5-52B14BAAA1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0201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710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7151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C3C0D-D6D7-0AB9-7A09-765196E37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B47DBD-82EF-9AB3-7DE1-44AFA0654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26A9A3-6DB1-832E-3839-F428228565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DC47B8-03BA-A397-5BB9-8BD67C1FD2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90235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E60F1-B78C-760F-99CD-95867C6BD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F3E0CA1-550B-4D75-BEF9-3B2DB3F14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883411-E17E-AFD2-7B97-66AAA6DDA7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781FC9-D7CC-DD78-C9F0-833D4994D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90116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C47A5-E0C2-6219-361C-4362EEC8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5D26C1-B145-DAE7-E991-C5E898BF77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461992B-2B1E-A31A-E111-3EFF4271C9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76D0E4-1059-835C-BC13-2E0FC49FE4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567DC6-2487-4A87-9489-9B4DDDB48F2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8148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12D05D-3418-543C-52A0-54FD77219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BBFD13B-C573-CBBE-F410-0D7A42B237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4D46CD-1951-D115-9E40-06EC3EDCC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F86E63-1049-55E2-10CC-E9935774C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E02CF9-F56A-8569-1A51-D7F663533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203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3D64BB-5698-AC62-1ED9-ECFD50A2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04B2EF-2E59-2392-DD07-32914D0FB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590D2-7E95-97E1-ACEE-E7D1869E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F70A14-71D0-CEC9-543D-FD6C96B9B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669469-6C3F-6344-BB8C-CFBB7E5FD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96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ECD2A-1EAF-5FB6-93CE-E32201FC1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3C3FA8-BEFE-7A48-2446-6E2DD5EB0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972260-CBA6-F754-0F7B-EB426E747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CAA3E9-F930-702C-3C2E-A2BCB6E8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88BDB8-6DD8-6FA7-B3A4-DF615922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0897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67987-CC63-E544-44EC-578EF6EDE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C0EE8B-4395-B32A-4CE3-CB976E8AE9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688B13-DE16-3369-A34D-F2354EF16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5ED4EB-8F49-1A3B-4BB1-759F772D2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02FBA0A-E108-7477-A5E7-32B063D3E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27256D-D3C1-2F5F-C683-9FD49B782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68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1D486-E368-3842-0222-8AF1BE836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4F6470-6E3D-CB42-207A-B389F8CE97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6BB7BF-6EC4-A7DB-5C78-D98859FE90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01444A-24FF-3D04-092A-46F80B15B1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0388DA-3F92-CD7D-CF2F-E8FC843A4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149ECE-0A54-8796-723C-E83DF6164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16FDA8B-39C4-D691-59FC-E98B0FC9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343CDF1-22B7-6151-603E-340E834E2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251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5FCC3F-2D58-E98E-6783-1DADA5B35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CF17EF-C0E7-F452-B962-8705A6F3B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B24F4E-70C1-B9EE-74A9-680EE7E6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E617C4E-B719-082B-3F74-C2C113778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927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2AAAA0-BA6F-1306-BFFE-FE3D16739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7D27973-8037-12F2-CE0F-3111D5367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92CCD6-5122-2EAC-EFDF-5A241A5B1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58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D2855-2B10-9029-7150-7246D5327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1130CC-9EA7-7466-3566-C6E6E11141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A8DCD0-6E63-E091-E62A-1666FDA76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CC1B79C-D72D-18C1-28BD-01DAD3E3C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C16E79-2C27-70B0-5D00-F3600BCE2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80F0428-15E9-BF66-B56E-44FF3FB7F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1654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E0B3B-1E75-295F-1E8A-A1AE1F414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BBA7FA-9069-01B6-28C5-8D6A2F0F7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AF87D07-EDF2-0629-5D90-0B7A88DC0A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24A4067-9221-52AC-E260-B86A5D46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63663A-8C2E-A655-5369-86CBD9826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B03299-9736-2CBF-0DA8-2A4FCBCD2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0119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93B8A0-64AC-98A2-9AE8-FB64C34CC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0E3906-A712-6BD6-F069-EF2863D3B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ED2566-AD74-E236-22D0-4A4360F27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B0E3E9-940A-C95F-F230-55D140AFC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057807-8364-2DBC-9676-237B4986C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3406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9944A5-120E-2F44-219C-10305A1E2C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B819565-FBBF-317F-0058-BA80B26CCE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AC1584-C236-E618-CA5D-512E77F7E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0815AF-7CF3-9A64-22A2-AFF0767A0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F797FA-7ACE-21F6-0BBF-F28EDE3D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3895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2278BA6-3B98-43E5-E018-2D272A46E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F9A1DE1-600D-6245-F111-D9883C60E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4C9B5A-6B77-C5B4-E7F4-0F102644E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2A48B-3688-4528-8AAD-E4E1D63513C1}" type="datetimeFigureOut">
              <a:rPr lang="ko-KR" altLang="en-US" smtClean="0"/>
              <a:t>2026-08-10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16EB4A-A182-251D-22A9-7BA7FA6E7A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F6E14-8228-FD66-A461-3F278A9671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D2AF64-E834-41B9-AFCB-761DC594833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778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45BBB0-EAF1-5110-CC3A-0227FBCE24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/>
              <a:t>Doxygen</a:t>
            </a:r>
            <a:r>
              <a:rPr lang="en-US" altLang="ko-KR" dirty="0"/>
              <a:t> </a:t>
            </a:r>
            <a:r>
              <a:rPr lang="ko-KR" altLang="en-US" dirty="0"/>
              <a:t>다이어그램 설정 </a:t>
            </a:r>
            <a:br>
              <a:rPr lang="en-US" altLang="ko-KR" dirty="0"/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098BE72-9B10-8F41-36B9-F602C12F3D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202307018 </a:t>
            </a:r>
            <a:r>
              <a:rPr lang="ko-KR" altLang="en-US" dirty="0"/>
              <a:t>김종현</a:t>
            </a:r>
          </a:p>
        </p:txBody>
      </p:sp>
    </p:spTree>
    <p:extLst>
      <p:ext uri="{BB962C8B-B14F-4D97-AF65-F5344CB8AC3E}">
        <p14:creationId xmlns:p14="http://schemas.microsoft.com/office/powerpoint/2010/main" val="41147495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5029E2-691E-6F23-0823-B9DEF9AEF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D81A67-9715-A157-FAB5-365301B7B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850" y="1466850"/>
            <a:ext cx="10515600" cy="5026025"/>
          </a:xfrm>
        </p:spPr>
        <p:txBody>
          <a:bodyPr numCol="2">
            <a:noAutofit/>
          </a:bodyPr>
          <a:lstStyle/>
          <a:p>
            <a:pPr marL="514350" indent="-514350">
              <a:buAutoNum type="arabicPeriod"/>
            </a:pPr>
            <a:r>
              <a:rPr lang="en-US" altLang="ko-KR" sz="2400" dirty="0"/>
              <a:t>Wizard </a:t>
            </a:r>
            <a:r>
              <a:rPr lang="ko-KR" altLang="en-US" sz="2400" dirty="0"/>
              <a:t>설정</a:t>
            </a:r>
            <a:endParaRPr lang="en-US" altLang="ko-KR" sz="2400" dirty="0"/>
          </a:p>
          <a:p>
            <a:pPr marL="971550" lvl="1" indent="-514350">
              <a:buAutoNum type="arabicPeriod"/>
            </a:pPr>
            <a:r>
              <a:rPr lang="ko-KR" altLang="en-US" sz="1800" dirty="0"/>
              <a:t>다이어그램 종류 설정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en-US" altLang="ko-KR" sz="1800" dirty="0" err="1"/>
              <a:t>Graphviz</a:t>
            </a:r>
            <a:r>
              <a:rPr lang="en-US" altLang="ko-KR" sz="1800" dirty="0"/>
              <a:t> </a:t>
            </a:r>
            <a:r>
              <a:rPr lang="ko-KR" altLang="en-US" sz="1800" dirty="0"/>
              <a:t>패키지의 </a:t>
            </a:r>
            <a:r>
              <a:rPr lang="en-US" altLang="ko-KR" sz="1800" dirty="0"/>
              <a:t>dot</a:t>
            </a:r>
            <a:r>
              <a:rPr lang="ko-KR" altLang="en-US" sz="1800" dirty="0"/>
              <a:t>툴을 사용할 경우 세부 설정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971550" lvl="1" indent="-514350">
              <a:buAutoNum type="arabicPeriod"/>
            </a:pPr>
            <a:endParaRPr lang="en-US" altLang="ko-KR" sz="1800" dirty="0"/>
          </a:p>
          <a:p>
            <a:pPr marL="514350" indent="-514350">
              <a:buAutoNum type="arabicPeriod"/>
            </a:pPr>
            <a:r>
              <a:rPr lang="en-US" altLang="ko-KR" sz="2400" dirty="0" err="1"/>
              <a:t>Expart</a:t>
            </a:r>
            <a:r>
              <a:rPr lang="en-US" altLang="ko-KR" sz="2400" dirty="0"/>
              <a:t> </a:t>
            </a:r>
            <a:r>
              <a:rPr lang="ko-KR" altLang="en-US" sz="2400" dirty="0"/>
              <a:t>설정</a:t>
            </a:r>
            <a:endParaRPr lang="en-US" altLang="ko-KR" sz="2400" dirty="0"/>
          </a:p>
          <a:p>
            <a:pPr marL="971550" lvl="1" indent="-514350">
              <a:buAutoNum type="arabicPeriod"/>
            </a:pPr>
            <a:r>
              <a:rPr lang="en-US" altLang="ko-KR" sz="1800" dirty="0"/>
              <a:t>dot</a:t>
            </a:r>
            <a:r>
              <a:rPr lang="ko-KR" altLang="en-US" sz="1800" dirty="0"/>
              <a:t> 설정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ko-KR" altLang="en-US" sz="1800" dirty="0"/>
              <a:t>그래프 스타일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ko-KR" altLang="en-US" sz="1800" dirty="0"/>
              <a:t>그래프 생성</a:t>
            </a:r>
            <a:r>
              <a:rPr lang="en-US" altLang="ko-KR" sz="1800" dirty="0"/>
              <a:t>1</a:t>
            </a:r>
          </a:p>
          <a:p>
            <a:pPr marL="971550" lvl="1" indent="-514350">
              <a:buAutoNum type="arabicPeriod"/>
            </a:pPr>
            <a:r>
              <a:rPr lang="en-US" altLang="ko-KR" sz="1800" dirty="0"/>
              <a:t>UML </a:t>
            </a:r>
            <a:r>
              <a:rPr lang="ko-KR" altLang="en-US" sz="1800" dirty="0"/>
              <a:t>설정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ko-KR" altLang="en-US" sz="1800" dirty="0"/>
              <a:t>기타 설정</a:t>
            </a:r>
            <a:r>
              <a:rPr lang="en-US" altLang="ko-KR" sz="1800" dirty="0"/>
              <a:t>1</a:t>
            </a:r>
          </a:p>
          <a:p>
            <a:pPr marL="971550" lvl="1" indent="-514350">
              <a:buAutoNum type="arabicPeriod"/>
            </a:pPr>
            <a:r>
              <a:rPr lang="en-US" altLang="ko-KR" sz="1800" dirty="0"/>
              <a:t>include,</a:t>
            </a:r>
            <a:r>
              <a:rPr lang="ko-KR" altLang="en-US" sz="1800" dirty="0"/>
              <a:t> </a:t>
            </a:r>
            <a:r>
              <a:rPr lang="en-US" altLang="ko-KR" sz="1800" dirty="0"/>
              <a:t>included</a:t>
            </a:r>
            <a:r>
              <a:rPr lang="ko-KR" altLang="en-US" sz="1800" dirty="0"/>
              <a:t> 그래프 설정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en-US" altLang="ko-KR" sz="1800" dirty="0"/>
              <a:t>call, caller </a:t>
            </a:r>
            <a:r>
              <a:rPr lang="ko-KR" altLang="en-US" sz="1800" dirty="0"/>
              <a:t>그래프</a:t>
            </a:r>
            <a:endParaRPr lang="en-US" altLang="ko-KR" sz="1800" dirty="0"/>
          </a:p>
          <a:p>
            <a:pPr marL="971550" lvl="1" indent="-514350">
              <a:buAutoNum type="arabicPeriod"/>
            </a:pPr>
            <a:r>
              <a:rPr lang="ko-KR" altLang="en-US" sz="1800" dirty="0"/>
              <a:t>그래프 생성</a:t>
            </a:r>
            <a:r>
              <a:rPr lang="en-US" altLang="ko-KR" sz="1800" dirty="0"/>
              <a:t>2</a:t>
            </a:r>
          </a:p>
          <a:p>
            <a:pPr marL="971550" lvl="1" indent="-514350">
              <a:buAutoNum type="arabicPeriod"/>
            </a:pPr>
            <a:r>
              <a:rPr lang="ko-KR" altLang="en-US" sz="1800" dirty="0"/>
              <a:t>그래프 이미지 설정</a:t>
            </a:r>
          </a:p>
          <a:p>
            <a:pPr marL="971550" lvl="1" indent="-514350">
              <a:buAutoNum type="arabicPeriod"/>
            </a:pPr>
            <a:r>
              <a:rPr lang="ko-KR" altLang="en-US" sz="1800" dirty="0"/>
              <a:t>경로 설정</a:t>
            </a:r>
          </a:p>
          <a:p>
            <a:pPr marL="971550" lvl="1" indent="-514350">
              <a:buAutoNum type="arabicPeriod"/>
            </a:pPr>
            <a:r>
              <a:rPr lang="en-US" altLang="ko-KR" sz="1800" dirty="0"/>
              <a:t>DIA </a:t>
            </a:r>
            <a:r>
              <a:rPr lang="ko-KR" altLang="en-US" sz="1800" dirty="0"/>
              <a:t>설정</a:t>
            </a:r>
          </a:p>
          <a:p>
            <a:pPr marL="971550" lvl="1" indent="-514350">
              <a:buAutoNum type="arabicPeriod"/>
            </a:pPr>
            <a:r>
              <a:rPr lang="en-US" altLang="ko-KR" sz="1800" dirty="0"/>
              <a:t>PLANTUML </a:t>
            </a:r>
            <a:r>
              <a:rPr lang="ko-KR" altLang="en-US" sz="1800" dirty="0"/>
              <a:t>설정</a:t>
            </a:r>
          </a:p>
          <a:p>
            <a:pPr marL="971550" lvl="1" indent="-514350">
              <a:buAutoNum type="arabicPeriod"/>
            </a:pPr>
            <a:r>
              <a:rPr lang="en-US" altLang="ko-KR" sz="1800" dirty="0"/>
              <a:t>MERMAID </a:t>
            </a:r>
            <a:r>
              <a:rPr lang="ko-KR" altLang="en-US" sz="1800" dirty="0"/>
              <a:t>설정</a:t>
            </a:r>
          </a:p>
          <a:p>
            <a:pPr marL="971550" lvl="1" indent="-514350">
              <a:buAutoNum type="arabicPeriod"/>
            </a:pPr>
            <a:r>
              <a:rPr lang="ko-KR" altLang="en-US" sz="1800" dirty="0"/>
              <a:t>기타 설정</a:t>
            </a:r>
            <a:r>
              <a:rPr lang="en-US" altLang="ko-KR" sz="1800" dirty="0"/>
              <a:t>2</a:t>
            </a:r>
          </a:p>
          <a:p>
            <a:pPr marL="971550" lvl="1" indent="-514350">
              <a:buAutoNum type="arabicPeriod"/>
            </a:pPr>
            <a:r>
              <a:rPr lang="en-US" altLang="ko-KR" sz="1800" dirty="0" err="1"/>
              <a:t>msc</a:t>
            </a:r>
            <a:r>
              <a:rPr lang="en-US" altLang="ko-KR" sz="1800" dirty="0"/>
              <a:t> </a:t>
            </a:r>
            <a:r>
              <a:rPr lang="ko-KR" altLang="en-US" sz="1800" dirty="0"/>
              <a:t>설정</a:t>
            </a:r>
          </a:p>
        </p:txBody>
      </p:sp>
    </p:spTree>
    <p:extLst>
      <p:ext uri="{BB962C8B-B14F-4D97-AF65-F5344CB8AC3E}">
        <p14:creationId xmlns:p14="http://schemas.microsoft.com/office/powerpoint/2010/main" val="63799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8E8D0E-A5DA-74A0-83F2-9BFED242C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B54AD6-66E8-273E-942D-4353008B5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9700"/>
            <a:ext cx="5048339" cy="4767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Wizard</a:t>
            </a:r>
            <a:r>
              <a:rPr lang="ko-KR" altLang="en-US" sz="2400" dirty="0"/>
              <a:t>은 빠른 설정을 하는 탭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ko-KR" sz="2400" dirty="0"/>
              <a:t>가장 핵심적이고 자주 쓰이는</a:t>
            </a:r>
            <a:r>
              <a:rPr lang="en-US" altLang="ko-KR" sz="2400" dirty="0"/>
              <a:t> </a:t>
            </a:r>
            <a:r>
              <a:rPr lang="ko-KR" altLang="en-US" sz="2400" dirty="0"/>
              <a:t>필수 옵션들만 모아놓은 탭</a:t>
            </a: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ko-KR" altLang="en-US" sz="2400" dirty="0"/>
              <a:t>빠르고 간단하게 만들 때나 </a:t>
            </a:r>
            <a:r>
              <a:rPr lang="en-US" altLang="ko-KR" sz="2400" dirty="0"/>
              <a:t>Expert </a:t>
            </a:r>
            <a:r>
              <a:rPr lang="ko-KR" altLang="en-US" sz="2400" dirty="0"/>
              <a:t>설정을 하기 전에 간단한 설정을 하는 용도로 사용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4EFCC2F-B28F-EB33-DD25-AC84EC902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00" y="327026"/>
            <a:ext cx="6380164" cy="57137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AA8412-6E4A-53C4-8C23-41F424CEC7AE}"/>
              </a:ext>
            </a:extLst>
          </p:cNvPr>
          <p:cNvSpPr txBox="1"/>
          <p:nvPr/>
        </p:nvSpPr>
        <p:spPr>
          <a:xfrm>
            <a:off x="7968854" y="6181726"/>
            <a:ext cx="1796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>
                    <a:lumMod val="50000"/>
                  </a:schemeClr>
                </a:solidFill>
              </a:rPr>
              <a:t>Wizard 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</a:rPr>
              <a:t>설정 창</a:t>
            </a:r>
          </a:p>
        </p:txBody>
      </p:sp>
    </p:spTree>
    <p:extLst>
      <p:ext uri="{BB962C8B-B14F-4D97-AF65-F5344CB8AC3E}">
        <p14:creationId xmlns:p14="http://schemas.microsoft.com/office/powerpoint/2010/main" val="2169672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3B832-D6B7-9925-0457-4EBA51C12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EC027C-87C3-A9BD-C429-555CBED4A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다이어그램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73712F-2FC7-C46F-4C8A-2FF7366D98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6" y="1409700"/>
            <a:ext cx="5476874" cy="4767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No diagrams</a:t>
            </a:r>
            <a:br>
              <a:rPr lang="en-US" altLang="ko-KR" sz="2400" dirty="0"/>
            </a:br>
            <a:r>
              <a:rPr lang="en-US" altLang="ko-KR" sz="2000" dirty="0"/>
              <a:t>-</a:t>
            </a:r>
            <a:r>
              <a:rPr lang="ko-KR" altLang="ko-KR" sz="2000" dirty="0"/>
              <a:t>모든 그래프를 생성하지 않음. (문서 생성 속도가 가장 빠름)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Text only</a:t>
            </a:r>
          </a:p>
          <a:p>
            <a:pPr>
              <a:lnSpc>
                <a:spcPct val="100000"/>
              </a:lnSpc>
            </a:pPr>
            <a:r>
              <a:rPr lang="en-US" altLang="ko-KR" sz="2400" dirty="0"/>
              <a:t>Use built-in class diagram generator</a:t>
            </a:r>
            <a:br>
              <a:rPr lang="en-US" altLang="ko-KR" sz="2400" dirty="0"/>
            </a:br>
            <a:r>
              <a:rPr lang="en-US" altLang="ko-KR" sz="2000" dirty="0"/>
              <a:t>-</a:t>
            </a:r>
            <a:r>
              <a:rPr lang="ko-KR" altLang="ko-KR" sz="2000" dirty="0" err="1"/>
              <a:t>Doxygen</a:t>
            </a:r>
            <a:r>
              <a:rPr lang="ko-KR" altLang="ko-KR" sz="2000" dirty="0"/>
              <a:t> 내장 </a:t>
            </a:r>
            <a:r>
              <a:rPr lang="ko-KR" altLang="ko-KR" sz="2000" dirty="0" err="1"/>
              <a:t>생성기</a:t>
            </a:r>
            <a:r>
              <a:rPr lang="ko-KR" altLang="ko-KR" sz="2000" dirty="0"/>
              <a:t> 사용. 별도 프로그램 설치 없이 기본 클래스 상속도만 간단하게 표시.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Use dot tool from the</a:t>
            </a:r>
            <a:r>
              <a:rPr lang="ko-KR" altLang="en-US" sz="2400" dirty="0"/>
              <a:t> </a:t>
            </a:r>
            <a:r>
              <a:rPr lang="en-US" altLang="ko-KR" sz="2400" dirty="0" err="1"/>
              <a:t>GraphViz</a:t>
            </a:r>
            <a:r>
              <a:rPr lang="en-US" altLang="ko-KR" sz="2400" dirty="0"/>
              <a:t> package</a:t>
            </a:r>
            <a:br>
              <a:rPr lang="en-US" altLang="ko-KR" sz="2400" dirty="0"/>
            </a:br>
            <a:r>
              <a:rPr lang="en-US" altLang="ko-KR" sz="2000" dirty="0"/>
              <a:t>-</a:t>
            </a:r>
            <a:r>
              <a:rPr lang="ko-KR" altLang="en-US" sz="2000" dirty="0"/>
              <a:t>외부 툴인 </a:t>
            </a:r>
            <a:r>
              <a:rPr lang="en-US" altLang="ko-KR" sz="2000" dirty="0" err="1"/>
              <a:t>GraphcViz</a:t>
            </a:r>
            <a:r>
              <a:rPr lang="ko-KR" altLang="en-US" sz="2000" dirty="0"/>
              <a:t>를 사용</a:t>
            </a:r>
            <a:r>
              <a:rPr lang="en-US" altLang="ko-KR" sz="2000" dirty="0"/>
              <a:t>(</a:t>
            </a:r>
            <a:r>
              <a:rPr lang="ko-KR" altLang="en-US" sz="2000" dirty="0"/>
              <a:t>별도 설치 필요</a:t>
            </a:r>
            <a:r>
              <a:rPr lang="en-US" altLang="ko-KR" sz="2000" dirty="0"/>
              <a:t>). </a:t>
            </a:r>
            <a:r>
              <a:rPr lang="ko-KR" altLang="en-US" sz="2000" dirty="0"/>
              <a:t>다양한 고품질 그래프를 생성 가능</a:t>
            </a:r>
            <a:r>
              <a:rPr lang="en-US" altLang="ko-KR" sz="2000" dirty="0"/>
              <a:t>.</a:t>
            </a:r>
            <a:endParaRPr lang="ko-KR" altLang="en-US" sz="2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ED43801-74B6-F759-F7E1-CA18037F87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143001"/>
            <a:ext cx="6032726" cy="540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165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0A76-8294-DCFA-42E1-AB7C670D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7D56F9-BEBD-3A33-91EA-A13605BD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다이어그램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5413D6-D1F5-3622-FB75-76FD7B8E9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6" y="1143001"/>
            <a:ext cx="5476874" cy="465478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No diagrams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/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endParaRPr lang="en-US" altLang="ko-KR" sz="2400" dirty="0"/>
          </a:p>
          <a:p>
            <a:pPr>
              <a:lnSpc>
                <a:spcPct val="100000"/>
              </a:lnSpc>
            </a:pPr>
            <a:r>
              <a:rPr lang="en-US" altLang="ko-KR" sz="2400" dirty="0"/>
              <a:t>Text only</a:t>
            </a:r>
          </a:p>
          <a:p>
            <a:pPr>
              <a:lnSpc>
                <a:spcPct val="100000"/>
              </a:lnSpc>
            </a:pPr>
            <a:endParaRPr lang="en-US" altLang="ko-KR" sz="2400" dirty="0"/>
          </a:p>
          <a:p>
            <a:pPr marL="0" indent="0">
              <a:lnSpc>
                <a:spcPct val="100000"/>
              </a:lnSpc>
              <a:buNone/>
            </a:pPr>
            <a:br>
              <a:rPr lang="en-US" altLang="ko-KR" sz="2400" dirty="0"/>
            </a:b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588F67-3BA7-A1AB-2C52-04922AD26A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11346"/>
            <a:ext cx="8990114" cy="185904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5587BE3-0071-1A4F-929F-5E247EAB59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83473"/>
            <a:ext cx="8990114" cy="207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21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E4538-03A5-7197-0ADF-BDD75A8EB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956189-AAFB-8F04-25A2-EB92F56A9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다이어그램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D629DB-F371-C913-1B6B-6431B81F08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6" y="1316268"/>
            <a:ext cx="5476874" cy="4767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Use built-in class diagram generator</a:t>
            </a:r>
            <a:br>
              <a:rPr lang="en-US" altLang="ko-KR" sz="2400" dirty="0"/>
            </a:br>
            <a:endParaRPr lang="ko-KR" altLang="en-US" sz="24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C4CFD578-FC78-E56F-83D0-2E13CC3EE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72888"/>
            <a:ext cx="9685859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29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6FCA56-5622-C5D9-695D-4DE123F4A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2997BF-2507-8618-7A06-10E7A8852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다이어그램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A822576-57DE-1992-9509-45988A19F6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126" y="1316268"/>
            <a:ext cx="6962774" cy="476726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400" dirty="0"/>
              <a:t>Use dot tool from the</a:t>
            </a:r>
            <a:r>
              <a:rPr lang="ko-KR" altLang="en-US" sz="2400" dirty="0"/>
              <a:t> </a:t>
            </a:r>
            <a:r>
              <a:rPr lang="en-US" altLang="ko-KR" sz="2400" dirty="0" err="1"/>
              <a:t>GraphViz</a:t>
            </a:r>
            <a:r>
              <a:rPr lang="en-US" altLang="ko-KR" sz="2400" dirty="0"/>
              <a:t> package</a:t>
            </a:r>
            <a:endParaRPr lang="ko-KR" altLang="en-US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21D41A4-2644-3A65-70B3-E186F11F3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6" y="2158264"/>
            <a:ext cx="11068836" cy="2889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29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B681D-AE08-20E2-15BD-DAECED7ED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10998-2A52-79F7-E382-73D547431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9713EF0-C0C7-36A8-5ED7-0A773B290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409700"/>
            <a:ext cx="4981575" cy="476726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Use dot tool from the</a:t>
            </a:r>
            <a:r>
              <a:rPr lang="ko-KR" altLang="en-US" sz="2400" dirty="0"/>
              <a:t> </a:t>
            </a:r>
            <a:r>
              <a:rPr lang="en-US" altLang="ko-KR" sz="2400" dirty="0" err="1"/>
              <a:t>GraphViz</a:t>
            </a:r>
            <a:r>
              <a:rPr lang="en-US" altLang="ko-KR" sz="2400" dirty="0"/>
              <a:t> package </a:t>
            </a:r>
            <a:r>
              <a:rPr lang="ko-KR" altLang="en-US" sz="2400" dirty="0"/>
              <a:t>설정을 켰을 때 사용 </a:t>
            </a:r>
            <a:br>
              <a:rPr lang="en-US" altLang="ko-KR" sz="2400" dirty="0"/>
            </a:br>
            <a:r>
              <a:rPr lang="ko-KR" altLang="en-US" sz="2400" dirty="0"/>
              <a:t>가능</a:t>
            </a:r>
            <a:endParaRPr lang="en-US" altLang="ko-KR" sz="2400" dirty="0"/>
          </a:p>
          <a:p>
            <a:r>
              <a:rPr lang="en-US" altLang="ko-KR" sz="2400" dirty="0" err="1"/>
              <a:t>Graphviz</a:t>
            </a:r>
            <a:r>
              <a:rPr lang="en-US" altLang="ko-KR" sz="2400" dirty="0"/>
              <a:t> </a:t>
            </a:r>
            <a:r>
              <a:rPr lang="ko-KR" altLang="en-US" sz="2400" dirty="0"/>
              <a:t>패키지의 </a:t>
            </a:r>
            <a:r>
              <a:rPr lang="en-US" altLang="ko-KR" sz="2400" dirty="0"/>
              <a:t>dot</a:t>
            </a:r>
            <a:r>
              <a:rPr lang="ko-KR" altLang="en-US" sz="2400" dirty="0"/>
              <a:t>툴을 사용해 다양한 고품질 그래프를 생성할 수 있음</a:t>
            </a:r>
            <a:endParaRPr lang="en-US" altLang="ko-KR" sz="2400" dirty="0"/>
          </a:p>
          <a:p>
            <a:r>
              <a:rPr lang="ko-KR" altLang="en-US" sz="2400" dirty="0"/>
              <a:t>설정을 켰을 때 선택할 수 있는 여러 가지 세부 옵션이 있음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72DEA92-54D0-92D6-D353-3EC1692961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983910"/>
            <a:ext cx="6351591" cy="56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719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0B9EC-3556-9F5D-6D13-78CA1BB62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64DE92-4585-A4CF-5B31-632A1C913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50632A-0A20-AFED-4292-594B666F4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0075" y="1409700"/>
            <a:ext cx="4981575" cy="4767263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Use dot tool from the</a:t>
            </a:r>
            <a:r>
              <a:rPr lang="ko-KR" altLang="en-US" sz="2400" dirty="0"/>
              <a:t> </a:t>
            </a:r>
            <a:r>
              <a:rPr lang="en-US" altLang="ko-KR" sz="2400" dirty="0" err="1"/>
              <a:t>GraphViz</a:t>
            </a:r>
            <a:r>
              <a:rPr lang="en-US" altLang="ko-KR" sz="2400" dirty="0"/>
              <a:t> package </a:t>
            </a:r>
            <a:r>
              <a:rPr lang="ko-KR" altLang="en-US" sz="2400" dirty="0"/>
              <a:t>설정을 켰을 때 사용 </a:t>
            </a:r>
            <a:br>
              <a:rPr lang="en-US" altLang="ko-KR" sz="2400" dirty="0"/>
            </a:br>
            <a:r>
              <a:rPr lang="ko-KR" altLang="en-US" sz="2400" dirty="0"/>
              <a:t>가능</a:t>
            </a:r>
            <a:endParaRPr lang="en-US" altLang="ko-KR" sz="2400" dirty="0"/>
          </a:p>
          <a:p>
            <a:r>
              <a:rPr lang="en-US" altLang="ko-KR" sz="2400" dirty="0" err="1"/>
              <a:t>Graphviz</a:t>
            </a:r>
            <a:r>
              <a:rPr lang="en-US" altLang="ko-KR" sz="2400" dirty="0"/>
              <a:t> </a:t>
            </a:r>
            <a:r>
              <a:rPr lang="ko-KR" altLang="en-US" sz="2400" dirty="0"/>
              <a:t>패키지의 </a:t>
            </a:r>
            <a:r>
              <a:rPr lang="en-US" altLang="ko-KR" sz="2400" dirty="0"/>
              <a:t>dot</a:t>
            </a:r>
            <a:r>
              <a:rPr lang="ko-KR" altLang="en-US" sz="2400" dirty="0"/>
              <a:t>툴을 사용해 다양한 고품질 그래프를 생성할 수 있음</a:t>
            </a:r>
            <a:endParaRPr lang="en-US" altLang="ko-KR" sz="2400" dirty="0"/>
          </a:p>
          <a:p>
            <a:r>
              <a:rPr lang="ko-KR" altLang="en-US" sz="2400" dirty="0"/>
              <a:t>설정을 켰을 때 선택할 수 있는 여러 가지 세부 옵션이 있음</a:t>
            </a:r>
            <a:endParaRPr lang="en-US" altLang="ko-KR" sz="2400" dirty="0"/>
          </a:p>
          <a:p>
            <a:r>
              <a:rPr lang="ko-KR" altLang="en-US" sz="2400" dirty="0"/>
              <a:t>세부 옵션에 대한 정확하고 자세한 정보와 이미지는 </a:t>
            </a:r>
            <a:r>
              <a:rPr lang="en-US" altLang="ko-KR" sz="2400" dirty="0"/>
              <a:t>Expert </a:t>
            </a:r>
            <a:r>
              <a:rPr lang="ko-KR" altLang="en-US" sz="2400" dirty="0"/>
              <a:t>파트의 클래스 생성 부분 참고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90B7207-82BD-157B-2976-F1F24C49F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983910"/>
            <a:ext cx="6351591" cy="56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212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6B1B-23FD-35B3-5819-B08A03F3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612184-4A3E-9693-0AC3-628A9C467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3FA396-7F79-1D6C-A6C1-EA878C313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5181600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Class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diagrams</a:t>
            </a:r>
            <a:r>
              <a:rPr lang="en-US" altLang="ko-KR" sz="2000" dirty="0"/>
              <a:t> : </a:t>
            </a:r>
            <a:r>
              <a:rPr lang="ko-KR" altLang="ko-KR" sz="2000" dirty="0"/>
              <a:t>클래스 간의 상속</a:t>
            </a:r>
            <a:r>
              <a:rPr lang="en-US" altLang="ko-KR" sz="2000" dirty="0"/>
              <a:t> </a:t>
            </a:r>
            <a:r>
              <a:rPr lang="ko-KR" altLang="ko-KR" sz="2000" dirty="0"/>
              <a:t>관계도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Collaboration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diagrams</a:t>
            </a:r>
            <a:r>
              <a:rPr lang="ko-KR" altLang="ko-KR" sz="2000" dirty="0"/>
              <a:t> : 클래스 내부 </a:t>
            </a:r>
            <a:br>
              <a:rPr lang="en-US" altLang="ko-KR" sz="2000" dirty="0"/>
            </a:br>
            <a:r>
              <a:rPr lang="ko-KR" altLang="ko-KR" sz="2000" dirty="0"/>
              <a:t>멤버 변수로 포함된 다른 클래스 간의 </a:t>
            </a:r>
            <a:br>
              <a:rPr lang="en-US" altLang="ko-KR" sz="2000" dirty="0"/>
            </a:br>
            <a:r>
              <a:rPr lang="ko-KR" altLang="ko-KR" sz="2000" dirty="0"/>
              <a:t>연관/포함 관계도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Overall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class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hierarchy</a:t>
            </a:r>
            <a:r>
              <a:rPr lang="ko-KR" altLang="ko-KR" sz="2000" dirty="0"/>
              <a:t> : 프로젝트 전체 </a:t>
            </a:r>
            <a:br>
              <a:rPr lang="en-US" altLang="ko-KR" sz="2000" dirty="0"/>
            </a:br>
            <a:r>
              <a:rPr lang="ko-KR" altLang="ko-KR" sz="2000" dirty="0"/>
              <a:t>클래스의 트리 구조 계층도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BE11930-CEAE-AFC9-9B48-A496B3A009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983910"/>
            <a:ext cx="6351591" cy="56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728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B4BC1-31DE-6AAC-44BC-321C175B9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58595A-D7DA-AF0C-4696-1BD11CC32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A48F4A-52AB-CB4E-F7D1-84CEAF68B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5181600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Include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dependency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en-US" altLang="ko-KR" sz="2000" dirty="0"/>
              <a:t> </a:t>
            </a:r>
            <a:r>
              <a:rPr lang="ko-KR" altLang="ko-KR" sz="2000" dirty="0"/>
              <a:t>: 해당 </a:t>
            </a:r>
            <a:br>
              <a:rPr lang="en-US" altLang="ko-KR" sz="2000" dirty="0"/>
            </a:br>
            <a:r>
              <a:rPr lang="ko-KR" altLang="ko-KR" sz="2000" dirty="0"/>
              <a:t>파일이 어떤 헤더 파일들을 #include 하고 </a:t>
            </a:r>
            <a:br>
              <a:rPr lang="en-US" altLang="ko-KR" sz="2000" dirty="0"/>
            </a:br>
            <a:r>
              <a:rPr lang="ko-KR" altLang="ko-KR" sz="2000" dirty="0"/>
              <a:t>있는지 나타내는 그래프</a:t>
            </a:r>
            <a:endParaRPr lang="ko-KR" altLang="en-US" sz="2000" dirty="0"/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Included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dependency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en-US" altLang="ko-KR" sz="2000" dirty="0"/>
              <a:t> </a:t>
            </a:r>
            <a:r>
              <a:rPr lang="ko-KR" altLang="ko-KR" sz="2000" dirty="0"/>
              <a:t>: 해당 헤더 파일이 어떤 다른 파일들에 의해 #include 되었는지 </a:t>
            </a:r>
            <a:r>
              <a:rPr lang="ko-KR" altLang="en-US" sz="2000" dirty="0" err="1"/>
              <a:t>나타내는</a:t>
            </a:r>
            <a:r>
              <a:rPr lang="ko-KR" altLang="ko-KR" sz="2000" dirty="0" err="1"/>
              <a:t>그래프</a:t>
            </a:r>
            <a:endParaRPr lang="ko-KR" altLang="ko-KR" sz="2000" dirty="0"/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Call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ko-KR" altLang="ko-KR" sz="2000" dirty="0"/>
              <a:t> : 특정 함수 내부에서 </a:t>
            </a:r>
            <a:br>
              <a:rPr lang="en-US" altLang="ko-KR" sz="2000" dirty="0"/>
            </a:br>
            <a:r>
              <a:rPr lang="ko-KR" altLang="ko-KR" sz="2000" dirty="0"/>
              <a:t>호출하는 다른 함수들의 흐름도</a:t>
            </a:r>
          </a:p>
          <a:p>
            <a:pPr lvl="0">
              <a:lnSpc>
                <a:spcPct val="120000"/>
              </a:lnSpc>
            </a:pPr>
            <a:r>
              <a:rPr lang="ko-KR" altLang="ko-KR" sz="2000" dirty="0" err="1"/>
              <a:t>Called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ko-KR" altLang="ko-KR" sz="2000" dirty="0"/>
              <a:t> : 특정 함수를 호출하고 있는 다른 함수들의 역방향 흐름도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7681473-6F8E-7D1D-64D1-6715097D1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983910"/>
            <a:ext cx="6351591" cy="56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5657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B0AF5-872B-7590-592F-6C0FCA83B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45306A-E82D-20AE-0336-D83CEEFD8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662906-43C7-ACC9-DEA2-21300EF58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09700"/>
            <a:ext cx="11506199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Class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diagrams</a:t>
            </a:r>
            <a:r>
              <a:rPr lang="en-US" altLang="ko-KR" sz="2000" dirty="0"/>
              <a:t> : </a:t>
            </a:r>
            <a:r>
              <a:rPr lang="ko-KR" altLang="ko-KR" sz="2000" dirty="0"/>
              <a:t>클래스 간의 상속</a:t>
            </a:r>
            <a:r>
              <a:rPr lang="en-US" altLang="ko-KR" sz="2000" dirty="0"/>
              <a:t> </a:t>
            </a:r>
            <a:r>
              <a:rPr lang="ko-KR" altLang="ko-KR" sz="2000" dirty="0"/>
              <a:t>관계도</a:t>
            </a:r>
            <a:r>
              <a:rPr lang="en-US" altLang="ko-KR" sz="2000" dirty="0"/>
              <a:t>(</a:t>
            </a:r>
            <a:r>
              <a:rPr lang="ko-KR" altLang="en-US" sz="2000" dirty="0"/>
              <a:t>클래스 목록에서 각각의 클래스 창으로 이동하면 확인 가능</a:t>
            </a:r>
            <a:r>
              <a:rPr lang="en-US" altLang="ko-KR" sz="2000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E5AB7B-BB14-78F3-EAB7-F2628DE73E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83" y="2754997"/>
            <a:ext cx="10961131" cy="2912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77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782AA-A90D-E8FE-7DA5-5C8B86879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235807-D48A-C9C9-65F1-153B822B6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AA2C85-6BE3-0948-3319-6F71CD680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11306174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Collaboration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diagrams</a:t>
            </a:r>
            <a:r>
              <a:rPr lang="ko-KR" altLang="ko-KR" sz="2000" dirty="0"/>
              <a:t> : 클래스 내부 멤버 변수로 포함된 다른 클래스 간의</a:t>
            </a:r>
            <a:r>
              <a:rPr lang="en-US" altLang="ko-KR" sz="2000" dirty="0"/>
              <a:t> </a:t>
            </a:r>
            <a:r>
              <a:rPr lang="ko-KR" altLang="ko-KR" sz="2000" dirty="0"/>
              <a:t>연관/포함 관계도</a:t>
            </a:r>
            <a:r>
              <a:rPr lang="en-US" altLang="ko-KR" sz="2000" dirty="0"/>
              <a:t> (</a:t>
            </a:r>
            <a:r>
              <a:rPr lang="ko-KR" altLang="en-US" sz="2000" dirty="0"/>
              <a:t>클래스 목록에서 각각의 클래스 창으로 이동하면 확인 가능</a:t>
            </a:r>
            <a:r>
              <a:rPr lang="en-US" altLang="ko-KR" sz="2000" dirty="0"/>
              <a:t>)</a:t>
            </a:r>
            <a:endParaRPr lang="ko-KR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D2FA7B5-DBE2-A70B-7C95-838F196A4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905125"/>
            <a:ext cx="10587083" cy="215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731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565ED-636B-5CE0-D09B-5CBAB8F0C7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2446A-F9DC-33AD-7592-4D65E5431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A68408-2FAE-FEF9-5951-EE6460DD2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10868024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Overall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class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hierarchy</a:t>
            </a:r>
            <a:r>
              <a:rPr lang="ko-KR" altLang="ko-KR" sz="2000" dirty="0"/>
              <a:t> : 프로젝트 전체</a:t>
            </a:r>
            <a:r>
              <a:rPr lang="en-US" altLang="ko-KR" sz="2000" dirty="0"/>
              <a:t> </a:t>
            </a:r>
            <a:r>
              <a:rPr lang="ko-KR" altLang="ko-KR" sz="2000" dirty="0"/>
              <a:t>클래스의 트리 구조 계층도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C8B951E-4600-AECA-B6F9-BD8C95942F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271" y="1985600"/>
            <a:ext cx="9418704" cy="4458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48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9FB40-58E6-AC8E-98C2-88C014F74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03CDB6-0ABB-E793-BA73-8AECB8A44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FBD169-8B73-587F-621A-D7419CDB11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09700"/>
            <a:ext cx="11430000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Include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dependency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en-US" altLang="ko-KR" sz="2000" dirty="0"/>
              <a:t> </a:t>
            </a:r>
            <a:r>
              <a:rPr lang="ko-KR" altLang="ko-KR" sz="2000" dirty="0"/>
              <a:t>: 해당 파일이 어떤 헤더 파일들을 #include 하고</a:t>
            </a:r>
            <a:r>
              <a:rPr lang="en-US" altLang="ko-KR" sz="2000" dirty="0"/>
              <a:t> </a:t>
            </a:r>
            <a:r>
              <a:rPr lang="ko-KR" altLang="ko-KR" sz="2000" dirty="0"/>
              <a:t>있는지 나타내는 그래프</a:t>
            </a:r>
            <a:endParaRPr lang="ko-KR" altLang="en-US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4FC08B6-9184-3996-158B-36CD84CDB6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025" y="2182856"/>
            <a:ext cx="10477500" cy="426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53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C9F10-DD9E-8ECE-5DCA-795480A24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3A1972-6EE8-840E-140E-EC0A067FA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694784-3F79-54FB-B09B-9CD9E3535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11534774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Included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dependency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en-US" altLang="ko-KR" sz="2000" dirty="0"/>
              <a:t> </a:t>
            </a:r>
            <a:r>
              <a:rPr lang="ko-KR" altLang="ko-KR" sz="2000" dirty="0"/>
              <a:t>: 해당 헤더 파일이 어떤 다른 파일들에 의해 #include 되었는지 </a:t>
            </a:r>
            <a:r>
              <a:rPr lang="ko-KR" altLang="en-US" sz="2000" dirty="0" err="1"/>
              <a:t>나타내는</a:t>
            </a:r>
            <a:r>
              <a:rPr lang="ko-KR" altLang="ko-KR" sz="2000" dirty="0" err="1"/>
              <a:t>그래프</a:t>
            </a:r>
            <a:endParaRPr lang="ko-KR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333E4D1-E0AE-CD6E-DF8C-BB28D61FE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" y="2195446"/>
            <a:ext cx="10306050" cy="4529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9642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4FD64-0F8E-661B-70DE-A74E155BB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53DA42-8523-9ADD-10D2-196E4D209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646133-1FF9-C66E-B122-5470CCAA7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11420474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Call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ko-KR" altLang="ko-KR" sz="2000" dirty="0"/>
              <a:t> : 특정 함수 내부에서</a:t>
            </a:r>
            <a:r>
              <a:rPr lang="en-US" altLang="ko-KR" sz="2000" dirty="0"/>
              <a:t> </a:t>
            </a:r>
            <a:r>
              <a:rPr lang="ko-KR" altLang="ko-KR" sz="2000" dirty="0"/>
              <a:t>호출하는 다른 함수들의 흐름도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A1D0D69-87E6-3BFB-4E32-207626D714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50" y="1864319"/>
            <a:ext cx="9676017" cy="4752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102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9C698-36B2-9E6E-B56E-CE2333132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417EA4-9898-F07A-4666-7E9600446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1. Wizard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Graphviz</a:t>
            </a:r>
            <a:r>
              <a:rPr lang="en-US" altLang="ko-KR" sz="3600" dirty="0"/>
              <a:t> </a:t>
            </a:r>
            <a:r>
              <a:rPr lang="ko-KR" altLang="en-US" sz="3600" dirty="0"/>
              <a:t>사용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FB47F6-C801-64A0-B990-50DA0E28E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1" y="1409700"/>
            <a:ext cx="11153774" cy="4767263"/>
          </a:xfrm>
        </p:spPr>
        <p:txBody>
          <a:bodyPr>
            <a:noAutofit/>
          </a:bodyPr>
          <a:lstStyle/>
          <a:p>
            <a:pPr lvl="0">
              <a:lnSpc>
                <a:spcPct val="120000"/>
              </a:lnSpc>
            </a:pPr>
            <a:r>
              <a:rPr lang="ko-KR" altLang="ko-KR" sz="2000" dirty="0" err="1"/>
              <a:t>Called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by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graphs</a:t>
            </a:r>
            <a:r>
              <a:rPr lang="ko-KR" altLang="ko-KR" sz="2000" dirty="0"/>
              <a:t> : 특정 함수를 호출하고 있는 다른 함수들의 역방향 흐름도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14E3814-B759-6800-3155-10BD68AE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1" y="2275069"/>
            <a:ext cx="11153774" cy="3352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372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3553C-34EF-32BA-4D1D-DF99A4489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E7D12F-1CCB-F22E-3DF4-C6AEE530D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5E4C14-2383-337A-38B2-3D84D35CE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4029075" cy="4767263"/>
          </a:xfrm>
        </p:spPr>
        <p:txBody>
          <a:bodyPr>
            <a:normAutofit/>
          </a:bodyPr>
          <a:lstStyle/>
          <a:p>
            <a:r>
              <a:rPr lang="en-US" altLang="ko-KR" sz="2400" dirty="0" err="1"/>
              <a:t>Expart</a:t>
            </a:r>
            <a:r>
              <a:rPr lang="en-US" altLang="ko-KR" sz="2400" dirty="0"/>
              <a:t> </a:t>
            </a:r>
            <a:r>
              <a:rPr lang="ko-KR" altLang="en-US" sz="2400" dirty="0"/>
              <a:t>설정을 통해 세부 설정 가능</a:t>
            </a:r>
            <a:endParaRPr lang="en-US" altLang="ko-KR" sz="2400" dirty="0"/>
          </a:p>
          <a:p>
            <a:r>
              <a:rPr lang="en-US" altLang="ko-KR" sz="2400" dirty="0"/>
              <a:t>Dot</a:t>
            </a:r>
            <a:r>
              <a:rPr lang="ko-KR" altLang="en-US" sz="2400" dirty="0"/>
              <a:t>에서 다이어그램 관련 설정 가능</a:t>
            </a:r>
            <a:endParaRPr lang="en-US" altLang="ko-KR" sz="2400" dirty="0"/>
          </a:p>
          <a:p>
            <a:r>
              <a:rPr lang="en-US" altLang="ko-KR" sz="2400" dirty="0"/>
              <a:t>Dot</a:t>
            </a:r>
            <a:r>
              <a:rPr lang="ko-KR" altLang="en-US" sz="2400" dirty="0"/>
              <a:t>에는 총 </a:t>
            </a:r>
            <a:r>
              <a:rPr lang="en-US" altLang="ko-KR" sz="2400" dirty="0"/>
              <a:t>45</a:t>
            </a:r>
            <a:r>
              <a:rPr lang="ko-KR" altLang="en-US" sz="2400" dirty="0"/>
              <a:t>개의 세부 설정이 있음</a:t>
            </a:r>
            <a:endParaRPr lang="en-US" altLang="ko-KR" sz="2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F675F5-6009-5F0C-B3FE-D59F5EBED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459" y="125443"/>
            <a:ext cx="7407282" cy="6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0955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2CD27-6E13-5C9D-E121-D2EA967D7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17BAA0-5B34-9C25-0D11-AB4C38F4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6D472E-AF15-79B6-67A7-8A39E964F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Autofit/>
          </a:bodyPr>
          <a:lstStyle/>
          <a:p>
            <a:r>
              <a:rPr lang="ko-KR" altLang="ko-KR" sz="2000" dirty="0"/>
              <a:t>HIDE_UNDOC_RELATIONS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상속 및 사용 관계의 대상이 문서화되지 않았거나 클래스가 아닌 경우 해당 관계를 숨</a:t>
            </a:r>
            <a:r>
              <a:rPr lang="ko-KR" altLang="en-US" sz="2000" dirty="0"/>
              <a:t>긴</a:t>
            </a:r>
            <a:r>
              <a:rPr lang="ko-KR" altLang="ko-KR" sz="2000" dirty="0"/>
              <a:t>다.</a:t>
            </a:r>
            <a:r>
              <a:rPr lang="en-US" altLang="ko-KR" sz="2000" dirty="0"/>
              <a:t> </a:t>
            </a:r>
          </a:p>
          <a:p>
            <a:endParaRPr lang="en-US" altLang="ko-KR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C4E64C1-2A34-8AAB-3181-D761800FE8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545804"/>
            <a:ext cx="9563929" cy="179847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33C97DD-A813-6AF6-C26E-140432E7B0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1164" y="2529762"/>
            <a:ext cx="5913632" cy="35055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072D290-7AB4-4786-8D52-4394901A9ADB}"/>
              </a:ext>
            </a:extLst>
          </p:cNvPr>
          <p:cNvSpPr txBox="1"/>
          <p:nvPr/>
        </p:nvSpPr>
        <p:spPr>
          <a:xfrm>
            <a:off x="1147165" y="6035266"/>
            <a:ext cx="35964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HIDE_UNDOC_RELATIONS</a:t>
            </a:r>
            <a:r>
              <a:rPr lang="en-US" altLang="ko-KR" dirty="0"/>
              <a:t> = YES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62762-26DC-859D-AB31-90BE60567790}"/>
              </a:ext>
            </a:extLst>
          </p:cNvPr>
          <p:cNvSpPr txBox="1"/>
          <p:nvPr/>
        </p:nvSpPr>
        <p:spPr>
          <a:xfrm>
            <a:off x="6439763" y="6051308"/>
            <a:ext cx="3577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ko-KR" dirty="0"/>
              <a:t>HIDE_UNDOC_RELATIONS</a:t>
            </a:r>
            <a:r>
              <a:rPr lang="en-US" altLang="ko-KR" dirty="0"/>
              <a:t> = NO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726439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A0240-3A13-7E3B-FFEC-6B2087B99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C5F5F6-A8A3-9425-238F-676BDDCF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dot </a:t>
            </a:r>
            <a:r>
              <a:rPr lang="ko-KR" altLang="en-US" sz="3600" dirty="0"/>
              <a:t>실행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4BDA40-75F7-FD57-6786-77DB61DCEE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Autofit/>
          </a:bodyPr>
          <a:lstStyle/>
          <a:p>
            <a:r>
              <a:rPr lang="en-US" altLang="ko-KR" sz="2000" b="1" dirty="0"/>
              <a:t>HAVE_DOT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HAVE_DOT 태그를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dirty="0" err="1"/>
              <a:t>Doxygen은</a:t>
            </a:r>
            <a:r>
              <a:rPr lang="ko-KR" altLang="ko-KR" sz="2000" dirty="0"/>
              <a:t> 시스템 경로(PATH)에서 </a:t>
            </a:r>
            <a:r>
              <a:rPr lang="ko-KR" altLang="ko-KR" sz="2000" dirty="0" err="1"/>
              <a:t>Graphviz의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도구를 사용할 수 있다고 가정</a:t>
            </a:r>
            <a:r>
              <a:rPr lang="ko-KR" altLang="en-US" sz="2000" dirty="0"/>
              <a:t>한다</a:t>
            </a:r>
            <a:r>
              <a:rPr lang="ko-KR" altLang="ko-KR" sz="2000" dirty="0"/>
              <a:t>. 이 옵션을 </a:t>
            </a:r>
            <a:r>
              <a:rPr lang="ko-KR" altLang="ko-KR" sz="2000" dirty="0" err="1"/>
              <a:t>NO로</a:t>
            </a:r>
            <a:r>
              <a:rPr lang="ko-KR" altLang="ko-KR" sz="2000" dirty="0"/>
              <a:t> 설정하면 이 섹션의 다른 옵션들은 적용되지 않</a:t>
            </a:r>
            <a:r>
              <a:rPr lang="ko-KR" altLang="en-US" sz="2000" dirty="0"/>
              <a:t>는다</a:t>
            </a:r>
            <a:r>
              <a:rPr lang="ko-KR" altLang="ko-KR" sz="2000" dirty="0"/>
              <a:t>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en-US" altLang="ko-KR" sz="2000" b="1" dirty="0" err="1"/>
              <a:t>GraphViz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그래프를 사용할 것인지 사용하지 않을 것인지 결정하는 옵션</a:t>
            </a:r>
            <a:r>
              <a:rPr lang="en-US" altLang="ko-KR" sz="2000" b="1" dirty="0"/>
              <a:t>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2745258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5B3D-9901-9814-7E15-3A562168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232A1D-A30E-F1DE-79B5-FBFF673A7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dot </a:t>
            </a:r>
            <a:r>
              <a:rPr lang="ko-KR" altLang="en-US" sz="3600" dirty="0"/>
              <a:t>실행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5EDA07-B294-D16C-F273-45AAEE67A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49280"/>
            <a:ext cx="10744200" cy="5206999"/>
          </a:xfrm>
        </p:spPr>
        <p:txBody>
          <a:bodyPr>
            <a:noAutofit/>
          </a:bodyPr>
          <a:lstStyle/>
          <a:p>
            <a:r>
              <a:rPr lang="ko-KR" altLang="ko-KR" sz="2000" dirty="0"/>
              <a:t>DOT_NUM_THREADS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512, 기본값: 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Doxygen이</a:t>
            </a:r>
            <a:r>
              <a:rPr lang="ko-KR" altLang="ko-KR" sz="2000" dirty="0"/>
              <a:t> 병렬로 실행할 수 있는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호출 개수를 지정합니다. 0으로 설정하면 시스템에서 사용 가능한 프로세서 수에 맞추어 자동으로 설정</a:t>
            </a:r>
            <a:r>
              <a:rPr lang="ko-KR" altLang="en-US" sz="2000" dirty="0"/>
              <a:t>된다</a:t>
            </a:r>
            <a:r>
              <a:rPr lang="ko-KR" altLang="ko-KR" sz="2000" dirty="0"/>
              <a:t>. 0보다 큰 값으로 설정하여 CPU 부하와 처리 속도 간의 균형을 직접 제어할 수 있</a:t>
            </a:r>
            <a:r>
              <a:rPr lang="ko-KR" altLang="en-US" sz="2000" dirty="0"/>
              <a:t>다</a:t>
            </a:r>
            <a:r>
              <a:rPr lang="ko-KR" altLang="ko-KR" sz="2000" dirty="0"/>
              <a:t>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최대 효율을 내고 싶다면 </a:t>
            </a:r>
            <a:r>
              <a:rPr lang="en-US" altLang="ko-KR" sz="2000" b="1" dirty="0"/>
              <a:t>0</a:t>
            </a:r>
            <a:r>
              <a:rPr lang="ko-KR" altLang="en-US" sz="2000" b="1" dirty="0"/>
              <a:t>으로 설정하고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너무 많이 </a:t>
            </a:r>
            <a:r>
              <a:rPr lang="en-US" altLang="ko-KR" sz="2000" b="1" dirty="0"/>
              <a:t>CPU</a:t>
            </a:r>
            <a:r>
              <a:rPr lang="ko-KR" altLang="en-US" sz="2000" b="1" dirty="0"/>
              <a:t>를 잡아먹는 것이 싫다면 스레드 수를 낮게 설정하면 된다</a:t>
            </a:r>
            <a:r>
              <a:rPr lang="en-US" altLang="ko-KR" sz="2000" b="1" dirty="0"/>
              <a:t>.</a:t>
            </a:r>
          </a:p>
          <a:p>
            <a:r>
              <a:rPr lang="ko-KR" altLang="ko-KR" sz="2000" dirty="0"/>
              <a:t>DOT_BATCH_SIZE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1, 최댓값: 1000, 기본값: 50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dot의</a:t>
            </a:r>
            <a:r>
              <a:rPr lang="ko-KR" altLang="ko-KR" sz="2000" dirty="0"/>
              <a:t> 단일 호출 시 </a:t>
            </a:r>
            <a:r>
              <a:rPr lang="ko-KR" altLang="ko-KR" sz="2000" dirty="0" err="1"/>
              <a:t>Doxygen이</a:t>
            </a:r>
            <a:r>
              <a:rPr lang="ko-KR" altLang="ko-KR" sz="2000" dirty="0"/>
              <a:t> 컴파일할 수 있는 그래프의 개수를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1로 설정하면 각 그래프마다 </a:t>
            </a:r>
            <a:r>
              <a:rPr lang="ko-KR" altLang="ko-KR" sz="2000" dirty="0" err="1"/>
              <a:t>dot을</a:t>
            </a:r>
            <a:r>
              <a:rPr lang="ko-KR" altLang="ko-KR" sz="2000" dirty="0"/>
              <a:t> 별도로 호출하므로 CPU 코어가 많은 시스템에서 프로세스 생성 오버헤드가 크게 발생할 수 있다. </a:t>
            </a:r>
            <a:r>
              <a:rPr lang="ko-KR" altLang="ko-KR" sz="2000" dirty="0" err="1"/>
              <a:t>DOT_NUM_THREADS와</a:t>
            </a:r>
            <a:r>
              <a:rPr lang="ko-KR" altLang="ko-KR" sz="2000" dirty="0"/>
              <a:t> 함께 조합하여 특정 시스템의 처리 속도를 최적화할 수 있다.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en-US" altLang="ko-KR" sz="2000" b="1" dirty="0"/>
              <a:t>dot</a:t>
            </a:r>
            <a:r>
              <a:rPr lang="ko-KR" altLang="en-US" sz="2000" b="1" dirty="0"/>
              <a:t> 하나당 처리할 그래프의 개수를 지정해 너무 많은 오버헤드의 발생을 방지한다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너무 낮으면 </a:t>
            </a:r>
            <a:r>
              <a:rPr lang="en-US" altLang="ko-KR" sz="2000" b="1" dirty="0"/>
              <a:t>dot</a:t>
            </a:r>
            <a:r>
              <a:rPr lang="ko-KR" altLang="en-US" sz="2000" b="1" dirty="0"/>
              <a:t>를 실행하고 종료하는 빈도가 너무 많아져 오버헤드 방지를 위해 적당한 수치로 지정해야 한다</a:t>
            </a:r>
            <a:r>
              <a:rPr lang="en-US" altLang="ko-KR" sz="2000" b="1" dirty="0"/>
              <a:t>.)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45104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84763-679F-A5D2-671B-B094B4352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FE925A-221F-CACA-D36C-26E1135D4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928603-8A4D-0D6D-0639-8BDA8EEFD0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DOT_COMMON_ATTR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fontname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Helvetica,fontsize</a:t>
            </a:r>
            <a:r>
              <a:rPr lang="ko-KR" altLang="ko-KR" sz="2000" dirty="0"/>
              <a:t>=10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서브그래프의 노드, </a:t>
            </a:r>
            <a:r>
              <a:rPr lang="ko-KR" altLang="ko-KR" sz="2000" dirty="0" err="1"/>
              <a:t>엣지</a:t>
            </a:r>
            <a:r>
              <a:rPr lang="ko-KR" altLang="ko-KR" sz="2000" dirty="0"/>
              <a:t>(연결선), 레이블에 적용되는 공통 속성</a:t>
            </a:r>
            <a:r>
              <a:rPr lang="ko-KR" altLang="en-US" sz="2000" dirty="0"/>
              <a:t>이다</a:t>
            </a:r>
            <a:r>
              <a:rPr lang="ko-KR" altLang="ko-KR" sz="2000" dirty="0"/>
              <a:t>. 폰트를 변경하고 싶다면 </a:t>
            </a:r>
            <a:r>
              <a:rPr lang="ko-KR" altLang="ko-KR" sz="2000" dirty="0" err="1"/>
              <a:t>fontname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fontcolor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fontsize</a:t>
            </a:r>
            <a:r>
              <a:rPr lang="ko-KR" altLang="ko-KR" sz="2000" dirty="0"/>
              <a:t> 속성을 지정할 수 있다. </a:t>
            </a:r>
            <a:r>
              <a:rPr lang="ko-KR" altLang="ko-KR" sz="2000" dirty="0" err="1"/>
              <a:t>dot이</a:t>
            </a:r>
            <a:r>
              <a:rPr lang="ko-KR" altLang="ko-KR" sz="2000" dirty="0"/>
              <a:t> 폰트를 찾을 수 있도록 표준 위치에 배치하거나, DOTFONTPATH 환경 변수 또는 DOT_FONTPATH 태그로 디렉터리를 설정해야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Graphviz</a:t>
            </a:r>
            <a:r>
              <a:rPr lang="ko-KR" altLang="ko-KR" sz="2000" dirty="0"/>
              <a:t> 기본 폰트 크기: 14)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ko-KR" sz="2000" b="1" dirty="0"/>
              <a:t>노드와 선 전체에 적용되는 공통 기본 폰트와 크기를 지정</a:t>
            </a:r>
            <a:r>
              <a:rPr lang="ko-KR" altLang="en-US" sz="2000" b="1" dirty="0"/>
              <a:t>하는 설정</a:t>
            </a:r>
            <a:r>
              <a:rPr lang="en-US" altLang="ko-KR" sz="2000" b="1" dirty="0"/>
              <a:t>.</a:t>
            </a:r>
            <a:r>
              <a:rPr lang="ko-KR" altLang="ko-KR" sz="2000" dirty="0"/>
              <a:t> </a:t>
            </a:r>
            <a:r>
              <a:rPr lang="ko-KR" altLang="en-US" sz="2000" dirty="0"/>
              <a:t>한글 폴더를 사용하였을 경우 글자가 깨지므로 </a:t>
            </a:r>
            <a:r>
              <a:rPr lang="en-US" altLang="ko-KR" sz="2000" dirty="0" err="1"/>
              <a:t>fontname</a:t>
            </a:r>
            <a:r>
              <a:rPr lang="ko-KR" altLang="en-US" sz="2000" dirty="0"/>
              <a:t>를 </a:t>
            </a:r>
            <a:r>
              <a:rPr lang="ko-KR" altLang="ko-KR" sz="2000" dirty="0" err="1"/>
              <a:t>Gulim</a:t>
            </a:r>
            <a:r>
              <a:rPr lang="ko-KR" altLang="en-US" sz="2000" dirty="0" err="1"/>
              <a:t>으로</a:t>
            </a:r>
            <a:r>
              <a:rPr lang="ko-KR" altLang="en-US" sz="2000" dirty="0"/>
              <a:t> 설정해야 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DOT_EDGE_ATTR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labelfontname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Helvetica,labelfontsize</a:t>
            </a:r>
            <a:r>
              <a:rPr lang="ko-KR" altLang="ko-KR" sz="2000" dirty="0"/>
              <a:t>=10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뒤에 결합되어 </a:t>
            </a:r>
            <a:r>
              <a:rPr lang="ko-KR" altLang="ko-KR" sz="2000" dirty="0" err="1"/>
              <a:t>엣지에</a:t>
            </a:r>
            <a:r>
              <a:rPr lang="ko-KR" altLang="ko-KR" sz="2000" dirty="0"/>
              <a:t> 적용되는 속성</a:t>
            </a:r>
            <a:r>
              <a:rPr lang="ko-KR" altLang="en-US" sz="2000" dirty="0"/>
              <a:t>이</a:t>
            </a:r>
            <a:r>
              <a:rPr lang="ko-KR" altLang="ko-KR" sz="2000" dirty="0"/>
              <a:t>다. (예: </a:t>
            </a:r>
            <a:r>
              <a:rPr lang="ko-KR" altLang="ko-KR" sz="2000" dirty="0" err="1"/>
              <a:t>arrowhead</a:t>
            </a:r>
            <a:r>
              <a:rPr lang="ko-KR" altLang="ko-KR" sz="2000" dirty="0"/>
              <a:t>=</a:t>
            </a:r>
            <a:r>
              <a:rPr lang="ko-KR" altLang="ko-KR" sz="2000" dirty="0" err="1"/>
              <a:t>open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arrowtail</a:t>
            </a:r>
            <a:r>
              <a:rPr lang="ko-KR" altLang="ko-KR" sz="2000" dirty="0"/>
              <a:t>=</a:t>
            </a:r>
            <a:r>
              <a:rPr lang="ko-KR" altLang="ko-KR" sz="2000" dirty="0" err="1"/>
              <a:t>open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arrowsize</a:t>
            </a:r>
            <a:r>
              <a:rPr lang="ko-KR" altLang="ko-KR" sz="2000" dirty="0"/>
              <a:t>=0.5)</a:t>
            </a:r>
            <a:r>
              <a:rPr lang="en-US" altLang="ko-KR" sz="2000" dirty="0"/>
              <a:t> 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연결선 디자인을 위해 사용되는 설정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2500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889B4-921E-8424-7209-61E987D1F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1C0675-A247-BCE0-28B0-85A73AD47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1EC7F1-B4BC-1D64-127E-BFF7CE449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DOT_NODE_ATTR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기본값은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box,height</a:t>
            </a:r>
            <a:r>
              <a:rPr lang="ko-KR" altLang="ko-KR" sz="2000" dirty="0"/>
              <a:t>=0.2,width=0.4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뒤에 결합되어 노드에 적용되는 속성</a:t>
            </a:r>
            <a:r>
              <a:rPr lang="ko-KR" altLang="en-US" sz="2000" dirty="0"/>
              <a:t>이</a:t>
            </a:r>
            <a:r>
              <a:rPr lang="ko-KR" altLang="ko-KR" sz="2000" dirty="0"/>
              <a:t>다. 노드 주변의 상자를 없애려면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plain</a:t>
            </a:r>
            <a:r>
              <a:rPr lang="ko-KR" altLang="ko-KR" sz="2000" dirty="0"/>
              <a:t> 또는 </a:t>
            </a:r>
            <a:r>
              <a:rPr lang="ko-KR" altLang="ko-KR" sz="2000" dirty="0" err="1"/>
              <a:t>shape</a:t>
            </a:r>
            <a:r>
              <a:rPr lang="ko-KR" altLang="ko-KR" sz="2000" dirty="0"/>
              <a:t>=</a:t>
            </a:r>
            <a:r>
              <a:rPr lang="ko-KR" altLang="ko-KR" sz="2000" dirty="0" err="1"/>
              <a:t>plaintext로</a:t>
            </a:r>
            <a:r>
              <a:rPr lang="ko-KR" altLang="ko-KR" sz="2000" dirty="0"/>
              <a:t>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노드 스타일 지정하는 설정</a:t>
            </a:r>
            <a:endParaRPr lang="en-US" altLang="ko-KR" sz="2000" b="1" dirty="0"/>
          </a:p>
          <a:p>
            <a:r>
              <a:rPr lang="en-US" altLang="ko-KR" sz="2000" dirty="0"/>
              <a:t>DOT_FONTPATH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DOT_COMMON_ATTR 등에서 </a:t>
            </a:r>
            <a:r>
              <a:rPr lang="ko-KR" altLang="ko-KR" sz="2000" b="1" dirty="0" err="1"/>
              <a:t>fontname으로</a:t>
            </a:r>
            <a:r>
              <a:rPr lang="ko-KR" altLang="ko-KR" sz="2000" b="1" dirty="0"/>
              <a:t> 지정된 폰트를 </a:t>
            </a:r>
            <a:r>
              <a:rPr lang="ko-KR" altLang="ko-KR" sz="2000" b="1" dirty="0" err="1"/>
              <a:t>dot이</a:t>
            </a:r>
            <a:r>
              <a:rPr lang="ko-KR" altLang="ko-KR" sz="2000" b="1" dirty="0"/>
              <a:t> 찾을 수 있는 경로를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2753878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3DF69-B23A-5E53-00D4-40225B849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42C3A-E42C-956A-E417-2450ABACD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스타일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1823D7-C0DD-8086-2F49-5B56D7ADF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스타일을 지정할 때 사용하는 문법은 </a:t>
            </a:r>
            <a:r>
              <a:rPr lang="en-US" altLang="ko-KR" sz="2000" dirty="0" err="1"/>
              <a:t>Graphviz</a:t>
            </a:r>
            <a:r>
              <a:rPr lang="ko-KR" altLang="en-US" sz="2000" dirty="0"/>
              <a:t>의 </a:t>
            </a:r>
            <a:r>
              <a:rPr lang="en-US" altLang="ko-KR" sz="2000" dirty="0"/>
              <a:t>dot</a:t>
            </a:r>
            <a:r>
              <a:rPr lang="ko-KR" altLang="en-US" sz="2000" dirty="0"/>
              <a:t> 문법이다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DDFB53D-4128-B24C-C823-22654AB821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042" y="1874075"/>
            <a:ext cx="5125121" cy="377274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866D4C3-BC65-44C1-4941-F8EC267E16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297" y="1906957"/>
            <a:ext cx="5170061" cy="377274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FAB3C2-A1FB-0D5B-53FA-7ED3B6CF91D8}"/>
              </a:ext>
            </a:extLst>
          </p:cNvPr>
          <p:cNvSpPr txBox="1"/>
          <p:nvPr/>
        </p:nvSpPr>
        <p:spPr>
          <a:xfrm>
            <a:off x="1652337" y="5807631"/>
            <a:ext cx="17331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스타일 적용 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5DE5EB-4669-8804-58A8-EE128EDA4B92}"/>
              </a:ext>
            </a:extLst>
          </p:cNvPr>
          <p:cNvSpPr txBox="1"/>
          <p:nvPr/>
        </p:nvSpPr>
        <p:spPr>
          <a:xfrm>
            <a:off x="4653461" y="5679704"/>
            <a:ext cx="753853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dirty="0"/>
              <a:t>스타일 적용 후</a:t>
            </a:r>
            <a:endParaRPr lang="en-US" altLang="ko-KR" dirty="0"/>
          </a:p>
          <a:p>
            <a:pPr algn="ctr"/>
            <a:r>
              <a:rPr lang="en-US" altLang="ko-KR" sz="1200" dirty="0"/>
              <a:t>DOT_COMMON_ATTR = </a:t>
            </a:r>
            <a:r>
              <a:rPr lang="en-US" altLang="ko-KR" sz="1200" dirty="0" err="1"/>
              <a:t>fontname</a:t>
            </a:r>
            <a:r>
              <a:rPr lang="en-US" altLang="ko-KR" sz="1200" dirty="0"/>
              <a:t>=</a:t>
            </a:r>
            <a:r>
              <a:rPr lang="en-US" altLang="ko-KR" sz="1200" dirty="0" err="1"/>
              <a:t>Helvetica,fontsize</a:t>
            </a:r>
            <a:r>
              <a:rPr lang="en-US" altLang="ko-KR" sz="1200" dirty="0"/>
              <a:t>=20</a:t>
            </a:r>
          </a:p>
          <a:p>
            <a:pPr algn="ctr"/>
            <a:r>
              <a:rPr lang="en-US" altLang="ko-KR" sz="1200" dirty="0"/>
              <a:t>DOT_EDGE_ATTR = </a:t>
            </a:r>
            <a:r>
              <a:rPr lang="en-US" altLang="ko-KR" sz="1200" dirty="0" err="1"/>
              <a:t>labelfontname</a:t>
            </a:r>
            <a:r>
              <a:rPr lang="en-US" altLang="ko-KR" sz="1200" dirty="0"/>
              <a:t>=</a:t>
            </a:r>
            <a:r>
              <a:rPr lang="en-US" altLang="ko-KR" sz="1200" dirty="0" err="1"/>
              <a:t>Helvetica,labelfontsize</a:t>
            </a:r>
            <a:r>
              <a:rPr lang="en-US" altLang="ko-KR" sz="1200" dirty="0"/>
              <a:t>=10,penwidth=2.0,arrowsize=2.0,fillcolor=green</a:t>
            </a:r>
          </a:p>
          <a:p>
            <a:pPr algn="ctr"/>
            <a:r>
              <a:rPr lang="en-US" altLang="ko-KR" sz="1200" dirty="0"/>
              <a:t>DOT_NODE_ATTR = shape=</a:t>
            </a:r>
            <a:r>
              <a:rPr lang="en-US" altLang="ko-KR" sz="1200" dirty="0" err="1"/>
              <a:t>box,height</a:t>
            </a:r>
            <a:r>
              <a:rPr lang="en-US" altLang="ko-KR" sz="1200" dirty="0"/>
              <a:t>=0.2,width=0.4, </a:t>
            </a:r>
            <a:r>
              <a:rPr lang="en-US" altLang="ko-KR" sz="1200" dirty="0" err="1"/>
              <a:t>penwidth</a:t>
            </a:r>
            <a:r>
              <a:rPr lang="en-US" altLang="ko-KR" sz="1200" dirty="0"/>
              <a:t> = 5.0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20802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229DC-544A-8D8E-08E2-3C7EB0BA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ACEE6-9F16-9076-4710-243BF92063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41CCA-F4A0-2E62-4EEB-2DF2DB6F26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197389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CLASS_GRAPH(Wizard</a:t>
            </a:r>
            <a:r>
              <a:rPr lang="ko-KR" altLang="en-US" sz="2000" dirty="0"/>
              <a:t>의 </a:t>
            </a:r>
            <a:r>
              <a:rPr lang="en-US" altLang="ko-KR" sz="2000" dirty="0"/>
              <a:t>Class graphs</a:t>
            </a:r>
            <a:r>
              <a:rPr lang="ko-KR" altLang="en-US" sz="2000" dirty="0"/>
              <a:t>와 동일 옵션</a:t>
            </a:r>
            <a:r>
              <a:rPr lang="en-US" altLang="ko-KR" sz="2000" dirty="0"/>
              <a:t>)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YES/NO/TEXT/GRAPH/BUILTIN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문서화된 각 클래스에 대해 직접/간접 </a:t>
            </a:r>
            <a:r>
              <a:rPr lang="ko-KR" altLang="ko-KR" sz="2000" b="1" dirty="0"/>
              <a:t>상속 관계 그래프 생성 </a:t>
            </a:r>
            <a:r>
              <a:rPr lang="ko-KR" altLang="ko-KR" sz="2000" dirty="0"/>
              <a:t>여부를 설</a:t>
            </a:r>
            <a:r>
              <a:rPr lang="ko-KR" altLang="en-US" sz="2000" dirty="0"/>
              <a:t>정한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 lvl="1"/>
            <a:r>
              <a:rPr lang="ko-KR" altLang="ko-KR" sz="1800" dirty="0"/>
              <a:t>YES / GRAPH: </a:t>
            </a:r>
            <a:r>
              <a:rPr lang="ko-KR" altLang="ko-KR" sz="1800" dirty="0" err="1"/>
              <a:t>HAVE_DOT이</a:t>
            </a:r>
            <a:r>
              <a:rPr lang="ko-KR" altLang="ko-KR" sz="1800" dirty="0"/>
              <a:t> 활성화되어 있으면 </a:t>
            </a:r>
            <a:r>
              <a:rPr lang="ko-KR" altLang="ko-KR" sz="1800" dirty="0" err="1"/>
              <a:t>dot을</a:t>
            </a:r>
            <a:r>
              <a:rPr lang="ko-KR" altLang="ko-KR" sz="1800" dirty="0"/>
              <a:t> 사용하여 그래프를 생성</a:t>
            </a:r>
            <a:r>
              <a:rPr lang="ko-KR" altLang="en-US" sz="1800" dirty="0"/>
              <a:t>한</a:t>
            </a:r>
            <a:r>
              <a:rPr lang="ko-KR" altLang="ko-KR" sz="1800" dirty="0"/>
              <a:t>다.(YES 설정 시 </a:t>
            </a:r>
            <a:r>
              <a:rPr lang="ko-KR" altLang="ko-KR" sz="1800" dirty="0" err="1"/>
              <a:t>HAVE_DOT이</a:t>
            </a:r>
            <a:r>
              <a:rPr lang="ko-KR" altLang="ko-KR" sz="1800" dirty="0"/>
              <a:t> 비활성화되어 있어도 내장 생성기</a:t>
            </a:r>
            <a:r>
              <a:rPr lang="ko-KR" altLang="en-US" sz="1800" dirty="0"/>
              <a:t>가</a:t>
            </a:r>
            <a:r>
              <a:rPr lang="ko-KR" altLang="ko-KR" sz="1800" dirty="0"/>
              <a:t> 사용</a:t>
            </a:r>
            <a:r>
              <a:rPr lang="ko-KR" altLang="en-US" sz="1800" dirty="0"/>
              <a:t>된다</a:t>
            </a:r>
            <a:r>
              <a:rPr lang="ko-KR" altLang="ko-KR" sz="1800" dirty="0"/>
              <a:t>)</a:t>
            </a:r>
          </a:p>
          <a:p>
            <a:pPr lvl="1"/>
            <a:r>
              <a:rPr lang="ko-KR" altLang="ko-KR" sz="1800" dirty="0"/>
              <a:t>BUILTIN: 내장 생성기를 사용</a:t>
            </a:r>
            <a:r>
              <a:rPr lang="ko-KR" altLang="en-US" sz="1800" dirty="0"/>
              <a:t>한</a:t>
            </a:r>
            <a:r>
              <a:rPr lang="ko-KR" altLang="ko-KR" sz="1800" dirty="0"/>
              <a:t>다. </a:t>
            </a:r>
          </a:p>
          <a:p>
            <a:pPr lvl="1"/>
            <a:r>
              <a:rPr lang="ko-KR" altLang="ko-KR" sz="1800" dirty="0"/>
              <a:t>TEXT: 텍스트 및 링크 형태로 표현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명령어 \</a:t>
            </a:r>
            <a:r>
              <a:rPr lang="ko-KR" altLang="ko-KR" sz="1800" dirty="0" err="1"/>
              <a:t>inheritancegraph로</a:t>
            </a:r>
            <a:r>
              <a:rPr lang="ko-KR" altLang="ko-KR" sz="1800" dirty="0"/>
              <a:t> 명시적 활성화, \</a:t>
            </a:r>
            <a:r>
              <a:rPr lang="ko-KR" altLang="ko-KR" sz="1800" dirty="0" err="1"/>
              <a:t>hideinheritancegraph로</a:t>
            </a:r>
            <a:r>
              <a:rPr lang="ko-KR" altLang="ko-KR" sz="1800" dirty="0"/>
              <a:t> 비활성화가 가능</a:t>
            </a:r>
            <a:r>
              <a:rPr lang="ko-KR" altLang="en-US" sz="1800" dirty="0"/>
              <a:t>하</a:t>
            </a:r>
            <a:r>
              <a:rPr lang="ko-KR" altLang="ko-KR" sz="1800" dirty="0"/>
              <a:t>다.</a:t>
            </a:r>
            <a:endParaRPr lang="ko-KR" altLang="ko-KR" sz="2000" dirty="0"/>
          </a:p>
          <a:p>
            <a:pPr lvl="1"/>
            <a:endParaRPr lang="en-US" altLang="ko-KR" sz="1600" dirty="0"/>
          </a:p>
          <a:p>
            <a:endParaRPr lang="en-US" altLang="ko-KR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FF52D-357D-9FFE-E9E1-5F9FE027F25D}"/>
              </a:ext>
            </a:extLst>
          </p:cNvPr>
          <p:cNvSpPr txBox="1"/>
          <p:nvPr/>
        </p:nvSpPr>
        <p:spPr>
          <a:xfrm>
            <a:off x="838200" y="3793331"/>
            <a:ext cx="10515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상속 관계 그래프의 종류를 선택하는 옵션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  <a:r>
              <a:rPr lang="ko-KR" altLang="en-US" sz="2000" dirty="0"/>
              <a:t>각 클래스 페이지로 이동하면                       </a:t>
            </a:r>
            <a:r>
              <a:rPr lang="en-US" altLang="ko-KR" sz="2000" dirty="0"/>
              <a:t>	     </a:t>
            </a:r>
            <a:r>
              <a:rPr lang="ko-KR" altLang="en-US" sz="2000" dirty="0"/>
              <a:t>상단에</a:t>
            </a:r>
            <a:r>
              <a:rPr lang="en-US" altLang="ko-KR" sz="2000" dirty="0"/>
              <a:t>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클래스명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에 대한 상속 다이어그램 </a:t>
            </a:r>
            <a:r>
              <a:rPr lang="en-US" altLang="ko-KR" sz="2000" b="1" dirty="0"/>
              <a:t>: </a:t>
            </a:r>
            <a:r>
              <a:rPr lang="ko-KR" altLang="en-US" sz="2000" dirty="0"/>
              <a:t>아래에 그래프가 나온다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 범위 </a:t>
            </a:r>
            <a:r>
              <a:rPr lang="en-US" altLang="ko-KR" sz="2000" dirty="0"/>
              <a:t>: </a:t>
            </a:r>
            <a:r>
              <a:rPr lang="ko-KR" altLang="en-US" sz="2000" dirty="0"/>
              <a:t>부모 클래스 </a:t>
            </a:r>
            <a:r>
              <a:rPr lang="en-US" altLang="ko-KR" sz="2000" dirty="0"/>
              <a:t>+ </a:t>
            </a:r>
            <a:r>
              <a:rPr lang="ko-KR" altLang="en-US" sz="2000" dirty="0"/>
              <a:t>자식 클래스</a:t>
            </a:r>
          </a:p>
        </p:txBody>
      </p:sp>
    </p:spTree>
    <p:extLst>
      <p:ext uri="{BB962C8B-B14F-4D97-AF65-F5344CB8AC3E}">
        <p14:creationId xmlns:p14="http://schemas.microsoft.com/office/powerpoint/2010/main" val="16923823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BBB29-244A-0148-D2BB-ABD058EBE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11BC8-E6A6-280D-7441-4016C302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A4F7EE-83A1-419C-0BF6-6A1A6CB6C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197389" cy="47672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000" dirty="0"/>
              <a:t>CLASS_GRAPH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3637BD-B6FB-6857-123A-E36AE4D952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001"/>
          <a:stretch>
            <a:fillRect/>
          </a:stretch>
        </p:blipFill>
        <p:spPr>
          <a:xfrm>
            <a:off x="385012" y="2239182"/>
            <a:ext cx="9865826" cy="3503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373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26B21-36C0-E37A-C043-694402CB6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7B55E-0A3F-F7C3-CC7E-447633B17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-</a:t>
            </a:r>
            <a:r>
              <a:rPr lang="ko-KR" altLang="en-US" sz="3600" dirty="0"/>
              <a:t> 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672110-015C-B944-C5E3-AA92A09C7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COLLABORATION_GRAPH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클래스 간의 직접/간접 구현 의존성(상속, 포함, 클래스 참조 변수 등)을 보여주는 협력(</a:t>
            </a:r>
            <a:r>
              <a:rPr lang="ko-KR" altLang="ko-KR" sz="2000" dirty="0" err="1"/>
              <a:t>Collaboration</a:t>
            </a:r>
            <a:r>
              <a:rPr lang="ko-KR" altLang="ko-KR" sz="2000" dirty="0"/>
              <a:t>)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collaborationgraph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hidecollaborationgraph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84ED98-B939-A36A-046D-ED9465B7453C}"/>
              </a:ext>
            </a:extLst>
          </p:cNvPr>
          <p:cNvSpPr txBox="1"/>
          <p:nvPr/>
        </p:nvSpPr>
        <p:spPr>
          <a:xfrm>
            <a:off x="822157" y="3081587"/>
            <a:ext cx="11177338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ko-KR" sz="2000" dirty="0"/>
              <a:t>직접/간접 구현 의존성</a:t>
            </a:r>
            <a:r>
              <a:rPr lang="en-US" altLang="ko-KR" sz="2000" dirty="0"/>
              <a:t> </a:t>
            </a:r>
            <a:r>
              <a:rPr lang="ko-KR" altLang="en-US" sz="2000" dirty="0"/>
              <a:t>그래프</a:t>
            </a:r>
            <a:r>
              <a:rPr lang="en-US" altLang="ko-KR" sz="2000" dirty="0"/>
              <a:t>, </a:t>
            </a:r>
            <a:r>
              <a:rPr lang="ko-KR" altLang="en-US" sz="2000" dirty="0"/>
              <a:t>즉 협력 관계에 대한 그래프를 생성하는 옵션이</a:t>
            </a:r>
            <a:r>
              <a:rPr lang="en-US" altLang="ko-KR" sz="2000" dirty="0"/>
              <a:t>	    </a:t>
            </a:r>
            <a:r>
              <a:rPr lang="ko-KR" altLang="en-US" sz="2000" dirty="0"/>
              <a:t>다</a:t>
            </a:r>
            <a:r>
              <a:rPr lang="en-US" altLang="ko-KR" sz="2000" dirty="0"/>
              <a:t>. </a:t>
            </a:r>
            <a:r>
              <a:rPr lang="ko-KR" altLang="en-US" sz="2000" dirty="0"/>
              <a:t>각 클래스 페이지로 이동하면</a:t>
            </a:r>
            <a:endParaRPr lang="en-US" altLang="ko-KR" sz="2000" dirty="0"/>
          </a:p>
          <a:p>
            <a:r>
              <a:rPr lang="en-US" altLang="ko-KR" sz="2000" dirty="0"/>
              <a:t>	    </a:t>
            </a:r>
            <a:r>
              <a:rPr lang="ko-KR" altLang="en-US" sz="2000" dirty="0"/>
              <a:t>상단에</a:t>
            </a:r>
            <a:r>
              <a:rPr lang="en-US" altLang="ko-KR" sz="2000" dirty="0"/>
              <a:t> </a:t>
            </a:r>
            <a:r>
              <a:rPr lang="en-US" altLang="ko-KR" sz="2000" b="1" dirty="0"/>
              <a:t>[</a:t>
            </a:r>
            <a:r>
              <a:rPr lang="ko-KR" altLang="en-US" sz="2000" b="1" dirty="0"/>
              <a:t>클래스명</a:t>
            </a:r>
            <a:r>
              <a:rPr lang="en-US" altLang="ko-KR" sz="2000" b="1" dirty="0"/>
              <a:t>]</a:t>
            </a:r>
            <a:r>
              <a:rPr lang="ko-KR" altLang="en-US" sz="2000" b="1" dirty="0"/>
              <a:t>에 대한 협력 다이어그램 </a:t>
            </a:r>
            <a:r>
              <a:rPr lang="en-US" altLang="ko-KR" sz="2000" b="1" dirty="0"/>
              <a:t>: </a:t>
            </a:r>
            <a:r>
              <a:rPr lang="ko-KR" altLang="en-US" sz="2000" dirty="0"/>
              <a:t>아래에 그래프가 나온다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 범위 </a:t>
            </a:r>
            <a:r>
              <a:rPr lang="en-US" altLang="ko-KR" sz="2000" dirty="0"/>
              <a:t>: </a:t>
            </a:r>
          </a:p>
          <a:p>
            <a:r>
              <a:rPr lang="en-US" altLang="ko-KR" sz="2000" dirty="0"/>
              <a:t>	1. </a:t>
            </a:r>
            <a:r>
              <a:rPr lang="ko-KR" altLang="en-US" sz="2000" dirty="0"/>
              <a:t>부모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상속받은 상위 클래스</a:t>
            </a:r>
            <a:endParaRPr lang="en-US" altLang="ko-KR" sz="2000" dirty="0"/>
          </a:p>
          <a:p>
            <a:r>
              <a:rPr lang="en-US" altLang="ko-KR" sz="2000" dirty="0"/>
              <a:t>	2. </a:t>
            </a:r>
            <a:r>
              <a:rPr lang="ko-KR" altLang="en-US" sz="2000" dirty="0"/>
              <a:t>멤버 변수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객체 형태로 내부에 직접 소유한 클래스</a:t>
            </a:r>
            <a:endParaRPr lang="en-US" altLang="ko-KR" sz="2000" dirty="0"/>
          </a:p>
          <a:p>
            <a:r>
              <a:rPr lang="en-US" altLang="ko-KR" sz="2000" dirty="0"/>
              <a:t>	3. </a:t>
            </a:r>
            <a:r>
              <a:rPr lang="ko-KR" altLang="en-US" sz="2000" dirty="0"/>
              <a:t>포인터</a:t>
            </a:r>
            <a:r>
              <a:rPr lang="en-US" altLang="ko-KR" sz="2000" dirty="0"/>
              <a:t>/</a:t>
            </a:r>
            <a:r>
              <a:rPr lang="ko-KR" altLang="en-US" sz="2000" dirty="0"/>
              <a:t>참조 클래스 </a:t>
            </a:r>
            <a:r>
              <a:rPr lang="en-US" altLang="ko-KR" sz="2000" dirty="0"/>
              <a:t>: </a:t>
            </a:r>
            <a:r>
              <a:rPr lang="ko-KR" altLang="en-US" sz="2000" dirty="0"/>
              <a:t>포인터나 레퍼런스로 가리키고 있는 클래스</a:t>
            </a:r>
            <a:endParaRPr lang="en-US" altLang="ko-KR" sz="2000" dirty="0"/>
          </a:p>
          <a:p>
            <a:r>
              <a:rPr lang="en-US" altLang="ko-KR" sz="2000" dirty="0"/>
              <a:t>	4. </a:t>
            </a:r>
            <a:r>
              <a:rPr lang="ko-KR" altLang="en-US" sz="2000" dirty="0"/>
              <a:t>템플릿 인스턴스 관계 </a:t>
            </a:r>
            <a:r>
              <a:rPr lang="en-US" altLang="ko-KR" sz="2000" dirty="0"/>
              <a:t>:</a:t>
            </a:r>
            <a:r>
              <a:rPr lang="ko-KR" altLang="ko-KR" dirty="0"/>
              <a:t> </a:t>
            </a:r>
            <a:r>
              <a:rPr lang="ko-KR" altLang="ko-KR" sz="2000" dirty="0"/>
              <a:t>템플릿으로 엮인 </a:t>
            </a:r>
            <a:r>
              <a:rPr lang="ko-KR" altLang="en-US" sz="2000" dirty="0"/>
              <a:t>클</a:t>
            </a:r>
            <a:r>
              <a:rPr lang="ko-KR" altLang="ko-KR" sz="2000" dirty="0"/>
              <a:t>래스</a:t>
            </a:r>
            <a:r>
              <a:rPr lang="en-US" altLang="ko-KR" sz="2000" dirty="0"/>
              <a:t>(</a:t>
            </a:r>
            <a:r>
              <a:rPr lang="ko-KR" altLang="en-US" sz="2000" dirty="0"/>
              <a:t>템플릿 클래스를 상속하거나 </a:t>
            </a:r>
            <a:endParaRPr lang="en-US" altLang="ko-KR" sz="2000" dirty="0"/>
          </a:p>
          <a:p>
            <a:r>
              <a:rPr lang="en-US" altLang="ko-KR" sz="2000" dirty="0"/>
              <a:t>	</a:t>
            </a:r>
            <a:r>
              <a:rPr lang="ko-KR" altLang="en-US" sz="2000" dirty="0"/>
              <a:t>템플릿 타입 매개변수로 클래스를 사용할 때</a:t>
            </a:r>
            <a:r>
              <a:rPr lang="en-US" altLang="ko-KR" sz="2000" dirty="0"/>
              <a:t>)</a:t>
            </a:r>
          </a:p>
          <a:p>
            <a:r>
              <a:rPr lang="en-US" altLang="ko-KR" sz="2000" dirty="0"/>
              <a:t>		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0827963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1B674-C2CD-0811-DB68-5CD9B9D84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85C1D7-5B62-A6C0-E9B6-CCA516D63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-</a:t>
            </a:r>
            <a:r>
              <a:rPr lang="ko-KR" altLang="en-US" sz="3600" dirty="0"/>
              <a:t> 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1DE982-C0D2-DAF6-00F2-212A59841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COLLABORATION_GRAPH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0F014C0-71A1-7DC3-C762-C345DD25A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75904"/>
            <a:ext cx="4507832" cy="465809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385A7C8-98A3-5C3E-6F4B-134B96FA50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3480" y="4067174"/>
            <a:ext cx="9398520" cy="2566823"/>
          </a:xfrm>
          <a:prstGeom prst="rect">
            <a:avLst/>
          </a:prstGeom>
        </p:spPr>
      </p:pic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225312BE-E50B-4BE9-73BE-EA0EB6FA9F13}"/>
              </a:ext>
            </a:extLst>
          </p:cNvPr>
          <p:cNvCxnSpPr>
            <a:cxnSpLocks/>
          </p:cNvCxnSpPr>
          <p:nvPr/>
        </p:nvCxnSpPr>
        <p:spPr>
          <a:xfrm flipV="1">
            <a:off x="2863516" y="1764632"/>
            <a:ext cx="2783305" cy="898357"/>
          </a:xfrm>
          <a:prstGeom prst="bentConnector3">
            <a:avLst>
              <a:gd name="adj1" fmla="val -14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B29AC5-1494-91F4-EA9A-50B42AE3C0B4}"/>
              </a:ext>
            </a:extLst>
          </p:cNvPr>
          <p:cNvSpPr txBox="1"/>
          <p:nvPr/>
        </p:nvSpPr>
        <p:spPr>
          <a:xfrm>
            <a:off x="5791200" y="1591024"/>
            <a:ext cx="735229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부모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상속받은 상위 클래스</a:t>
            </a:r>
            <a:endParaRPr lang="en-US" altLang="ko-KR" sz="16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멤버 변수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객체 형태로 내부에 직접 소유한 클래스</a:t>
            </a:r>
            <a:endParaRPr lang="en-US" altLang="ko-KR" sz="1600" dirty="0"/>
          </a:p>
          <a:p>
            <a:r>
              <a:rPr lang="en-US" altLang="ko-KR" sz="1600" dirty="0"/>
              <a:t>3. </a:t>
            </a:r>
            <a:r>
              <a:rPr lang="ko-KR" altLang="en-US" sz="1600" dirty="0"/>
              <a:t>포인터</a:t>
            </a:r>
            <a:r>
              <a:rPr lang="en-US" altLang="ko-KR" sz="1600" dirty="0"/>
              <a:t>/</a:t>
            </a:r>
            <a:r>
              <a:rPr lang="ko-KR" altLang="en-US" sz="1600" dirty="0"/>
              <a:t>참조 클래스 </a:t>
            </a:r>
            <a:r>
              <a:rPr lang="en-US" altLang="ko-KR" sz="1600" dirty="0"/>
              <a:t>: </a:t>
            </a:r>
            <a:r>
              <a:rPr lang="ko-KR" altLang="en-US" sz="1600" dirty="0"/>
              <a:t>포인터나 레퍼런스로 가리키고 있는 클래스</a:t>
            </a:r>
            <a:endParaRPr lang="en-US" altLang="ko-KR" sz="1600" dirty="0"/>
          </a:p>
          <a:p>
            <a:r>
              <a:rPr lang="en-US" altLang="ko-KR" sz="1600" dirty="0"/>
              <a:t>4. </a:t>
            </a:r>
            <a:r>
              <a:rPr lang="ko-KR" altLang="en-US" sz="1600" dirty="0"/>
              <a:t>템플릿 인스턴스 관계 </a:t>
            </a:r>
            <a:r>
              <a:rPr lang="en-US" altLang="ko-KR" sz="1600" dirty="0"/>
              <a:t>:</a:t>
            </a:r>
            <a:r>
              <a:rPr lang="ko-KR" altLang="ko-KR" sz="1600" dirty="0"/>
              <a:t> 템플릿으로 엮인 </a:t>
            </a:r>
            <a:r>
              <a:rPr lang="ko-KR" altLang="en-US" sz="1600" dirty="0"/>
              <a:t>클</a:t>
            </a:r>
            <a:r>
              <a:rPr lang="ko-KR" altLang="ko-KR" sz="1600" dirty="0"/>
              <a:t>래스</a:t>
            </a:r>
            <a:r>
              <a:rPr lang="en-US" altLang="ko-KR" sz="1600" dirty="0"/>
              <a:t>(</a:t>
            </a:r>
            <a:r>
              <a:rPr lang="ko-KR" altLang="en-US" sz="1600" dirty="0"/>
              <a:t>템플릿 클래스를 </a:t>
            </a:r>
            <a:endParaRPr lang="en-US" altLang="ko-KR" sz="1600" dirty="0"/>
          </a:p>
          <a:p>
            <a:r>
              <a:rPr lang="ko-KR" altLang="en-US" sz="1600" dirty="0"/>
              <a:t>상속하거나 템플릿 타입 매개변수로 클래스를 사용할 때</a:t>
            </a:r>
            <a:r>
              <a:rPr lang="en-US" altLang="ko-KR" sz="1600" dirty="0"/>
              <a:t>)</a:t>
            </a:r>
          </a:p>
          <a:p>
            <a:r>
              <a:rPr lang="en-US" altLang="ko-KR" sz="2000" dirty="0"/>
              <a:t>		</a:t>
            </a:r>
            <a:endParaRPr lang="ko-KR" altLang="en-US" sz="2000" dirty="0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AFB050C-4984-488D-C179-507CFBF71B12}"/>
              </a:ext>
            </a:extLst>
          </p:cNvPr>
          <p:cNvCxnSpPr>
            <a:cxnSpLocks/>
          </p:cNvCxnSpPr>
          <p:nvPr/>
        </p:nvCxnSpPr>
        <p:spPr>
          <a:xfrm flipV="1">
            <a:off x="2133600" y="1987935"/>
            <a:ext cx="3657600" cy="1300697"/>
          </a:xfrm>
          <a:prstGeom prst="bentConnector3">
            <a:avLst>
              <a:gd name="adj1" fmla="val 3771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02A3EF8B-3487-17F3-91AD-C269ECFC3355}"/>
              </a:ext>
            </a:extLst>
          </p:cNvPr>
          <p:cNvCxnSpPr>
            <a:cxnSpLocks/>
          </p:cNvCxnSpPr>
          <p:nvPr/>
        </p:nvCxnSpPr>
        <p:spPr>
          <a:xfrm flipV="1">
            <a:off x="2286000" y="2241158"/>
            <a:ext cx="3505200" cy="1199874"/>
          </a:xfrm>
          <a:prstGeom prst="bentConnector3">
            <a:avLst>
              <a:gd name="adj1" fmla="val 68764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82EB40D3-04F0-5A68-D3B7-16897273B0A7}"/>
              </a:ext>
            </a:extLst>
          </p:cNvPr>
          <p:cNvCxnSpPr>
            <a:cxnSpLocks/>
          </p:cNvCxnSpPr>
          <p:nvPr/>
        </p:nvCxnSpPr>
        <p:spPr>
          <a:xfrm flipV="1">
            <a:off x="3208421" y="2502568"/>
            <a:ext cx="2582779" cy="1149736"/>
          </a:xfrm>
          <a:prstGeom prst="bentConnector3">
            <a:avLst>
              <a:gd name="adj1" fmla="val 6739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D9F5E6AB-9CDB-7738-F7BD-0F6F5EE393A3}"/>
              </a:ext>
            </a:extLst>
          </p:cNvPr>
          <p:cNvCxnSpPr>
            <a:cxnSpLocks/>
          </p:cNvCxnSpPr>
          <p:nvPr/>
        </p:nvCxnSpPr>
        <p:spPr>
          <a:xfrm flipV="1">
            <a:off x="3962400" y="2502568"/>
            <a:ext cx="1251284" cy="160421"/>
          </a:xfrm>
          <a:prstGeom prst="bentConnector3">
            <a:avLst>
              <a:gd name="adj1" fmla="val 1282"/>
            </a:avLst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5512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A64A1-F4C4-9E56-C2FE-80E39D1BE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A59D6B-B47F-2C38-E38D-C8641EB8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21F841-5CA1-1299-E5B3-EE097BF06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그룹 간의 직접 의존 관계를 보여주는 그래프를 생성합니다. </a:t>
            </a:r>
            <a:r>
              <a:rPr lang="en-US" altLang="ko-KR" sz="2000" dirty="0"/>
              <a:t>\</a:t>
            </a:r>
            <a:r>
              <a:rPr lang="ko-KR" altLang="ko-KR" sz="2000" dirty="0" err="1"/>
              <a:t>groupgraph</a:t>
            </a:r>
            <a:r>
              <a:rPr lang="ko-KR" altLang="ko-KR" sz="2000" dirty="0"/>
              <a:t> 및 </a:t>
            </a:r>
            <a:r>
              <a:rPr lang="en-US" altLang="ko-KR" sz="2000" dirty="0"/>
              <a:t>\</a:t>
            </a:r>
            <a:r>
              <a:rPr lang="ko-KR" altLang="ko-KR" sz="2000" dirty="0" err="1"/>
              <a:t>hidegroupgraph</a:t>
            </a:r>
            <a:r>
              <a:rPr lang="ko-KR" altLang="ko-KR" sz="2000" dirty="0"/>
              <a:t> 명령어로 개별 제어가 가능합니다.</a:t>
            </a:r>
            <a:br>
              <a:rPr lang="en-US" altLang="ko-KR" sz="2000" dirty="0"/>
            </a:br>
            <a:r>
              <a:rPr lang="ko-KR" altLang="en-US" sz="2000" dirty="0"/>
              <a:t>부연 설명</a:t>
            </a:r>
            <a:r>
              <a:rPr lang="en-US" altLang="ko-KR" sz="2000" dirty="0"/>
              <a:t> : </a:t>
            </a:r>
            <a:r>
              <a:rPr lang="ko-KR" altLang="en-US" sz="2000" dirty="0"/>
              <a:t>모듈</a:t>
            </a:r>
            <a:r>
              <a:rPr lang="en-US" altLang="ko-KR" sz="2000" dirty="0"/>
              <a:t>/</a:t>
            </a:r>
            <a:r>
              <a:rPr lang="ko-KR" altLang="en-US" sz="2000" dirty="0"/>
              <a:t>그룹</a:t>
            </a:r>
            <a:r>
              <a:rPr lang="en-US" altLang="ko-KR" sz="2000" dirty="0"/>
              <a:t>(@defgroup, @addtogroup)</a:t>
            </a:r>
            <a:r>
              <a:rPr lang="ko-KR" altLang="en-US" sz="2000" dirty="0"/>
              <a:t>간의 의존 관계 다이어그램을 </a:t>
            </a:r>
            <a:r>
              <a:rPr lang="ko-KR" altLang="en-US" sz="2000" dirty="0" err="1"/>
              <a:t>생성할지의</a:t>
            </a:r>
            <a:r>
              <a:rPr lang="ko-KR" altLang="en-US" sz="2000" dirty="0"/>
              <a:t> 여부를 묻는 옵션</a:t>
            </a:r>
            <a:r>
              <a:rPr lang="en-US" altLang="ko-KR" sz="2000" dirty="0"/>
              <a:t>. </a:t>
            </a:r>
            <a:r>
              <a:rPr lang="ko-KR" altLang="en-US" sz="2000" dirty="0"/>
              <a:t>개발자가 그룹을 만들었을 때 </a:t>
            </a:r>
            <a:r>
              <a:rPr lang="en-US" altLang="ko-KR" sz="2000" dirty="0"/>
              <a:t>topics</a:t>
            </a:r>
            <a:r>
              <a:rPr lang="ko-KR" altLang="en-US" sz="2000" dirty="0"/>
              <a:t>에서 그룹 창에 들어가서 그래프를 확인할 수 있다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표시되는 관계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하위 그룹 포함 관계: 그룹 </a:t>
            </a:r>
            <a:r>
              <a:rPr lang="ko-KR" altLang="ko-KR" sz="2000" dirty="0" err="1"/>
              <a:t>A</a:t>
            </a:r>
            <a:r>
              <a:rPr lang="ko-KR" altLang="ko-KR" sz="2000" dirty="0"/>
              <a:t> 안에 그룹 </a:t>
            </a:r>
            <a:r>
              <a:rPr lang="ko-KR" altLang="ko-KR" sz="2000" dirty="0" err="1"/>
              <a:t>B가</a:t>
            </a:r>
            <a:r>
              <a:rPr lang="ko-KR" altLang="ko-KR" sz="2000" dirty="0"/>
              <a:t> 속해 있는 계층 구조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그룹 간 의존성 관계: 그룹 </a:t>
            </a:r>
            <a:r>
              <a:rPr lang="ko-KR" altLang="ko-KR" sz="2000" dirty="0" err="1"/>
              <a:t>A에</a:t>
            </a:r>
            <a:r>
              <a:rPr lang="ko-KR" altLang="ko-KR" sz="2000" dirty="0"/>
              <a:t> 속한 클래스/함수가 그룹 </a:t>
            </a:r>
            <a:r>
              <a:rPr lang="ko-KR" altLang="ko-KR" sz="2000" dirty="0" err="1"/>
              <a:t>B에</a:t>
            </a:r>
            <a:r>
              <a:rPr lang="ko-KR" altLang="ko-KR" sz="2000" dirty="0"/>
              <a:t> 속한 클래스/함수를 사</a:t>
            </a:r>
            <a:r>
              <a:rPr lang="en-US" altLang="ko-KR" sz="2000" dirty="0"/>
              <a:t>	</a:t>
            </a:r>
            <a:r>
              <a:rPr lang="ko-KR" altLang="ko-KR" sz="2000" dirty="0"/>
              <a:t>용할 때 나타나는 모듈 간 연결</a:t>
            </a:r>
            <a:br>
              <a:rPr lang="en-US" altLang="ko-KR" sz="2000" dirty="0"/>
            </a:br>
            <a:r>
              <a:rPr lang="ko-KR" altLang="en-US" sz="2000" dirty="0"/>
              <a:t>그룹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Doxygen</a:t>
            </a:r>
            <a:r>
              <a:rPr lang="ko-KR" altLang="en-US" sz="2000" dirty="0"/>
              <a:t>에는 관련 있는 코드들을 하나의 모듈</a:t>
            </a:r>
            <a:r>
              <a:rPr lang="en-US" altLang="ko-KR" sz="2000" dirty="0"/>
              <a:t>(</a:t>
            </a:r>
            <a:r>
              <a:rPr lang="ko-KR" altLang="en-US" sz="2000" dirty="0"/>
              <a:t>그룹으로 </a:t>
            </a:r>
            <a:r>
              <a:rPr lang="ko-KR" altLang="ko-KR" sz="2000" dirty="0"/>
              <a:t>묶어서 문서화하는 기능(@defgroup, @ingroup 주석)을 제공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7937783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33303B-236A-CB89-6BA4-EE170376C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FC14A1-6E5B-40B1-D12B-5C0519EBB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  <a:r>
              <a:rPr lang="en-US" altLang="ko-KR" sz="3600" dirty="0"/>
              <a:t> 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60418-2006-0D75-F501-2973A4010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그룹 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Doxygen</a:t>
            </a:r>
            <a:r>
              <a:rPr lang="ko-KR" altLang="en-US" sz="2000" dirty="0"/>
              <a:t>에는 관련 있는 코드들을 하나의 모듈</a:t>
            </a:r>
            <a:r>
              <a:rPr lang="en-US" altLang="ko-KR" sz="2000" dirty="0"/>
              <a:t>(</a:t>
            </a:r>
            <a:r>
              <a:rPr lang="ko-KR" altLang="en-US" sz="2000" dirty="0"/>
              <a:t>그룹으로 </a:t>
            </a:r>
            <a:r>
              <a:rPr lang="ko-KR" altLang="ko-KR" sz="2000" dirty="0"/>
              <a:t>묶어서 문서화하는 기능(@defgroup, @ingroup 주석)을 제공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D49E765F-4FAA-6347-26BF-CA1716EED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8656077"/>
              </p:ext>
            </p:extLst>
          </p:nvPr>
        </p:nvGraphicFramePr>
        <p:xfrm>
          <a:off x="838200" y="2069215"/>
          <a:ext cx="8286750" cy="4571673"/>
        </p:xfrm>
        <a:graphic>
          <a:graphicData uri="http://schemas.openxmlformats.org/drawingml/2006/table">
            <a:tbl>
              <a:tblPr/>
              <a:tblGrid>
                <a:gridCol w="2762250">
                  <a:extLst>
                    <a:ext uri="{9D8B030D-6E8A-4147-A177-3AD203B41FA5}">
                      <a16:colId xmlns:a16="http://schemas.microsoft.com/office/drawing/2014/main" val="3719957925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3332829000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3404938221"/>
                    </a:ext>
                  </a:extLst>
                </a:gridCol>
              </a:tblGrid>
              <a:tr h="283902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 dirty="0">
                          <a:solidFill>
                            <a:srgbClr val="1F1F1F"/>
                          </a:solidFill>
                          <a:effectLst/>
                          <a:latin typeface="Abadi" panose="020F0502020204030204" pitchFamily="34" charset="0"/>
                        </a:rPr>
                        <a:t>명령어</a:t>
                      </a:r>
                      <a:endParaRPr lang="ko-KR" sz="13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 dirty="0">
                          <a:solidFill>
                            <a:srgbClr val="1F1F1F"/>
                          </a:solidFill>
                          <a:effectLst/>
                          <a:latin typeface="Abadi" panose="020F0502020204030204" pitchFamily="34" charset="0"/>
                        </a:rPr>
                        <a:t>설명</a:t>
                      </a:r>
                      <a:endParaRPr lang="ko-KR" sz="13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b="1" dirty="0">
                          <a:solidFill>
                            <a:srgbClr val="1F1F1F"/>
                          </a:solidFill>
                          <a:effectLst/>
                          <a:latin typeface="Abadi" panose="020F0502020204030204" pitchFamily="34" charset="0"/>
                        </a:rPr>
                        <a:t>사용 예시</a:t>
                      </a:r>
                      <a:endParaRPr lang="ko-KR" sz="13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0312734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F0502020204030204" pitchFamily="34" charset="0"/>
                        </a:rPr>
                        <a:t>@defgroup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Abadi" panose="020F0502020204030204" pitchFamily="34" charset="0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F0502020204030204" pitchFamily="34" charset="0"/>
                        </a:rPr>
                        <a:t>&gt;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Abadi" panose="020F0502020204030204" pitchFamily="34" charset="0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F0502020204030204" pitchFamily="34" charset="0"/>
                        </a:rPr>
                        <a:t>&gt;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F050202020403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새로운 그룹(모듈)을 정의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. 고유한 </a:t>
                      </a:r>
                      <a:r>
                        <a:rPr lang="ko-KR" sz="1300" dirty="0" err="1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ID와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 </a:t>
                      </a:r>
                      <a:r>
                        <a:rPr lang="ko-KR" sz="1300" dirty="0" err="1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Doxygen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 문서에 표시될 제목을 지정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/** @defgroup Network "네트워크 모듈"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1248859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@ingroup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&gt; [&lt;id2&gt; ...]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특정 클래스, 함수, 파일 등을 지정한 그룹에 포함시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킨다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. 여러 그룹에 동시 소속도 가능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하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/** @ingroup Network */ 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class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 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Socket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;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5160811"/>
                  </a:ext>
                </a:extLst>
              </a:tr>
              <a:tr h="873543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@addtogroup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&gt; [&lt;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&gt;]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기존 그룹에 요소를 추가합니다. 존재하지 않으면 새로 정의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한다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. 블록</a:t>
                      </a:r>
                      <a:r>
                        <a:rPr lang="ko-KR" sz="8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@{ ... @}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과 조합하여 많이 쓰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인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/** @addtogroup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505952"/>
                  </a:ext>
                </a:extLst>
              </a:tr>
              <a:tr h="676996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@weakgroup 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id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&gt; [&lt;</a:t>
                      </a:r>
                      <a:r>
                        <a:rPr lang="ko-KR" sz="1600" b="0" i="0" dirty="0" err="1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Title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&gt;]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8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@addtogroup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과 동일하지만, 다른 그룹 설정과의 우선순위 경쟁에서 낮은 우선순위를 갖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는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/** @weakgroup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7960281"/>
                  </a:ext>
                </a:extLst>
              </a:tr>
              <a:tr h="1162905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@{</a:t>
                      </a:r>
                      <a:r>
                        <a:rPr lang="ko-KR" sz="1600" b="1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 / </a:t>
                      </a: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@{ ... @}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그룹 지정 범위(블록)의 시작과 끝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이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다. 블록 안의 모든 요소가 해당 그룹에 일괄 소속</a:t>
                      </a:r>
                      <a:r>
                        <a:rPr lang="ko-KR" altLang="en-US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된</a:t>
                      </a:r>
                      <a:r>
                        <a:rPr lang="ko-KR" sz="130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다.</a:t>
                      </a: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/** @addtogroup Network 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/**@{*/ </a:t>
                      </a:r>
                      <a:br>
                        <a:rPr lang="en-US" alt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</a:b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...</a:t>
                      </a:r>
                      <a:br>
                        <a:rPr lang="en-US" alt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</a:br>
                      <a:r>
                        <a:rPr lang="ko-KR" sz="1600" b="0" i="0" dirty="0">
                          <a:solidFill>
                            <a:srgbClr val="1F1F1F"/>
                          </a:solidFill>
                          <a:effectLst/>
                          <a:latin typeface="Abadi" panose="020B0604020104020204" pitchFamily="34" charset="0"/>
                        </a:rPr>
                        <a:t> /**@}*/</a:t>
                      </a:r>
                      <a:endParaRPr lang="ko-KR" sz="1600" dirty="0">
                        <a:solidFill>
                          <a:srgbClr val="1F1F1F"/>
                        </a:solidFill>
                        <a:effectLst/>
                        <a:latin typeface="Abadi" panose="020B0604020104020204" pitchFamily="34" charset="0"/>
                      </a:endParaRPr>
                    </a:p>
                  </a:txBody>
                  <a:tcPr marL="65516" marR="65516" marT="43677" marB="43677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4196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89323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226EA-7AC7-7612-473C-19F7A21EC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F99B54-B2B4-5919-E36A-D2E38B541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221627-97DB-9823-1B1E-467A76424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</a:t>
            </a:r>
            <a:r>
              <a:rPr lang="ko-KR" altLang="en-US" sz="2000" dirty="0"/>
              <a:t>를 사용한 코드 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DE38ABE-A5EA-08F6-538E-3A0A5AB5F5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458" y="2049595"/>
            <a:ext cx="2377646" cy="428281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128CA3E-B464-2B53-7CFC-8C729D2C61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08" y="428095"/>
            <a:ext cx="3161690" cy="376290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5DEA095-D3D3-C9BE-1430-3C6309561F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08" y="4191001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838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BCD12-C876-D21A-C23B-D9F472075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DF6C8-70EC-CEC2-040D-A3A08D8F7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7477C3-3951-5885-5BBB-6E0D4142BB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 </a:t>
            </a:r>
            <a:r>
              <a:rPr lang="ko-KR" altLang="ko-KR" sz="2000" dirty="0"/>
              <a:t>하위 그룹 포함 관계</a:t>
            </a:r>
            <a:r>
              <a:rPr lang="en-US" altLang="ko-KR" sz="2000" dirty="0"/>
              <a:t>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4E3A3B1-4E8F-6BCB-C990-9970AE13C3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49436"/>
            <a:ext cx="10849186" cy="483935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58B5D3B-2785-DAD7-C9A5-AD86800FA4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152" y="0"/>
            <a:ext cx="1766157" cy="318134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C0794C2-B67E-9C37-97AE-4621A7D3C4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10" y="0"/>
            <a:ext cx="3161690" cy="376290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914AE62F-4005-8AE5-F130-73E0A42FD7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09" y="3762906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227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9DF16-DB2F-608F-1222-837C3442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FA3BB1-5E29-AF66-8A0D-EDCD259E7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DE9F88E-B2D0-85B7-5A2D-779CF24388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GROUP_GRAPHS </a:t>
            </a:r>
            <a:r>
              <a:rPr lang="ko-KR" altLang="ko-KR" sz="2000" dirty="0"/>
              <a:t>그룹 간 의존성 관계</a:t>
            </a:r>
            <a:r>
              <a:rPr lang="en-US" altLang="ko-KR" sz="2000" dirty="0"/>
              <a:t>(</a:t>
            </a:r>
            <a:r>
              <a:rPr lang="ko-KR" altLang="en-US" sz="2000" dirty="0"/>
              <a:t>점선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47D99CD-FA0D-4E88-C08B-76300C6EA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881453"/>
            <a:ext cx="10629900" cy="495973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62DEA9A-7184-E45C-FDB4-2C417084D8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152" y="0"/>
            <a:ext cx="1766157" cy="31813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465020D-BBC0-7519-9C72-704F8EDA6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10" y="0"/>
            <a:ext cx="3161690" cy="376290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A961182-F867-3163-EFBE-A282A3C1AB9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309" y="3762906"/>
            <a:ext cx="1658002" cy="2606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4353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9F376-00BC-3326-A5DD-62F8F6297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77E84-BE13-790E-43A6-45E2A67F7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4C6FD1-D93A-5811-AA5A-2191EBDDCD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61047"/>
            <a:ext cx="10744200" cy="5696953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UML: </a:t>
            </a:r>
            <a:r>
              <a:rPr lang="ko-KR" altLang="ko-KR" sz="2000" dirty="0"/>
              <a:t>UML(</a:t>
            </a:r>
            <a:r>
              <a:rPr lang="ko-KR" altLang="ko-KR" sz="2000" dirty="0" err="1"/>
              <a:t>Unified</a:t>
            </a:r>
            <a:r>
              <a:rPr lang="ko-KR" altLang="ko-KR" sz="2000" dirty="0"/>
              <a:t> </a:t>
            </a:r>
            <a:r>
              <a:rPr lang="ko-KR" altLang="ko-KR" sz="2000" dirty="0" err="1"/>
              <a:t>Modeling</a:t>
            </a:r>
            <a:r>
              <a:rPr lang="ko-KR" altLang="ko-KR" sz="2000" dirty="0"/>
              <a:t> </a:t>
            </a:r>
            <a:r>
              <a:rPr lang="ko-KR" altLang="ko-KR" sz="2000" dirty="0" err="1"/>
              <a:t>Language</a:t>
            </a:r>
            <a:r>
              <a:rPr lang="ko-KR" altLang="ko-KR" sz="2000" dirty="0"/>
              <a:t>, 통합 모델링 언어)은 객체 지향 소프트웨어 시스템의 구조와 행위를 시각화, 명세화, 구축, 문서화하기 위해 만들어진 </a:t>
            </a:r>
            <a:r>
              <a:rPr lang="ko-KR" altLang="ko-KR" sz="2000" b="1" dirty="0"/>
              <a:t>국제 표준 모델링 </a:t>
            </a:r>
            <a:br>
              <a:rPr lang="en-US" altLang="ko-KR" sz="2000" b="1" dirty="0"/>
            </a:br>
            <a:r>
              <a:rPr lang="ko-KR" altLang="ko-KR" sz="2000" b="1" dirty="0"/>
              <a:t>언어</a:t>
            </a:r>
            <a:r>
              <a:rPr lang="ko-KR" altLang="en-US" sz="2000" dirty="0"/>
              <a:t>이다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소프트웨어 개발이 복잡해지면서 개발자, 기획자, </a:t>
            </a:r>
            <a:r>
              <a:rPr lang="ko-KR" altLang="ko-KR" sz="2000" dirty="0" err="1"/>
              <a:t>아키텍트</a:t>
            </a:r>
            <a:r>
              <a:rPr lang="ko-KR" altLang="ko-KR" sz="2000" dirty="0"/>
              <a:t> 간의 의사소통 오류를 줄이기 위해 OMG(</a:t>
            </a:r>
            <a:r>
              <a:rPr lang="ko-KR" altLang="ko-KR" sz="2000" dirty="0" err="1"/>
              <a:t>Object</a:t>
            </a:r>
            <a:r>
              <a:rPr lang="ko-KR" altLang="ko-KR" sz="2000" dirty="0"/>
              <a:t> Management Group)에서 </a:t>
            </a:r>
            <a:r>
              <a:rPr lang="ko-KR" altLang="ko-KR" sz="2000" dirty="0" err="1"/>
              <a:t>표준화</a:t>
            </a:r>
            <a:r>
              <a:rPr lang="ko-KR" altLang="en-US" sz="2000" dirty="0" err="1"/>
              <a:t>했다</a:t>
            </a:r>
            <a:r>
              <a:rPr lang="ko-KR" altLang="ko-KR" sz="2000" dirty="0"/>
              <a:t>. 단순한 그림이 아니라, 코드로 구현될 소프트웨어의 설계도 역할을 수행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표준화된 문법</a:t>
            </a:r>
            <a:r>
              <a:rPr lang="en-US" altLang="ko-KR" sz="2000" dirty="0"/>
              <a:t>(</a:t>
            </a:r>
            <a:r>
              <a:rPr lang="ko-KR" altLang="en-US" sz="2000" dirty="0"/>
              <a:t>코드가 아닌 시각적 도형 및 기호에 따른 문법</a:t>
            </a:r>
            <a:r>
              <a:rPr lang="en-US" altLang="ko-KR" sz="2000" dirty="0"/>
              <a:t>)</a:t>
            </a:r>
            <a:r>
              <a:rPr lang="ko-KR" altLang="en-US" sz="2000" dirty="0"/>
              <a:t>에 따라 </a:t>
            </a:r>
            <a:r>
              <a:rPr lang="ko-KR" altLang="ko-KR" sz="2000" dirty="0"/>
              <a:t>클래스, 객체, 속성, 메서드, 그리고 이들 간의 관계(상속, 의존, 포함 등)를 표현하는 약속된 기호와 화살표를 사용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시스템의 </a:t>
            </a:r>
            <a:r>
              <a:rPr lang="ko-KR" altLang="en-US" sz="2000" dirty="0"/>
              <a:t>정적인</a:t>
            </a:r>
            <a:r>
              <a:rPr lang="ko-KR" altLang="ko-KR" sz="2000" dirty="0"/>
              <a:t> 형태를 보여주는 구조 다이어그램(</a:t>
            </a:r>
            <a:r>
              <a:rPr lang="ko-KR" altLang="ko-KR" sz="2000" dirty="0" err="1"/>
              <a:t>Structure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</a:t>
            </a:r>
            <a:r>
              <a:rPr lang="ko-KR" altLang="ko-KR" sz="2000" dirty="0"/>
              <a:t>)과 </a:t>
            </a:r>
            <a:r>
              <a:rPr lang="ko-KR" altLang="en-US" sz="2000" dirty="0"/>
              <a:t>동적인</a:t>
            </a:r>
            <a:r>
              <a:rPr lang="ko-KR" altLang="ko-KR" sz="2000" dirty="0"/>
              <a:t> 흐름을 보여주는 행위 다이어그램(</a:t>
            </a:r>
            <a:r>
              <a:rPr lang="ko-KR" altLang="ko-KR" sz="2000" dirty="0" err="1"/>
              <a:t>Behavior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Diagram</a:t>
            </a:r>
            <a:r>
              <a:rPr lang="ko-KR" altLang="ko-KR" sz="2000" dirty="0"/>
              <a:t>)</a:t>
            </a:r>
            <a:r>
              <a:rPr lang="ko-KR" altLang="ko-KR" sz="2000" dirty="0" err="1"/>
              <a:t>으로</a:t>
            </a:r>
            <a:r>
              <a:rPr lang="ko-KR" altLang="ko-KR" sz="2000" dirty="0"/>
              <a:t> 나눠 표현</a:t>
            </a:r>
            <a:r>
              <a:rPr lang="ko-KR" altLang="en-US" sz="2000" dirty="0"/>
              <a:t>한다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화살표 머리 모양, 선의 종류마다 </a:t>
            </a:r>
            <a:r>
              <a:rPr lang="ko-KR" altLang="ko-KR" sz="2000" b="1" dirty="0"/>
              <a:t>정확한 객체지향 의미</a:t>
            </a:r>
            <a:r>
              <a:rPr lang="ko-KR" altLang="ko-KR" sz="2000" dirty="0"/>
              <a:t> 존재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ko-KR" sz="2000" dirty="0"/>
              <a:t>객체 간 관계, 상태 변화, 시스템 배치, 사용자 상호작용 등</a:t>
            </a:r>
            <a:r>
              <a:rPr lang="ko-KR" altLang="en-US" sz="2000" dirty="0"/>
              <a:t>을</a:t>
            </a:r>
            <a:r>
              <a:rPr lang="ko-KR" altLang="ko-KR" sz="2000" dirty="0"/>
              <a:t> 다각도</a:t>
            </a:r>
            <a:r>
              <a:rPr lang="ko-KR" altLang="en-US" sz="2000" dirty="0"/>
              <a:t>로 표현함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국제 표준이기에 </a:t>
            </a:r>
            <a:r>
              <a:rPr lang="ko-KR" altLang="ko-KR" sz="2000" dirty="0">
                <a:latin typeface="Abadi" panose="020B0604020104020204" pitchFamily="34" charset="0"/>
              </a:rPr>
              <a:t>UML 규칙을 아는 개발자라면 </a:t>
            </a:r>
            <a:r>
              <a:rPr lang="ko-KR" altLang="ko-KR" sz="2000" b="1" dirty="0">
                <a:latin typeface="Abadi" panose="020B0604020104020204" pitchFamily="34" charset="0"/>
              </a:rPr>
              <a:t>설명 없이도 설계 의도 파악 가능</a:t>
            </a:r>
            <a:endParaRPr lang="en-US" altLang="ko-KR" sz="2000" b="1" dirty="0"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</a:pPr>
            <a:r>
              <a:rPr lang="ko-KR" altLang="ko-KR" sz="2000" dirty="0" err="1"/>
              <a:t>Doxygen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StarUML</a:t>
            </a:r>
            <a:r>
              <a:rPr lang="ko-KR" altLang="ko-KR" sz="2000" dirty="0"/>
              <a:t> 등을 통한 </a:t>
            </a:r>
            <a:r>
              <a:rPr lang="ko-KR" altLang="ko-KR" sz="2000" b="1" dirty="0"/>
              <a:t>자동 코드 생성 및 </a:t>
            </a:r>
            <a:r>
              <a:rPr lang="ko-KR" altLang="ko-KR" sz="2000" b="1" dirty="0" err="1"/>
              <a:t>역공학</a:t>
            </a:r>
            <a:r>
              <a:rPr lang="ko-KR" altLang="ko-KR" sz="2000" b="1" dirty="0"/>
              <a:t>(</a:t>
            </a:r>
            <a:r>
              <a:rPr lang="ko-KR" altLang="ko-KR" sz="2000" b="1" dirty="0" err="1"/>
              <a:t>Reverse</a:t>
            </a:r>
            <a:r>
              <a:rPr lang="ko-KR" altLang="ko-KR" sz="2000" b="1" dirty="0"/>
              <a:t> Engineering)</a:t>
            </a:r>
            <a:r>
              <a:rPr lang="en-US" altLang="ko-KR" sz="2000" b="1" dirty="0"/>
              <a:t>(</a:t>
            </a:r>
            <a:r>
              <a:rPr lang="ko-KR" altLang="en-US" sz="2000" b="1" dirty="0"/>
              <a:t>소스 코드를 분석해 다이어그램을 만드는 것</a:t>
            </a:r>
            <a:r>
              <a:rPr lang="en-US" altLang="ko-KR" sz="2000" b="1" dirty="0"/>
              <a:t>)</a:t>
            </a:r>
            <a:r>
              <a:rPr lang="ko-KR" altLang="ko-KR" sz="2000" dirty="0"/>
              <a:t> 가능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62705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6BE48-A470-63F4-E9A0-451C4C50B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20320-2B04-8DE8-66DF-52CDFB900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61FB61-3DEC-C050-5C82-7163DF4FC1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200" dirty="0"/>
              <a:t>UML_LOOK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YES/NO (</a:t>
            </a:r>
            <a:r>
              <a:rPr lang="ko-KR" altLang="en-US" sz="2200" dirty="0"/>
              <a:t>기본값 </a:t>
            </a:r>
            <a:r>
              <a:rPr lang="en-US" altLang="ko-KR" sz="2200" dirty="0"/>
              <a:t>: NO)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 </a:t>
            </a:r>
            <a:r>
              <a:rPr lang="ko-KR" altLang="ko-KR" sz="2200" dirty="0" err="1"/>
              <a:t>YES로</a:t>
            </a:r>
            <a:r>
              <a:rPr lang="ko-KR" altLang="ko-KR" sz="2200" dirty="0"/>
              <a:t> 설정하면 상속 및 협력 다이어그램을 </a:t>
            </a:r>
            <a:r>
              <a:rPr lang="ko-KR" altLang="ko-KR" sz="2200" dirty="0" err="1"/>
              <a:t>OMG의</a:t>
            </a:r>
            <a:r>
              <a:rPr lang="ko-KR" altLang="ko-KR" sz="2200" dirty="0"/>
              <a:t> UML(</a:t>
            </a:r>
            <a:r>
              <a:rPr lang="ko-KR" altLang="ko-KR" sz="2200" dirty="0" err="1"/>
              <a:t>Unified</a:t>
            </a:r>
            <a:r>
              <a:rPr lang="ko-KR" altLang="ko-KR" sz="2200" dirty="0"/>
              <a:t> </a:t>
            </a:r>
            <a:r>
              <a:rPr lang="ko-KR" altLang="ko-KR" sz="2200" dirty="0" err="1"/>
              <a:t>Modeling</a:t>
            </a:r>
            <a:r>
              <a:rPr lang="ko-KR" altLang="ko-KR" sz="2200" dirty="0"/>
              <a:t> </a:t>
            </a:r>
            <a:r>
              <a:rPr lang="ko-KR" altLang="ko-KR" sz="2200" dirty="0" err="1"/>
              <a:t>Language</a:t>
            </a:r>
            <a:r>
              <a:rPr lang="ko-KR" altLang="ko-KR" sz="2200" dirty="0"/>
              <a:t>) 스타일과 유사하게 생성</a:t>
            </a:r>
            <a:r>
              <a:rPr lang="ko-KR" altLang="en-US" sz="2200" dirty="0"/>
              <a:t>한</a:t>
            </a:r>
            <a:r>
              <a:rPr lang="ko-KR" altLang="ko-KR" sz="2200" dirty="0"/>
              <a:t>다.</a:t>
            </a:r>
            <a:br>
              <a:rPr lang="en-US" altLang="ko-KR" sz="2200" dirty="0"/>
            </a:br>
            <a:r>
              <a:rPr lang="ko-KR" altLang="en-US" sz="2200" dirty="0"/>
              <a:t>부연 설명</a:t>
            </a:r>
            <a:r>
              <a:rPr lang="en-US" altLang="ko-KR" sz="2200" dirty="0"/>
              <a:t> : </a:t>
            </a:r>
            <a:r>
              <a:rPr lang="en-US" altLang="ko-KR" sz="2200" b="1" dirty="0"/>
              <a:t>UML</a:t>
            </a:r>
            <a:r>
              <a:rPr lang="ko-KR" altLang="en-US" sz="2200" b="1" dirty="0"/>
              <a:t> 표준에 따른 다이어그램을 생성한다</a:t>
            </a:r>
            <a:r>
              <a:rPr lang="en-US" altLang="ko-KR" sz="2200" b="1" dirty="0"/>
              <a:t>. </a:t>
            </a:r>
            <a:r>
              <a:rPr lang="ko-KR" altLang="en-US" sz="2200" dirty="0"/>
              <a:t>기존 그래프에 비해 많은 정</a:t>
            </a:r>
            <a:r>
              <a:rPr lang="en-US" altLang="ko-KR" sz="2200" dirty="0"/>
              <a:t>	       </a:t>
            </a:r>
            <a:r>
              <a:rPr lang="ko-KR" altLang="en-US" sz="2200" dirty="0"/>
              <a:t>보가 들어 있다</a:t>
            </a:r>
            <a:r>
              <a:rPr lang="en-US" altLang="ko-KR" sz="2200" dirty="0"/>
              <a:t>.</a:t>
            </a:r>
            <a:endParaRPr lang="en-US" altLang="ko-KR" sz="2200" b="1" dirty="0"/>
          </a:p>
          <a:p>
            <a:pPr>
              <a:lnSpc>
                <a:spcPct val="100000"/>
              </a:lnSpc>
            </a:pPr>
            <a:r>
              <a:rPr lang="en-US" altLang="ko-KR" sz="2200" dirty="0"/>
              <a:t>UML_LIMIT_NUM_FIELDS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</a:t>
            </a:r>
            <a:r>
              <a:rPr lang="ko-KR" altLang="ko-KR" sz="2200" dirty="0"/>
              <a:t>최솟값: 0, 최댓값: 100, 기본값: 10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 </a:t>
            </a:r>
            <a:r>
              <a:rPr lang="ko-KR" altLang="ko-KR" sz="2200" dirty="0" err="1"/>
              <a:t>UML_LOOK이</a:t>
            </a:r>
            <a:r>
              <a:rPr lang="ko-KR" altLang="ko-KR" sz="2200" dirty="0"/>
              <a:t> 활성화된 경우 노드 내부에 표시되는 필드 및 메서드 수의 제한을 설정</a:t>
            </a:r>
            <a:r>
              <a:rPr lang="ko-KR" altLang="en-US" sz="2200" dirty="0"/>
              <a:t>한다</a:t>
            </a:r>
            <a:r>
              <a:rPr lang="ko-KR" altLang="ko-KR" sz="2200" dirty="0"/>
              <a:t>. 0으로 설정하면 제한이 없다. (단, </a:t>
            </a:r>
            <a:r>
              <a:rPr lang="ko-KR" altLang="ko-KR" sz="2200" dirty="0" err="1"/>
              <a:t>설정값의</a:t>
            </a:r>
            <a:r>
              <a:rPr lang="ko-KR" altLang="ko-KR" sz="2200" dirty="0"/>
              <a:t> 50%까지 초과 허용 후 제한이 적용</a:t>
            </a:r>
            <a:r>
              <a:rPr lang="ko-KR" altLang="en-US" sz="2200" dirty="0"/>
              <a:t>된</a:t>
            </a:r>
            <a:r>
              <a:rPr lang="ko-KR" altLang="ko-KR" sz="2200" dirty="0"/>
              <a:t>다. 예: 10으로 설정 시 15개까지는 표시되나 15개를 넘어가면 10개로 제한)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35769232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FD292-CB43-A793-EFE9-D83E851B7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63B3AB-3743-8FE7-548B-AC58210CD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0686EDC-42C3-4B0E-A778-DD5B3E3CF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UML_MAX_EDGE_LABELS</a:t>
            </a:r>
            <a:br>
              <a:rPr lang="en-US" altLang="ko-KR" sz="2200" dirty="0"/>
            </a:br>
            <a:r>
              <a:rPr lang="ko-KR" altLang="en-US" sz="2200" dirty="0" err="1"/>
              <a:t>설정값</a:t>
            </a:r>
            <a:r>
              <a:rPr lang="ko-KR" altLang="en-US" sz="2200" dirty="0"/>
              <a:t> </a:t>
            </a:r>
            <a:r>
              <a:rPr lang="en-US" altLang="ko-KR" sz="2200" dirty="0"/>
              <a:t>: </a:t>
            </a:r>
            <a:r>
              <a:rPr lang="ko-KR" altLang="ko-KR" sz="2200" dirty="0"/>
              <a:t>최솟값: 0, 최댓값: 100, 기본값: 10</a:t>
            </a:r>
            <a:br>
              <a:rPr lang="en-US" altLang="ko-KR" sz="2200" dirty="0"/>
            </a:br>
            <a:r>
              <a:rPr lang="ko-KR" altLang="en-US" sz="2200" dirty="0"/>
              <a:t>필수 조건 </a:t>
            </a:r>
            <a:r>
              <a:rPr lang="en-US" altLang="ko-KR" sz="2200" dirty="0"/>
              <a:t>:</a:t>
            </a:r>
            <a:r>
              <a:rPr lang="ko-KR" altLang="en-US" sz="2200" dirty="0"/>
              <a:t> </a:t>
            </a:r>
            <a:r>
              <a:rPr lang="ko-KR" altLang="ko-KR" sz="2200" dirty="0"/>
              <a:t>HAVE_DOT = YES</a:t>
            </a:r>
            <a:br>
              <a:rPr lang="en-US" altLang="ko-KR" sz="2200" dirty="0"/>
            </a:br>
            <a:r>
              <a:rPr lang="ko-KR" altLang="en-US" sz="2200" dirty="0"/>
              <a:t>공식 매뉴얼 </a:t>
            </a:r>
            <a:r>
              <a:rPr lang="en-US" altLang="ko-KR" sz="2200" dirty="0"/>
              <a:t>:</a:t>
            </a:r>
            <a:r>
              <a:rPr lang="ko-KR" altLang="ko-KR" sz="2200" dirty="0"/>
              <a:t> </a:t>
            </a:r>
            <a:r>
              <a:rPr lang="ko-KR" altLang="ko-KR" sz="2200" dirty="0" err="1"/>
              <a:t>UML_LOOK이</a:t>
            </a:r>
            <a:r>
              <a:rPr lang="ko-KR" altLang="ko-KR" sz="2200" dirty="0"/>
              <a:t> 활성화된 경우 두 노드 사이의 연결선(</a:t>
            </a:r>
            <a:r>
              <a:rPr lang="ko-KR" altLang="ko-KR" sz="2200" dirty="0" err="1"/>
              <a:t>엣지</a:t>
            </a:r>
            <a:r>
              <a:rPr lang="ko-KR" altLang="ko-KR" sz="2200" dirty="0"/>
              <a:t>)에 표시되는 필드 레이블 수의 제한을 설정</a:t>
            </a:r>
            <a:r>
              <a:rPr lang="ko-KR" altLang="en-US" sz="2200" dirty="0"/>
              <a:t>한다</a:t>
            </a:r>
            <a:r>
              <a:rPr lang="ko-KR" altLang="ko-KR" sz="2200" dirty="0"/>
              <a:t>. 0으로 설정하면 제한이 없다.</a:t>
            </a:r>
            <a:endParaRPr lang="en-US" altLang="ko-KR" sz="2200" dirty="0"/>
          </a:p>
          <a:p>
            <a:r>
              <a:rPr lang="en-US" altLang="ko-KR" sz="2000" dirty="0"/>
              <a:t>DOT_UML_DETAILS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YES/NO/NONE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UML 그래프의 세부 정보 표시 방식을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1800" dirty="0"/>
              <a:t>NO: 타입과 매개변수 없이 속성과 메서드 이름만 표시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YES: 속성과 메서드에 타입과 매개변수를 포함하여 표시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pPr lvl="1"/>
            <a:r>
              <a:rPr lang="ko-KR" altLang="ko-KR" sz="1800" dirty="0"/>
              <a:t>NONE: 멤버 정보 필드를 생성하지 않고 관계 표현에만 UML 표기법을 사용</a:t>
            </a:r>
            <a:r>
              <a:rPr lang="ko-KR" altLang="en-US" sz="1800" dirty="0"/>
              <a:t>한</a:t>
            </a:r>
            <a:r>
              <a:rPr lang="ko-KR" altLang="ko-KR" sz="1800" dirty="0"/>
              <a:t>다.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9938052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B164D-23F2-B5AC-E664-00A73C3CA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794157-FD43-9129-A6E1-D2069F1F1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UML </a:t>
            </a:r>
            <a:r>
              <a:rPr lang="ko-KR" altLang="en-US" sz="3600" dirty="0"/>
              <a:t>설정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71898E7-112F-8CB8-3BDD-3316C87BF5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99641"/>
            <a:ext cx="5823284" cy="395835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2829FAA-1D8B-3702-5C3F-A757A7C249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415" y="1500955"/>
            <a:ext cx="6676585" cy="5357045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661437C-F6A8-062B-53A2-711357700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200" dirty="0"/>
              <a:t>UML </a:t>
            </a:r>
            <a:r>
              <a:rPr lang="ko-KR" altLang="en-US" sz="2200" dirty="0"/>
              <a:t>사용한 다이어그램 예시</a:t>
            </a:r>
            <a:endParaRPr lang="en-US" altLang="ko-KR" sz="2200" dirty="0"/>
          </a:p>
          <a:p>
            <a:r>
              <a:rPr lang="en-US" altLang="ko-KR" sz="1600" dirty="0"/>
              <a:t>UML_LOOK = YES</a:t>
            </a:r>
          </a:p>
          <a:p>
            <a:r>
              <a:rPr lang="en-US" altLang="ko-KR" sz="1600" dirty="0"/>
              <a:t>UML_LIMIT_NUM_FIELDS , UML_MAX_EDGE_LABELS = </a:t>
            </a:r>
            <a:r>
              <a:rPr lang="ko-KR" altLang="ko-KR" sz="1600" dirty="0"/>
              <a:t>10</a:t>
            </a:r>
            <a:endParaRPr lang="en-US" altLang="ko-KR" sz="1600" dirty="0"/>
          </a:p>
          <a:p>
            <a:r>
              <a:rPr lang="en-US" altLang="ko-KR" sz="1600" dirty="0"/>
              <a:t>DOT_UML_DETAILS = YES</a:t>
            </a:r>
          </a:p>
        </p:txBody>
      </p:sp>
    </p:spTree>
    <p:extLst>
      <p:ext uri="{BB962C8B-B14F-4D97-AF65-F5344CB8AC3E}">
        <p14:creationId xmlns:p14="http://schemas.microsoft.com/office/powerpoint/2010/main" val="20764113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0F780-76E4-ADEC-296F-9978B1928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9658F-8486-CD26-A324-E3CCEE80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 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2EB5B4-CFBA-3719-37A1-0AE9F4958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DOT_WRAP_THRESHOLD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1000, 기본값: 17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한 줄에 표시할 최대 문자 수를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실제 줄 길이가 이 값보다 크게 길어지면 여러 줄로 자동 </a:t>
            </a:r>
            <a:r>
              <a:rPr lang="ko-KR" altLang="ko-KR" sz="2000" dirty="0" err="1"/>
              <a:t>줄바꿈</a:t>
            </a:r>
            <a:r>
              <a:rPr lang="ko-KR" altLang="en-US" sz="2000" dirty="0" err="1"/>
              <a:t>된</a:t>
            </a:r>
            <a:r>
              <a:rPr lang="ko-KR" altLang="ko-KR" sz="2000" dirty="0" err="1"/>
              <a:t>다</a:t>
            </a:r>
            <a:r>
              <a:rPr lang="ko-KR" altLang="ko-KR" sz="2000" dirty="0"/>
              <a:t>.</a:t>
            </a:r>
            <a:endParaRPr lang="en-US" altLang="ko-KR" sz="2000" dirty="0"/>
          </a:p>
          <a:p>
            <a:r>
              <a:rPr lang="en-US" altLang="ko-KR" sz="2000" dirty="0"/>
              <a:t>TEMPLATE_RELATIONS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상속 및 협력 그래프에 템플릿과 템플릿 인스턴스 간의 관계를 표시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1110894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EAB72C-A75E-B11F-1FFA-91A84704B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A26E1-7B29-B9BD-1FA5-94B451677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 </a:t>
            </a:r>
            <a:r>
              <a:rPr lang="en-US" altLang="ko-KR" sz="3600" dirty="0"/>
              <a:t>1</a:t>
            </a:r>
            <a:endParaRPr lang="ko-KR" altLang="en-US" sz="3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0259C15-81A2-22E9-5E48-48D4274BC5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042" y="1006929"/>
            <a:ext cx="7603958" cy="5851071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7E8630-AB0A-ABFB-7917-8B803014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TEMPLATE_RELATIONS = YES </a:t>
            </a:r>
            <a:r>
              <a:rPr lang="ko-KR" altLang="en-US" sz="2000" dirty="0"/>
              <a:t>예시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6932578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CCAC-2573-53AF-19E3-273CBE51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50D666-BFDB-63F8-78D4-07FEF70EF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include,</a:t>
            </a:r>
            <a:r>
              <a:rPr lang="ko-KR" altLang="en-US" sz="3600" dirty="0"/>
              <a:t> </a:t>
            </a:r>
            <a:r>
              <a:rPr lang="en-US" altLang="ko-KR" sz="3600" dirty="0"/>
              <a:t>included</a:t>
            </a:r>
            <a:r>
              <a:rPr lang="ko-KR" altLang="en-US" sz="3600" dirty="0"/>
              <a:t> 그래프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D76132-0294-5AB3-99CE-4E07DB315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INCLUDE_GRAPH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INCLUDE_GRAPH, ENABLE_PREPROCESSING, </a:t>
            </a:r>
            <a:r>
              <a:rPr lang="ko-KR" altLang="ko-KR" sz="2000" dirty="0" err="1"/>
              <a:t>SEARCH_INCLUDES가</a:t>
            </a:r>
            <a:r>
              <a:rPr lang="ko-KR" altLang="ko-KR" sz="2000" dirty="0"/>
              <a:t> 모두 </a:t>
            </a:r>
            <a:r>
              <a:rPr lang="ko-KR" altLang="ko-KR" sz="2000" dirty="0" err="1"/>
              <a:t>YES일</a:t>
            </a:r>
            <a:r>
              <a:rPr lang="ko-KR" altLang="ko-KR" sz="2000" dirty="0"/>
              <a:t> 때 파일 간의 직접/간접 #include 의존성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includegraph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hideincludegraph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INCLUDED_BY_GRAPH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INCLUDED_BY_GRAPH, ENABLE_PREPROCESSING, </a:t>
            </a:r>
            <a:r>
              <a:rPr lang="ko-KR" altLang="ko-KR" sz="2000" dirty="0" err="1"/>
              <a:t>SEARCH_INCLUDES가</a:t>
            </a:r>
            <a:r>
              <a:rPr lang="ko-KR" altLang="ko-KR" sz="2000" dirty="0"/>
              <a:t> 모두 </a:t>
            </a:r>
            <a:r>
              <a:rPr lang="ko-KR" altLang="ko-KR" sz="2000" dirty="0" err="1"/>
              <a:t>YES일</a:t>
            </a:r>
            <a:r>
              <a:rPr lang="ko-KR" altLang="ko-KR" sz="2000" dirty="0"/>
              <a:t> 때 해당 파일을 </a:t>
            </a:r>
            <a:r>
              <a:rPr lang="ko-KR" altLang="ko-KR" sz="2000" dirty="0" err="1"/>
              <a:t>include하는</a:t>
            </a:r>
            <a:r>
              <a:rPr lang="ko-KR" altLang="ko-KR" sz="2000" dirty="0"/>
              <a:t> 다른 파일들의 의존성 그래프를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\</a:t>
            </a:r>
            <a:r>
              <a:rPr lang="ko-KR" altLang="ko-KR" sz="2000" dirty="0" err="1"/>
              <a:t>includedbygraph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hideincludedbygraph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각각 </a:t>
            </a:r>
            <a:r>
              <a:rPr lang="en-US" altLang="ko-KR" sz="2000" b="1" dirty="0"/>
              <a:t>include </a:t>
            </a:r>
            <a:r>
              <a:rPr lang="ko-KR" altLang="en-US" sz="2000" b="1" dirty="0"/>
              <a:t>한 파일과 현재 파일을 </a:t>
            </a:r>
            <a:r>
              <a:rPr lang="en-US" altLang="ko-KR" sz="2000" b="1" dirty="0"/>
              <a:t>include</a:t>
            </a:r>
            <a:r>
              <a:rPr lang="ko-KR" altLang="en-US" sz="2000" b="1" dirty="0"/>
              <a:t>한 파일에 대한 그래프를 제공한다</a:t>
            </a:r>
            <a:r>
              <a:rPr lang="en-US" altLang="ko-KR" sz="2000" b="1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파일들 </a:t>
            </a:r>
            <a:r>
              <a:rPr lang="en-US" altLang="ko-KR" sz="2000" dirty="0"/>
              <a:t>-&gt; </a:t>
            </a:r>
            <a:r>
              <a:rPr lang="ko-KR" altLang="en-US" sz="2000" dirty="0"/>
              <a:t>파일 페이지 상단에서 확인 가능하다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7328505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9C30-F951-FEAE-7DFA-753F7FC1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362657-27B9-4A2B-49A7-F623074D8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include,</a:t>
            </a:r>
            <a:r>
              <a:rPr lang="ko-KR" altLang="en-US" sz="3600" dirty="0"/>
              <a:t> </a:t>
            </a:r>
            <a:r>
              <a:rPr lang="en-US" altLang="ko-KR" sz="3600" dirty="0"/>
              <a:t>included</a:t>
            </a:r>
            <a:r>
              <a:rPr lang="ko-KR" altLang="en-US" sz="3600" dirty="0"/>
              <a:t> 그래프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698FF3-8C07-394B-10C3-8DB0631BD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INCLUDE_GRAPH(</a:t>
            </a:r>
            <a:r>
              <a:rPr lang="ko-KR" altLang="en-US" sz="2000" dirty="0"/>
              <a:t>위</a:t>
            </a:r>
            <a:r>
              <a:rPr lang="en-US" altLang="ko-KR" sz="2000" dirty="0"/>
              <a:t>), INCLUDED_BY_GRAPH(</a:t>
            </a:r>
            <a:r>
              <a:rPr lang="ko-KR" altLang="en-US" sz="2000" dirty="0"/>
              <a:t>아래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D8E17F7-BE17-B979-9A2C-874BD53B2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11" y="1909384"/>
            <a:ext cx="8261684" cy="453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83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095AC-7E57-43DD-8338-10D59FBEE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9747E6-4763-4925-747F-75302CCA1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call, caller </a:t>
            </a:r>
            <a:r>
              <a:rPr lang="ko-KR" altLang="en-US" sz="3600" dirty="0"/>
              <a:t>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3388C9-6F41-1B32-7A00-D32EEFBD64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CALL_GRAPH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전역 함수 또는 클래스 메서드의 호출 그래프(</a:t>
            </a:r>
            <a:r>
              <a:rPr lang="ko-KR" altLang="ko-KR" sz="2000" dirty="0" err="1"/>
              <a:t>Call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</a:t>
            </a:r>
            <a:r>
              <a:rPr lang="ko-KR" altLang="ko-KR" sz="2000" dirty="0"/>
              <a:t>)를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주의: </a:t>
            </a:r>
            <a:r>
              <a:rPr lang="ko-KR" altLang="ko-KR" sz="2000" b="1" dirty="0"/>
              <a:t>실행 시간이 크게 늘어날 수 있으므로 필요한 함수에만 \</a:t>
            </a:r>
            <a:r>
              <a:rPr lang="ko-KR" altLang="ko-KR" sz="2000" b="1" dirty="0" err="1"/>
              <a:t>callgraph</a:t>
            </a:r>
            <a:r>
              <a:rPr lang="ko-KR" altLang="ko-KR" sz="2000" b="1" dirty="0"/>
              <a:t> 명령어를 사용하는 것을 권장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비활성화는 \</a:t>
            </a:r>
            <a:r>
              <a:rPr lang="ko-KR" altLang="ko-KR" sz="2000" dirty="0" err="1"/>
              <a:t>hidecallgraph를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en-US" altLang="ko-KR" sz="2000" dirty="0"/>
              <a:t>CALLER_GRAPH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전역 함수 또는 클래스 메서드의 피호출자 그래프(</a:t>
            </a:r>
            <a:r>
              <a:rPr lang="ko-KR" altLang="ko-KR" sz="2000" dirty="0" err="1"/>
              <a:t>Caller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Graph</a:t>
            </a:r>
            <a:r>
              <a:rPr lang="ko-KR" altLang="ko-KR" sz="2000" dirty="0"/>
              <a:t>)를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주의: </a:t>
            </a:r>
            <a:r>
              <a:rPr lang="ko-KR" altLang="ko-KR" sz="2000" b="1" dirty="0"/>
              <a:t>실행 시간이 크게 늘어날 수 있으므로 필요한 함수에만 \</a:t>
            </a:r>
            <a:r>
              <a:rPr lang="ko-KR" altLang="ko-KR" sz="2000" b="1" dirty="0" err="1"/>
              <a:t>callergraph</a:t>
            </a:r>
            <a:r>
              <a:rPr lang="ko-KR" altLang="ko-KR" sz="2000" b="1" dirty="0"/>
              <a:t> 명령어를 사용하는 것을 권장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비활성화는 \</a:t>
            </a:r>
            <a:r>
              <a:rPr lang="ko-KR" altLang="ko-KR" sz="2000" dirty="0" err="1"/>
              <a:t>hidecallergraph를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pPr>
              <a:lnSpc>
                <a:spcPct val="100000"/>
              </a:lnSpc>
            </a:pP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b="1" dirty="0"/>
              <a:t>특정 함수가 내부에서 호출하는 함수에 대한 그래프</a:t>
            </a:r>
            <a:r>
              <a:rPr lang="ko-KR" altLang="en-US" sz="2000" dirty="0"/>
              <a:t>를 만드는 옵션이 </a:t>
            </a:r>
            <a:r>
              <a:rPr lang="en-US" altLang="ko-KR" sz="2000" dirty="0"/>
              <a:t>		       	       CALL_GRAPH</a:t>
            </a:r>
            <a:r>
              <a:rPr lang="ko-KR" altLang="en-US" sz="2000" dirty="0"/>
              <a:t>이고</a:t>
            </a:r>
            <a:r>
              <a:rPr lang="en-US" altLang="ko-KR" sz="2000" dirty="0"/>
              <a:t>, </a:t>
            </a:r>
            <a:r>
              <a:rPr lang="ko-KR" altLang="en-US" sz="2000" b="1" dirty="0"/>
              <a:t>특정 함수가 어디에서 호출되었는지 나타내는 그래프</a:t>
            </a:r>
            <a:r>
              <a:rPr lang="ko-KR" altLang="en-US" sz="2000" dirty="0"/>
              <a:t>를 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만드는 옵션이 </a:t>
            </a:r>
            <a:r>
              <a:rPr lang="en-US" altLang="ko-KR" sz="2000" dirty="0"/>
              <a:t>CALLER_GRAPH</a:t>
            </a:r>
            <a:r>
              <a:rPr lang="ko-KR" altLang="en-US" sz="2000" dirty="0"/>
              <a:t>이다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각 클래스 파일 내부에 있는 멤버 함수 문서화 부분</a:t>
            </a:r>
            <a:r>
              <a:rPr lang="en-US" altLang="ko-KR" sz="2000" dirty="0"/>
              <a:t>(</a:t>
            </a:r>
            <a:r>
              <a:rPr lang="ko-KR" altLang="en-US" sz="2000" dirty="0"/>
              <a:t>목차에서 확인</a:t>
            </a:r>
            <a:r>
              <a:rPr lang="en-US" altLang="ko-KR" sz="2000" dirty="0"/>
              <a:t>)</a:t>
            </a:r>
            <a:r>
              <a:rPr lang="ko-KR" altLang="en-US" sz="2000" dirty="0"/>
              <a:t>에서 확인 </a:t>
            </a:r>
            <a:br>
              <a:rPr lang="en-US" altLang="ko-KR" sz="2000" dirty="0"/>
            </a:br>
            <a:r>
              <a:rPr lang="en-US" altLang="ko-KR" sz="2000" dirty="0"/>
              <a:t>	       </a:t>
            </a:r>
            <a:r>
              <a:rPr lang="ko-KR" altLang="en-US" sz="2000" dirty="0"/>
              <a:t>가능하다</a:t>
            </a:r>
            <a:r>
              <a:rPr lang="en-US" altLang="ko-KR" sz="2000" dirty="0"/>
              <a:t>.</a:t>
            </a:r>
          </a:p>
          <a:p>
            <a:endParaRPr lang="ko-KR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5229457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C9BCD-DD9A-F909-8196-8839CE433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8755C-8427-2BF6-6DA8-86CF2DAD0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call, caller </a:t>
            </a:r>
            <a:r>
              <a:rPr lang="ko-KR" altLang="en-US" sz="3600" dirty="0"/>
              <a:t>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5A1987-539D-F4D3-34BA-0FA20C95DE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dirty="0"/>
              <a:t>CALL_GRAPH(</a:t>
            </a:r>
            <a:r>
              <a:rPr lang="ko-KR" altLang="en-US" sz="2000" dirty="0"/>
              <a:t>위</a:t>
            </a:r>
            <a:r>
              <a:rPr lang="en-US" altLang="ko-KR" sz="2000" dirty="0"/>
              <a:t>), CALLER_GRAPH(</a:t>
            </a:r>
            <a:r>
              <a:rPr lang="ko-KR" altLang="en-US" sz="2000" dirty="0"/>
              <a:t>아래</a:t>
            </a:r>
            <a:r>
              <a:rPr lang="en-US" altLang="ko-KR" sz="2000" dirty="0"/>
              <a:t>) </a:t>
            </a:r>
            <a:r>
              <a:rPr lang="ko-KR" altLang="en-US" sz="2000" dirty="0"/>
              <a:t>예시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1B55C9-E837-08F1-964C-1CB4B2240F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97244"/>
            <a:ext cx="12192000" cy="482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05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14595-F306-0CCD-75A4-8B2681427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BE8DBA-F1FF-10E6-9781-8E9E5304FA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E24081-A7D0-662C-EB12-1D029E82E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GRAPHICAL_HIERARCHY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b="1" dirty="0"/>
              <a:t>전체 클래스 계층 구조를 텍스트 대신 그래픽 형태로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dirty="0"/>
              <a:t>클래스 </a:t>
            </a:r>
            <a:r>
              <a:rPr lang="en-US" altLang="ko-KR" sz="2000" dirty="0"/>
              <a:t>-&gt; </a:t>
            </a:r>
            <a:r>
              <a:rPr lang="ko-KR" altLang="en-US" sz="2000" dirty="0"/>
              <a:t>클래스 계통도를 눌렀을 때 그래프로 볼 수 있게 해주는 옵션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6910110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BEB86-C778-75C1-8DD9-D9F033AC8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E2137-957A-44FB-134F-7B287FD93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4E58A1-4DF9-8E47-E7B3-593894C27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GRAPHICAL_HIERARCHY </a:t>
            </a:r>
            <a:r>
              <a:rPr lang="ko-KR" altLang="en-US" sz="2000" dirty="0"/>
              <a:t>예시</a:t>
            </a:r>
            <a:r>
              <a:rPr lang="en-US" altLang="ko-KR" sz="2000" dirty="0"/>
              <a:t> – </a:t>
            </a:r>
            <a:r>
              <a:rPr lang="ko-KR" altLang="en-US" sz="2000" dirty="0"/>
              <a:t>왼쪽이 </a:t>
            </a:r>
            <a:r>
              <a:rPr lang="en-US" altLang="ko-KR" sz="2000" dirty="0"/>
              <a:t>NO,</a:t>
            </a:r>
            <a:r>
              <a:rPr lang="ko-KR" altLang="en-US" sz="2000" dirty="0"/>
              <a:t> 오른쪽이 </a:t>
            </a:r>
            <a:r>
              <a:rPr lang="en-US" altLang="ko-KR" sz="2000" dirty="0"/>
              <a:t>YES</a:t>
            </a:r>
          </a:p>
          <a:p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D9B5AC-6AAB-A947-50BF-359C84647D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268" y="1790312"/>
            <a:ext cx="4130398" cy="482638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2928E23-1BDF-B6F9-F6C4-D828C088CF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8336" y="1770259"/>
            <a:ext cx="3701734" cy="506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5508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BFBBB-17C6-3389-AFD9-45DA6BE75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68D2E7-7E25-CFC3-CDE7-6CE24F0FF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FD205A-719A-BFD3-FF50-CF6C94339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069054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DIRECTORY_GRAPH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디렉터리 간의 #include 관계를 기반으로 </a:t>
            </a:r>
            <a:r>
              <a:rPr lang="ko-KR" altLang="ko-KR" sz="2000" b="1" dirty="0"/>
              <a:t>디렉터리 의존성 그래프를 생성</a:t>
            </a:r>
            <a:r>
              <a:rPr lang="ko-KR" altLang="en-US" sz="2000" b="1" dirty="0"/>
              <a:t>한</a:t>
            </a:r>
            <a:r>
              <a:rPr lang="ko-KR" altLang="ko-KR" sz="2000" b="1" dirty="0"/>
              <a:t>다. </a:t>
            </a:r>
            <a:r>
              <a:rPr lang="ko-KR" altLang="ko-KR" sz="2000" dirty="0"/>
              <a:t>\</a:t>
            </a:r>
            <a:r>
              <a:rPr lang="ko-KR" altLang="ko-KR" sz="2000" dirty="0" err="1"/>
              <a:t>directorygraph</a:t>
            </a:r>
            <a:r>
              <a:rPr lang="ko-KR" altLang="ko-KR" sz="2000" dirty="0"/>
              <a:t> 및 \</a:t>
            </a:r>
            <a:r>
              <a:rPr lang="ko-KR" altLang="ko-KR" sz="2000" dirty="0" err="1"/>
              <a:t>hidedirectorygraph</a:t>
            </a:r>
            <a:r>
              <a:rPr lang="ko-KR" altLang="ko-KR" sz="2000" dirty="0"/>
              <a:t> 명령어로 개별 제어가 가능</a:t>
            </a:r>
            <a:r>
              <a:rPr lang="ko-KR" altLang="en-US" sz="2000" dirty="0"/>
              <a:t>하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en-US" sz="2000" dirty="0"/>
              <a:t>부연 설명 </a:t>
            </a:r>
            <a:r>
              <a:rPr lang="en-US" altLang="ko-KR" sz="2000" dirty="0"/>
              <a:t>: </a:t>
            </a:r>
            <a:r>
              <a:rPr lang="ko-KR" altLang="en-US" sz="2000" dirty="0"/>
              <a:t>파일들 </a:t>
            </a:r>
            <a:r>
              <a:rPr lang="en-US" altLang="ko-KR" sz="2000" dirty="0"/>
              <a:t>-&gt; </a:t>
            </a:r>
            <a:r>
              <a:rPr lang="ko-KR" altLang="en-US" sz="2000" dirty="0"/>
              <a:t>파일 목록 </a:t>
            </a:r>
            <a:r>
              <a:rPr lang="en-US" altLang="ko-KR" sz="2000" dirty="0"/>
              <a:t>-&gt; </a:t>
            </a:r>
            <a:r>
              <a:rPr lang="ko-KR" altLang="en-US" sz="2000" dirty="0"/>
              <a:t>폴더에서 폴더 창에 들어가면 디렉터리 의존성 그래프가 있다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DIR_GRAPH_MAX_DEPTH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1, 최댓값: 25, 기본값: 1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디렉터리 의존성 그래프에서 생성할 하위 디렉터리의 최대 깊이 단계를 제한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5049536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FBF26-C069-1D98-F7A9-5B9B15F20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2EC573-25B4-AD8C-4DA8-834588FB5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생성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23DFE8C-3D18-0A14-644C-8758926F45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" y="1409700"/>
            <a:ext cx="11069054" cy="5448300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DIRECTORY_GRAPH </a:t>
            </a:r>
            <a:r>
              <a:rPr lang="ko-KR" altLang="en-US" sz="2000" dirty="0"/>
              <a:t>예시</a:t>
            </a:r>
            <a:endParaRPr lang="en-US" altLang="ko-KR" sz="20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35849AC-91BC-B123-9A11-9DE38815E7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8155"/>
            <a:ext cx="10844463" cy="5059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613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C0A6-C88D-92D2-3734-21830ADEB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40F0E3-E8D4-1E83-8C17-EA61E42CE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그래프 이미지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F014D8-EC1A-3A86-BE7A-893AA19B06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DOT_IMAGE_FORMAT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가능한 값: </a:t>
            </a:r>
            <a:r>
              <a:rPr lang="ko-KR" altLang="ko-KR" sz="2000" dirty="0" err="1"/>
              <a:t>png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png:gdiplus:gdiplus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svg:cairo:cairo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svg:svg:core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gif:gdiplus:gdiplus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gif:gd:gd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jpg:cairo:gdiplus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jpg:gd:gd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jpg:gdiplus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jpg:gdiplus:gdiplus</a:t>
            </a:r>
            <a:r>
              <a:rPr lang="en-US" altLang="ko-KR" sz="2000" dirty="0"/>
              <a:t>, </a:t>
            </a:r>
            <a:r>
              <a:rPr lang="ko-KR" altLang="ko-KR" sz="2000" b="1" dirty="0"/>
              <a:t>기본값: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png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dot이</a:t>
            </a:r>
            <a:r>
              <a:rPr lang="ko-KR" altLang="ko-KR" sz="2000" dirty="0"/>
              <a:t> 생성할 이미지 파일의 포맷을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br>
              <a:rPr lang="en-US" altLang="ko-KR" sz="2000" dirty="0"/>
            </a:br>
            <a:r>
              <a:rPr lang="ko-KR" altLang="ko-KR" sz="2000" dirty="0"/>
              <a:t>참고: </a:t>
            </a:r>
            <a:r>
              <a:rPr lang="ko-KR" altLang="ko-KR" sz="2000" dirty="0" err="1"/>
              <a:t>svg:cairo</a:t>
            </a:r>
            <a:r>
              <a:rPr lang="ko-KR" altLang="ko-KR" sz="2000" dirty="0"/>
              <a:t> 및 </a:t>
            </a:r>
            <a:r>
              <a:rPr lang="ko-KR" altLang="ko-KR" sz="2000" dirty="0" err="1"/>
              <a:t>svg:cairo:cairo</a:t>
            </a:r>
            <a:r>
              <a:rPr lang="ko-KR" altLang="ko-KR" sz="2000" dirty="0"/>
              <a:t> 포맷은 INTERACTIVE_SVG 옵션과 함께 사용할 수 없다.</a:t>
            </a:r>
            <a:endParaRPr lang="en-US" altLang="ko-KR" sz="2000" dirty="0"/>
          </a:p>
          <a:p>
            <a:r>
              <a:rPr lang="en-US" altLang="ko-KR" sz="2000" dirty="0"/>
              <a:t>INTERACTIVE_SVG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NO)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</a:t>
            </a:r>
            <a:r>
              <a:rPr lang="ko-KR" altLang="ko-KR" sz="2000" dirty="0"/>
              <a:t> </a:t>
            </a:r>
            <a:r>
              <a:rPr lang="ko-KR" altLang="ko-KR" sz="2000" dirty="0" err="1"/>
              <a:t>DOT_IMAGE_FORMAT이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svg:svg:core일</a:t>
            </a:r>
            <a:r>
              <a:rPr lang="ko-KR" altLang="ko-KR" sz="2000" dirty="0"/>
              <a:t> 때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확대/축소 및 이동(</a:t>
            </a:r>
            <a:r>
              <a:rPr lang="ko-KR" altLang="ko-KR" sz="2000" dirty="0" err="1"/>
              <a:t>Pan</a:t>
            </a:r>
            <a:r>
              <a:rPr lang="ko-KR" altLang="ko-KR" sz="2000" dirty="0"/>
              <a:t>)이 가능한 대화형 SVG 이미지를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(최신 브라우저 필요)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5551959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9A70F-B036-B175-A6FC-8E4A6C4F5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932232-FCCC-76FC-C61F-5409712A6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경로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E4AF8-47BB-6CD5-02E1-AED4AB0DF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DOT_PATH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도구가 설치된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시스템 PATH 환경 변수를 참조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DOTFILE_DIRS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.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dotfile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9667663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38F49-8F23-401A-1451-03BC66E77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3FA0A1-053E-9A6B-BC25-DF5A203E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DIA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E03C8C-6823-F63D-2174-CA38F078C6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5717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DIA : </a:t>
            </a:r>
            <a:r>
              <a:rPr lang="ko-KR" altLang="ko-KR" sz="2000" dirty="0"/>
              <a:t>구조화된 다이어그램을 그릴 수 있는 무료 오픈소스 그래픽 편집기 프로그램</a:t>
            </a:r>
            <a:r>
              <a:rPr lang="en-US" altLang="ko-KR" sz="2000" dirty="0"/>
              <a:t>. </a:t>
            </a:r>
            <a:r>
              <a:rPr lang="en-US" altLang="ko-KR" sz="2000" b="1" dirty="0" err="1"/>
              <a:t>Doxygen</a:t>
            </a:r>
            <a:r>
              <a:rPr lang="ko-KR" altLang="en-US" sz="2000" b="1" dirty="0"/>
              <a:t>은 </a:t>
            </a:r>
            <a:r>
              <a:rPr lang="en-US" altLang="ko-KR" sz="2000" b="1" dirty="0"/>
              <a:t>DIA</a:t>
            </a:r>
            <a:r>
              <a:rPr lang="ko-KR" altLang="en-US" sz="2000" b="1" dirty="0"/>
              <a:t>로 그린 외부 다이어그램 파일</a:t>
            </a:r>
            <a:r>
              <a:rPr lang="en-US" altLang="ko-KR" sz="2000" b="1" dirty="0"/>
              <a:t>(.</a:t>
            </a:r>
            <a:r>
              <a:rPr lang="en-US" altLang="ko-KR" sz="2000" b="1" dirty="0" err="1"/>
              <a:t>dia</a:t>
            </a:r>
            <a:r>
              <a:rPr lang="en-US" altLang="ko-KR" sz="2000" b="1" dirty="0"/>
              <a:t>)</a:t>
            </a:r>
            <a:r>
              <a:rPr lang="ko-KR" altLang="en-US" sz="2000" b="1" dirty="0"/>
              <a:t>을 자동으로 이미지로 변환하여 문서에 삽입하는 기능</a:t>
            </a:r>
            <a:r>
              <a:rPr lang="ko-KR" altLang="en-US" sz="2000" dirty="0"/>
              <a:t>이 있다</a:t>
            </a:r>
            <a:r>
              <a:rPr lang="en-US" altLang="ko-KR" sz="2000" dirty="0"/>
              <a:t>. DIA_PATH</a:t>
            </a:r>
            <a:r>
              <a:rPr lang="ko-KR" altLang="en-US" sz="2000" dirty="0"/>
              <a:t>로 </a:t>
            </a:r>
            <a:r>
              <a:rPr lang="en-US" altLang="ko-KR" sz="2000" dirty="0" err="1"/>
              <a:t>dia</a:t>
            </a:r>
            <a:r>
              <a:rPr lang="en-US" altLang="ko-KR" sz="2000" dirty="0"/>
              <a:t> </a:t>
            </a:r>
            <a:r>
              <a:rPr lang="ko-KR" altLang="en-US" sz="2000" dirty="0"/>
              <a:t>실행 파일 디렉터리를 지정하고 </a:t>
            </a:r>
            <a:r>
              <a:rPr lang="en-US" altLang="ko-KR" sz="2000" dirty="0"/>
              <a:t>DIAFILE_DIRS</a:t>
            </a:r>
            <a:r>
              <a:rPr lang="ko-KR" altLang="en-US" sz="2000" dirty="0"/>
              <a:t>로 </a:t>
            </a:r>
            <a:r>
              <a:rPr lang="en-US" altLang="ko-KR" sz="2000" dirty="0"/>
              <a:t>.</a:t>
            </a:r>
            <a:r>
              <a:rPr lang="en-US" altLang="ko-KR" sz="2000" dirty="0" err="1"/>
              <a:t>dia</a:t>
            </a:r>
            <a:r>
              <a:rPr lang="en-US" altLang="ko-KR" sz="2000" dirty="0"/>
              <a:t> </a:t>
            </a:r>
            <a:r>
              <a:rPr lang="ko-KR" altLang="en-US" sz="2000" dirty="0"/>
              <a:t>파일이 있는 디렉터리를 지정한 뒤 문법에 따라 주석을 남기면 개발자가 직접 만든 다이어그램을 가져올 수 있다</a:t>
            </a:r>
            <a:r>
              <a:rPr lang="en-US" altLang="ko-KR" sz="2000" dirty="0"/>
              <a:t>. </a:t>
            </a:r>
            <a:r>
              <a:rPr lang="ko-KR" altLang="en-US" sz="2000" dirty="0"/>
              <a:t>주로 </a:t>
            </a:r>
            <a:r>
              <a:rPr lang="en-US" altLang="ko-KR" sz="2000" dirty="0" err="1"/>
              <a:t>doxygen</a:t>
            </a:r>
            <a:r>
              <a:rPr lang="ko-KR" altLang="ko-KR" sz="2000" dirty="0"/>
              <a:t>이 코드로 자동 추적할 수 없어 개발자가 직접 </a:t>
            </a:r>
            <a:r>
              <a:rPr lang="ko-KR" altLang="ko-KR" sz="2000" dirty="0" err="1"/>
              <a:t>그려놓은</a:t>
            </a:r>
            <a:r>
              <a:rPr lang="ko-KR" altLang="ko-KR" sz="2000" dirty="0"/>
              <a:t> 설계도나 시스템 아키텍처 그림을 문서에 자연스럽게 통합해 주는 역할을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Dia </a:t>
            </a:r>
            <a:r>
              <a:rPr lang="ko-KR" altLang="en-US" sz="2000" dirty="0"/>
              <a:t>주석 문법</a:t>
            </a:r>
            <a:br>
              <a:rPr lang="en-US" altLang="ko-KR" sz="2000" dirty="0"/>
            </a:br>
            <a:r>
              <a:rPr lang="ko-KR" altLang="ko-KR" sz="2000" dirty="0"/>
              <a:t>@diafile &lt;</a:t>
            </a:r>
            <a:r>
              <a:rPr lang="ko-KR" altLang="ko-KR" sz="2000" dirty="0" err="1"/>
              <a:t>file-name</a:t>
            </a:r>
            <a:r>
              <a:rPr lang="ko-KR" altLang="ko-KR" sz="2000" dirty="0"/>
              <a:t>&gt; ["</a:t>
            </a:r>
            <a:r>
              <a:rPr lang="ko-KR" altLang="en-US" sz="2000" dirty="0"/>
              <a:t>다이어그램 하단 설명 문구</a:t>
            </a:r>
            <a:r>
              <a:rPr lang="ko-KR" altLang="ko-KR" sz="2000" dirty="0"/>
              <a:t>"] [&lt;</a:t>
            </a:r>
            <a:r>
              <a:rPr lang="ko-KR" altLang="ko-KR" sz="2000" dirty="0" err="1"/>
              <a:t>sizeindication</a:t>
            </a:r>
            <a:r>
              <a:rPr lang="ko-KR" altLang="ko-KR" sz="2000" dirty="0"/>
              <a:t>&gt;=&lt;</a:t>
            </a:r>
            <a:r>
              <a:rPr lang="ko-KR" altLang="ko-KR" sz="2000" dirty="0" err="1"/>
              <a:t>size</a:t>
            </a:r>
            <a:r>
              <a:rPr lang="ko-KR" altLang="ko-KR" sz="2000" dirty="0"/>
              <a:t>&gt;</a:t>
            </a:r>
            <a:r>
              <a:rPr lang="en-US" altLang="ko-KR" sz="2000" dirty="0"/>
              <a:t>(</a:t>
            </a:r>
            <a:r>
              <a:rPr lang="ko-KR" altLang="en-US" sz="2000" dirty="0"/>
              <a:t>이미지 출력 제한</a:t>
            </a:r>
            <a:r>
              <a:rPr lang="en-US" altLang="ko-KR" sz="2000" dirty="0"/>
              <a:t>)</a:t>
            </a:r>
            <a:r>
              <a:rPr lang="ko-KR" altLang="ko-KR" sz="2000" dirty="0"/>
              <a:t>]</a:t>
            </a:r>
            <a:br>
              <a:rPr lang="en-US" altLang="ko-KR" sz="2000" dirty="0"/>
            </a:br>
            <a:r>
              <a:rPr lang="ko-KR" altLang="en-US" sz="2000" dirty="0"/>
              <a:t>예 </a:t>
            </a:r>
            <a:r>
              <a:rPr lang="en-US" altLang="ko-KR" sz="2000" dirty="0"/>
              <a:t>: </a:t>
            </a:r>
            <a:r>
              <a:rPr lang="ko-KR" altLang="ko-KR" sz="2000" dirty="0"/>
              <a:t>@diafile </a:t>
            </a:r>
            <a:r>
              <a:rPr lang="ko-KR" altLang="ko-KR" sz="2000" dirty="0" err="1"/>
              <a:t>packet_flow.dia</a:t>
            </a:r>
            <a:r>
              <a:rPr lang="ko-KR" altLang="ko-KR" sz="2000" dirty="0"/>
              <a:t> "데이터 패킷 흐름도"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=14cm </a:t>
            </a:r>
            <a:br>
              <a:rPr lang="en-US" altLang="ko-KR" sz="2000" dirty="0"/>
            </a:br>
            <a:r>
              <a:rPr lang="ko-KR" altLang="en-US" sz="2000" dirty="0"/>
              <a:t>매체별 크기 지정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HTML 페이지에만 크기 적용: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=\</a:t>
            </a:r>
            <a:r>
              <a:rPr lang="ko-KR" altLang="ko-KR" sz="2000" dirty="0" err="1"/>
              <a:t>htmlonly</a:t>
            </a:r>
            <a:r>
              <a:rPr lang="ko-KR" altLang="ko-KR" sz="2000" dirty="0"/>
              <a:t> 800px \</a:t>
            </a:r>
            <a:r>
              <a:rPr lang="ko-KR" altLang="ko-KR" sz="2000" dirty="0" err="1"/>
              <a:t>endhtmlonly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/>
              <a:t>PDF/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 문서에만 크기 적용: </a:t>
            </a:r>
            <a:r>
              <a:rPr lang="ko-KR" altLang="ko-KR" sz="2000" dirty="0" err="1"/>
              <a:t>width</a:t>
            </a:r>
            <a:r>
              <a:rPr lang="ko-KR" altLang="ko-KR" sz="2000" dirty="0"/>
              <a:t>=\</a:t>
            </a:r>
            <a:r>
              <a:rPr lang="ko-KR" altLang="ko-KR" sz="2000" dirty="0" err="1"/>
              <a:t>latexonly</a:t>
            </a:r>
            <a:r>
              <a:rPr lang="ko-KR" altLang="ko-KR" sz="2000" dirty="0"/>
              <a:t> 10cm \</a:t>
            </a:r>
            <a:r>
              <a:rPr lang="ko-KR" altLang="ko-KR" sz="2000" dirty="0" err="1"/>
              <a:t>endlatexonly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6742925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B5662-CE87-4A42-5FA9-AB765A619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15084E-8FE1-B354-E4C6-5AE4E356A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DIA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02E054-02C5-CEE1-EDE1-D112979E5A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DIA_PATH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Dia</a:t>
            </a:r>
            <a:r>
              <a:rPr lang="ko-KR" altLang="ko-KR" sz="2000" dirty="0"/>
              <a:t> 다이어그램 도구 실행 파일이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기본 검색 경로를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DIAFILE_DIRS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Dia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diafile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5541680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6EBD-485B-B119-73E9-A19B4E5D4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2FE37-9D6D-F4DF-22B6-51ACFFFEE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PLANTUML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03B0D0-7EE7-201A-3A85-3D1F4164D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5206999"/>
          </a:xfrm>
        </p:spPr>
        <p:txBody>
          <a:bodyPr>
            <a:normAutofit/>
          </a:bodyPr>
          <a:lstStyle/>
          <a:p>
            <a:r>
              <a:rPr lang="en-US" altLang="ko-KR" sz="2000" dirty="0" err="1"/>
              <a:t>PlantUML</a:t>
            </a:r>
            <a:r>
              <a:rPr lang="en-US" altLang="ko-KR" sz="2000" dirty="0"/>
              <a:t> : </a:t>
            </a:r>
            <a:r>
              <a:rPr lang="ko-KR" altLang="ko-KR" sz="2000" dirty="0" err="1"/>
              <a:t>PlantUML은</a:t>
            </a:r>
            <a:r>
              <a:rPr lang="ko-KR" altLang="ko-KR" sz="2000" dirty="0"/>
              <a:t> </a:t>
            </a:r>
            <a:r>
              <a:rPr lang="ko-KR" altLang="ko-KR" sz="2000" b="1" dirty="0"/>
              <a:t>텍스트 코드 기반으로 UML 다이어그램을 자동 생성해 주는 대표적인 '</a:t>
            </a:r>
            <a:r>
              <a:rPr lang="ko-KR" altLang="ko-KR" sz="2000" b="1" dirty="0" err="1"/>
              <a:t>Diagrams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as</a:t>
            </a:r>
            <a:r>
              <a:rPr lang="ko-KR" altLang="ko-KR" sz="2000" b="1" dirty="0"/>
              <a:t> </a:t>
            </a:r>
            <a:r>
              <a:rPr lang="ko-KR" altLang="ko-KR" sz="2000" b="1" dirty="0" err="1"/>
              <a:t>Code</a:t>
            </a:r>
            <a:r>
              <a:rPr lang="ko-KR" altLang="ko-KR" sz="2000" b="1" dirty="0"/>
              <a:t>(코드 형태의 다이어그램)' 오픈소스 도구</a:t>
            </a:r>
            <a:r>
              <a:rPr lang="ko-KR" altLang="en-US" sz="2000" dirty="0"/>
              <a:t>이</a:t>
            </a:r>
            <a:r>
              <a:rPr lang="ko-KR" altLang="ko-KR" sz="2000" dirty="0"/>
              <a:t>다. </a:t>
            </a:r>
            <a:r>
              <a:rPr lang="ko-KR" altLang="ko-KR" sz="2000" dirty="0" err="1"/>
              <a:t>PlantUML은</a:t>
            </a:r>
            <a:r>
              <a:rPr lang="ko-KR" altLang="ko-KR" sz="2000" dirty="0"/>
              <a:t> 텍스트 코드 기반으로 UML 다이어그램을 자동 생성해 주는 대표적인 '</a:t>
            </a:r>
            <a:r>
              <a:rPr lang="ko-KR" altLang="ko-KR" sz="2000" dirty="0" err="1"/>
              <a:t>Diagrams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Code</a:t>
            </a:r>
            <a:r>
              <a:rPr lang="ko-KR" altLang="ko-KR" sz="2000" dirty="0"/>
              <a:t>(코드 형태의 다이어그램)' 오픈소스 도구</a:t>
            </a:r>
            <a:r>
              <a:rPr lang="ko-KR" altLang="en-US" sz="2000" dirty="0"/>
              <a:t>이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 err="1"/>
              <a:t>Doxygen</a:t>
            </a:r>
            <a:r>
              <a:rPr lang="en-US" altLang="ko-KR" sz="2000" dirty="0"/>
              <a:t> </a:t>
            </a:r>
            <a:r>
              <a:rPr lang="ko-KR" altLang="en-US" sz="2000" dirty="0"/>
              <a:t>주석 내부의 </a:t>
            </a:r>
            <a:r>
              <a:rPr lang="ko-KR" altLang="ko-KR" sz="2000" dirty="0"/>
              <a:t>@startuml과 @enduml 사이에 정해진 문법으로 작성하면 다이어그램 이미지가 출력</a:t>
            </a:r>
            <a:r>
              <a:rPr lang="ko-KR" altLang="en-US" sz="2000" dirty="0"/>
              <a:t>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en-US" sz="2000" dirty="0"/>
              <a:t>주석 예시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ko-KR" altLang="ko-KR" sz="2000" dirty="0"/>
              <a:t>@startuml </a:t>
            </a:r>
            <a:br>
              <a:rPr lang="en-US" altLang="ko-KR" sz="2000" dirty="0"/>
            </a:br>
            <a:r>
              <a:rPr lang="ko-KR" altLang="ko-KR" sz="2000" dirty="0" err="1"/>
              <a:t>actor</a:t>
            </a:r>
            <a:r>
              <a:rPr lang="ko-KR" altLang="ko-KR" sz="2000" dirty="0"/>
              <a:t> 사용자 </a:t>
            </a:r>
            <a:br>
              <a:rPr lang="en-US" altLang="ko-KR" sz="2000" dirty="0"/>
            </a:br>
            <a:r>
              <a:rPr lang="ko-KR" altLang="ko-KR" sz="2000" dirty="0" err="1"/>
              <a:t>participant</a:t>
            </a:r>
            <a:r>
              <a:rPr lang="ko-KR" altLang="ko-KR" sz="2000" dirty="0"/>
              <a:t> "웹 서버"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Server </a:t>
            </a:r>
            <a:br>
              <a:rPr lang="en-US" altLang="ko-KR" sz="2000" dirty="0"/>
            </a:br>
            <a:r>
              <a:rPr lang="ko-KR" altLang="ko-KR" sz="2000" dirty="0" err="1"/>
              <a:t>database</a:t>
            </a:r>
            <a:r>
              <a:rPr lang="ko-KR" altLang="ko-KR" sz="2000" dirty="0"/>
              <a:t> "데이터베이스" </a:t>
            </a:r>
            <a:r>
              <a:rPr lang="ko-KR" altLang="ko-KR" sz="2000" dirty="0" err="1"/>
              <a:t>as</a:t>
            </a:r>
            <a:r>
              <a:rPr lang="ko-KR" altLang="ko-KR" sz="2000" dirty="0"/>
              <a:t> DB </a:t>
            </a:r>
            <a:br>
              <a:rPr lang="en-US" altLang="ko-KR" sz="2000" dirty="0"/>
            </a:br>
            <a:br>
              <a:rPr lang="en-US" altLang="ko-KR" sz="2000" dirty="0"/>
            </a:br>
            <a:r>
              <a:rPr lang="ko-KR" altLang="ko-KR" sz="2000" dirty="0"/>
              <a:t>사용자 -&gt; Server: 로그인 요청 (ID/PW) </a:t>
            </a:r>
            <a:br>
              <a:rPr lang="en-US" altLang="ko-KR" sz="2000" dirty="0"/>
            </a:br>
            <a:r>
              <a:rPr lang="ko-KR" altLang="ko-KR" sz="2000" dirty="0"/>
              <a:t>Server -&gt; DB: 사용자 정보 조회 </a:t>
            </a:r>
            <a:br>
              <a:rPr lang="en-US" altLang="ko-KR" sz="2000" dirty="0"/>
            </a:br>
            <a:r>
              <a:rPr lang="ko-KR" altLang="ko-KR" sz="2000" dirty="0"/>
              <a:t>DB --&gt; Server: 회원 정보 반환 </a:t>
            </a:r>
            <a:br>
              <a:rPr lang="en-US" altLang="ko-KR" sz="2000" dirty="0"/>
            </a:br>
            <a:r>
              <a:rPr lang="ko-KR" altLang="ko-KR" sz="2000" dirty="0"/>
              <a:t>Server --&gt; 사용자: 로그인 성공 응답 </a:t>
            </a:r>
            <a:br>
              <a:rPr lang="en-US" altLang="ko-KR" sz="2000" dirty="0"/>
            </a:br>
            <a:r>
              <a:rPr lang="ko-KR" altLang="ko-KR" sz="2000" dirty="0"/>
              <a:t>@enduml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1878785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E1902-65FE-EFD2-7DF8-ACB71D615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147985-9A28-094B-16CF-0C2F59BC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PLANTUML</a:t>
            </a:r>
            <a:r>
              <a:rPr lang="ko-KR" altLang="en-US" sz="3600" dirty="0"/>
              <a:t>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B03544-DA94-E534-B214-C937ADEB4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PLANTUML_JAR_PATH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사용 시 plantuml.jar 파일의 경로 또는 파일명을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</a:t>
            </a:r>
            <a:r>
              <a:rPr lang="ko-KR" altLang="ko-KR" sz="2000" dirty="0" err="1"/>
              <a:t>PlantUML을</a:t>
            </a:r>
            <a:r>
              <a:rPr lang="ko-KR" altLang="ko-KR" sz="2000" dirty="0"/>
              <a:t> 사용하지 않는 것으로 간주하여 \</a:t>
            </a:r>
            <a:r>
              <a:rPr lang="ko-KR" altLang="ko-KR" sz="2000" dirty="0" err="1"/>
              <a:t>startuml</a:t>
            </a:r>
            <a:r>
              <a:rPr lang="ko-KR" altLang="ko-KR" sz="2000" dirty="0"/>
              <a:t> 명령어 발견 시 경고가 발생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PLANTUML_CFG_FILE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PlantUML용</a:t>
            </a:r>
            <a:r>
              <a:rPr lang="ko-KR" altLang="ko-KR" sz="2000" dirty="0"/>
              <a:t> 설정 파일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ko-KR" altLang="ko-KR" sz="2000" dirty="0"/>
              <a:t>PLANTUML_INCLUDE_PATH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코드 내의 !</a:t>
            </a:r>
            <a:r>
              <a:rPr lang="ko-KR" altLang="ko-KR" sz="2000" dirty="0" err="1"/>
              <a:t>include</a:t>
            </a:r>
            <a:r>
              <a:rPr lang="ko-KR" altLang="ko-KR" sz="2000" dirty="0"/>
              <a:t> 문에서 참조할 파일들을 검색할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PLANTUMLFILE_DIRS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PlantUML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plantumlfile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0890478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0AD3D-6C63-4645-DF4D-CEEB492D1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9F3646-447B-344F-B711-D947F3E3D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4B7CAE-CAE1-E429-B45A-08E0E12FC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 : MERMAID</a:t>
            </a:r>
            <a:r>
              <a:rPr lang="ko-KR" altLang="en-US" sz="2000" dirty="0"/>
              <a:t>는 </a:t>
            </a:r>
            <a:r>
              <a:rPr lang="ko-KR" altLang="ko-KR" sz="2000" dirty="0"/>
              <a:t>텍스트 코드를 작성하면 다이어그램을 자동으로 그려주는</a:t>
            </a:r>
            <a:r>
              <a:rPr lang="en-US" altLang="ko-KR" sz="2000" dirty="0"/>
              <a:t> </a:t>
            </a:r>
            <a:r>
              <a:rPr lang="ko-KR" altLang="ko-KR" sz="2000" dirty="0"/>
              <a:t>오픈소스 자바스크립트(</a:t>
            </a:r>
            <a:r>
              <a:rPr lang="ko-KR" altLang="ko-KR" sz="2000" dirty="0" err="1"/>
              <a:t>JavaScript</a:t>
            </a:r>
            <a:r>
              <a:rPr lang="ko-KR" altLang="ko-KR" sz="2000" dirty="0"/>
              <a:t>) 라이브러리</a:t>
            </a:r>
            <a:r>
              <a:rPr lang="ko-KR" altLang="en-US" sz="2000" dirty="0"/>
              <a:t>이다</a:t>
            </a:r>
            <a:r>
              <a:rPr lang="en-US" altLang="ko-KR" sz="2000" dirty="0"/>
              <a:t>. </a:t>
            </a:r>
            <a:r>
              <a:rPr lang="en-US" altLang="ko-KR" sz="2000" dirty="0" err="1"/>
              <a:t>Doxygen</a:t>
            </a:r>
            <a:r>
              <a:rPr lang="en-US" altLang="ko-KR" sz="2000" dirty="0"/>
              <a:t> </a:t>
            </a:r>
            <a:r>
              <a:rPr lang="ko-KR" altLang="en-US" sz="2000" dirty="0"/>
              <a:t>주석이나 마크다운 문서</a:t>
            </a:r>
            <a:r>
              <a:rPr lang="en-US" altLang="ko-KR" sz="2000" dirty="0"/>
              <a:t>(.md) </a:t>
            </a:r>
            <a:r>
              <a:rPr lang="ko-KR" altLang="en-US" sz="2000" dirty="0"/>
              <a:t>내부에 </a:t>
            </a:r>
            <a:r>
              <a:rPr lang="en-US" altLang="ko-KR" sz="2000" dirty="0"/>
              <a:t>Mermaid </a:t>
            </a:r>
            <a:r>
              <a:rPr lang="ko-KR" altLang="en-US" sz="2000" dirty="0"/>
              <a:t>문법에 맞는 블록을 지정해 작성하면 된다</a:t>
            </a:r>
            <a:r>
              <a:rPr lang="en-US" altLang="ko-KR" sz="2000" dirty="0"/>
              <a:t>.</a:t>
            </a:r>
            <a:br>
              <a:rPr lang="en-US" altLang="ko-KR" sz="2000" dirty="0"/>
            </a:br>
            <a:r>
              <a:rPr lang="ko-KR" altLang="en-US" sz="2000" dirty="0"/>
              <a:t>예 </a:t>
            </a:r>
            <a:r>
              <a:rPr lang="en-US" altLang="ko-KR" sz="2000" dirty="0"/>
              <a:t>:</a:t>
            </a:r>
            <a:br>
              <a:rPr lang="en-US" altLang="ko-KR" sz="2000" dirty="0"/>
            </a:br>
            <a:r>
              <a:rPr lang="ko-KR" altLang="ko-KR" sz="2000" dirty="0"/>
              <a:t>\</a:t>
            </a:r>
            <a:r>
              <a:rPr lang="ko-KR" altLang="ko-KR" sz="2000" dirty="0" err="1"/>
              <a:t>mermaid</a:t>
            </a:r>
            <a:br>
              <a:rPr lang="en-US" altLang="ko-KR" sz="2000" dirty="0"/>
            </a:br>
            <a:r>
              <a:rPr lang="ko-KR" altLang="ko-KR" sz="2000" dirty="0" err="1"/>
              <a:t>flowchart</a:t>
            </a:r>
            <a:r>
              <a:rPr lang="ko-KR" altLang="ko-KR" sz="2000" dirty="0"/>
              <a:t> TD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A</a:t>
            </a:r>
            <a:r>
              <a:rPr lang="ko-KR" altLang="ko-KR" sz="2000" dirty="0"/>
              <a:t>[사용자 요청] --&gt; </a:t>
            </a:r>
            <a:r>
              <a:rPr lang="ko-KR" altLang="ko-KR" sz="2000" dirty="0" err="1"/>
              <a:t>B</a:t>
            </a:r>
            <a:r>
              <a:rPr lang="ko-KR" altLang="ko-KR" sz="2000" dirty="0"/>
              <a:t>{로그인 여부} 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B</a:t>
            </a:r>
            <a:r>
              <a:rPr lang="ko-KR" altLang="ko-KR" sz="2000" dirty="0"/>
              <a:t> -- 예 --&gt; C[메인 페이지] </a:t>
            </a:r>
            <a:br>
              <a:rPr lang="en-US" altLang="ko-KR" sz="2000" dirty="0"/>
            </a:br>
            <a:r>
              <a:rPr lang="en-US" altLang="ko-KR" sz="2000" dirty="0"/>
              <a:t>	</a:t>
            </a:r>
            <a:r>
              <a:rPr lang="ko-KR" altLang="ko-KR" sz="2000" dirty="0" err="1"/>
              <a:t>B</a:t>
            </a:r>
            <a:r>
              <a:rPr lang="ko-KR" altLang="ko-KR" sz="2000" dirty="0"/>
              <a:t> -- </a:t>
            </a:r>
            <a:r>
              <a:rPr lang="ko-KR" altLang="ko-KR" sz="2000" dirty="0" err="1"/>
              <a:t>아니오</a:t>
            </a:r>
            <a:r>
              <a:rPr lang="ko-KR" altLang="ko-KR" sz="2000" dirty="0"/>
              <a:t> --&gt; </a:t>
            </a:r>
            <a:r>
              <a:rPr lang="ko-KR" altLang="ko-KR" sz="2000" dirty="0" err="1"/>
              <a:t>D</a:t>
            </a:r>
            <a:r>
              <a:rPr lang="ko-KR" altLang="ko-KR" sz="2000" dirty="0"/>
              <a:t>[로그인 페이지] </a:t>
            </a:r>
            <a:br>
              <a:rPr lang="en-US" altLang="ko-KR" sz="2000" dirty="0"/>
            </a:br>
            <a:r>
              <a:rPr lang="ko-KR" altLang="ko-KR" sz="2000" dirty="0"/>
              <a:t>\</a:t>
            </a:r>
            <a:r>
              <a:rPr lang="ko-KR" altLang="ko-KR" sz="2000" dirty="0" err="1"/>
              <a:t>endmermaid</a:t>
            </a:r>
            <a:endParaRPr lang="ko-KR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7076861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87FF6-6FEA-3619-D0AB-2E76E522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7B2E16-864A-24CE-5300-62947B321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D1BEA-67A6-ECE1-62F5-A176F5425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MERMAID_PATH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CLI(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) 실행 파일이 위치한 디렉터리를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CLI 렌더링이 비활성화</a:t>
            </a:r>
            <a:r>
              <a:rPr lang="ko-KR" altLang="en-US" sz="2000" dirty="0"/>
              <a:t>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HTML은</a:t>
            </a:r>
            <a:r>
              <a:rPr lang="ko-KR" altLang="ko-KR" sz="2000" dirty="0"/>
              <a:t> </a:t>
            </a:r>
            <a:r>
              <a:rPr lang="ko-KR" altLang="ko-KR" sz="2000" dirty="0" err="1"/>
              <a:t>JavaScript</a:t>
            </a:r>
            <a:r>
              <a:rPr lang="ko-KR" altLang="ko-KR" sz="2000" dirty="0"/>
              <a:t> 클라이언트 렌더링을 사용하지만, 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/PDF 출력을 위해 이미지를 사전 생성하려면 </a:t>
            </a:r>
            <a:r>
              <a:rPr lang="ko-KR" altLang="ko-KR" sz="2000" dirty="0" err="1"/>
              <a:t>mmdc가</a:t>
            </a:r>
            <a:r>
              <a:rPr lang="ko-KR" altLang="ko-KR" sz="2000" dirty="0"/>
              <a:t> 필요</a:t>
            </a:r>
            <a:r>
              <a:rPr lang="ko-KR" altLang="en-US" sz="2000" dirty="0"/>
              <a:t>하</a:t>
            </a:r>
            <a:r>
              <a:rPr lang="ko-KR" altLang="ko-KR" sz="2000" dirty="0"/>
              <a:t>다.)</a:t>
            </a:r>
            <a:endParaRPr lang="en-US" altLang="ko-KR" sz="2000" dirty="0"/>
          </a:p>
          <a:p>
            <a:r>
              <a:rPr lang="en-US" altLang="ko-KR" sz="2000" dirty="0"/>
              <a:t>MERMAID_CONFIG_FILE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CLI(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)에서 사용할 JSON 설정 파일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(테마 및 기타 옵션 설정 가능)</a:t>
            </a:r>
            <a:endParaRPr lang="en-US" altLang="ko-KR" sz="2000" dirty="0"/>
          </a:p>
          <a:p>
            <a:r>
              <a:rPr lang="en-US" altLang="ko-KR" sz="2000" dirty="0"/>
              <a:t>MERMAID_RENDER_MODE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AUTO/CLI/CLIENT_SIDE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AUTO)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다이어그램의 렌더링 방식을 선택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2000" dirty="0"/>
              <a:t>AUTO: </a:t>
            </a:r>
            <a:r>
              <a:rPr lang="ko-KR" altLang="ko-KR" sz="2000" dirty="0" err="1"/>
              <a:t>HTML은</a:t>
            </a:r>
            <a:r>
              <a:rPr lang="ko-KR" altLang="ko-KR" sz="2000" dirty="0"/>
              <a:t> 클라이언트 측 렌더링, </a:t>
            </a:r>
            <a:r>
              <a:rPr lang="ko-KR" altLang="ko-KR" sz="2000" dirty="0" err="1"/>
              <a:t>LaTeX</a:t>
            </a:r>
            <a:r>
              <a:rPr lang="ko-KR" altLang="ko-KR" sz="2000" dirty="0"/>
              <a:t>/PDF 등은 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CLI를</a:t>
            </a:r>
            <a:r>
              <a:rPr lang="ko-KR" altLang="ko-KR" sz="2000" dirty="0"/>
              <a:t>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</a:p>
          <a:p>
            <a:pPr lvl="1"/>
            <a:r>
              <a:rPr lang="ko-KR" altLang="ko-KR" sz="2000" dirty="0"/>
              <a:t>CLI: </a:t>
            </a:r>
            <a:r>
              <a:rPr lang="ko-KR" altLang="ko-KR" sz="2000" dirty="0" err="1"/>
              <a:t>mmdc</a:t>
            </a:r>
            <a:r>
              <a:rPr lang="ko-KR" altLang="ko-KR" sz="2000" dirty="0"/>
              <a:t> 도구를 사용하여 이미지를 사전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(Node.js 및 </a:t>
            </a:r>
            <a:r>
              <a:rPr lang="ko-KR" altLang="ko-KR" sz="2000" dirty="0" err="1"/>
              <a:t>mermaid-cli</a:t>
            </a:r>
            <a:r>
              <a:rPr lang="ko-KR" altLang="ko-KR" sz="2000" dirty="0"/>
              <a:t> 필요)</a:t>
            </a:r>
          </a:p>
          <a:p>
            <a:pPr lvl="1"/>
            <a:r>
              <a:rPr lang="ko-KR" altLang="ko-KR" sz="2000" dirty="0"/>
              <a:t>CLIENT_SIDE: HTML 출력물에 </a:t>
            </a:r>
            <a:r>
              <a:rPr lang="ko-KR" altLang="ko-KR" sz="2000" dirty="0" err="1"/>
              <a:t>mermaid.js를</a:t>
            </a:r>
            <a:r>
              <a:rPr lang="ko-KR" altLang="ko-KR" sz="2000" dirty="0"/>
              <a:t> </a:t>
            </a:r>
            <a:r>
              <a:rPr lang="ko-KR" altLang="ko-KR" sz="2000" dirty="0" err="1"/>
              <a:t>임베드하여</a:t>
            </a:r>
            <a:r>
              <a:rPr lang="ko-KR" altLang="ko-KR" sz="2000" dirty="0"/>
              <a:t> 브라우저에서 렌더링</a:t>
            </a:r>
            <a:r>
              <a:rPr lang="ko-KR" altLang="en-US" sz="2000" dirty="0"/>
              <a:t>한</a:t>
            </a:r>
            <a:r>
              <a:rPr lang="ko-KR" altLang="ko-KR" sz="2000" dirty="0"/>
              <a:t>다. (HTML 전용)</a:t>
            </a:r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2789003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715E5-6A69-596A-7A06-E1B58DDB6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3EF5C7-AC5C-23CF-034D-D8DA62B55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MERMAID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1726B9-0D51-A539-FF1E-C1AD874FA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MERMAID_JS_URL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기본값: [https://cdn.jsdelivr.net/npm/mermaid@11/dist/mermaid.esm.min.mjs](https://cdn.jsdelivr.net/npm/mermaid@11/dist/mermaid.esm.min.mjs)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클라이언트 측 렌더링 시 사용할 mermaid.js 스크립트의 </a:t>
            </a:r>
            <a:r>
              <a:rPr lang="ko-KR" altLang="ko-KR" sz="2000" dirty="0" err="1"/>
              <a:t>URL을</a:t>
            </a:r>
            <a:r>
              <a:rPr lang="ko-KR" altLang="ko-KR" sz="2000" dirty="0"/>
              <a:t>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오프라인 환경에서는 라이브러리 파일을 직접 다운로드하여 상대 경로로 지정하거나 CLI 모드를 사용해야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MERMAIDFILE_DIRS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</a:t>
            </a:r>
            <a:r>
              <a:rPr lang="ko-KR" altLang="ko-KR" sz="2000" dirty="0" err="1"/>
              <a:t>Mermaid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mermaidfile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4716515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415BD-665D-2B1C-2DB1-0C7CF178D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F5820D-B777-4CCE-06F3-B33869CC6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E14A09-F024-DB81-988A-51EF2A576B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DOT_GRAPH_MAX_NODES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10000, 기본값: 50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그래프에 표시할 최대 노드 수를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이 값을 초과하면 그래프가 잘리며 해당 노드는 빨간색 상자로 표시</a:t>
            </a:r>
            <a:r>
              <a:rPr lang="ko-KR" altLang="en-US" sz="2000" dirty="0"/>
              <a:t>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MAX_DOT_GRAPH_DEPTH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ko-KR" sz="2000" dirty="0"/>
              <a:t>최솟값: 0, 최댓값: 1000, 기본값: 0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그래프의 최대 깊이를 설정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(예: 3으로 설정 시 루트에서 최대 3개의 연결선을 거쳐 도달하는 노드만 표시). 0으로 설정하면 깊이 제한이 없다.</a:t>
            </a:r>
            <a:endParaRPr lang="en-US" altLang="ko-KR" sz="2000" dirty="0"/>
          </a:p>
          <a:p>
            <a:r>
              <a:rPr lang="en-US" altLang="ko-KR" sz="2000" dirty="0"/>
              <a:t>GENERATE_LEGEND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필수 조건 </a:t>
            </a:r>
            <a:r>
              <a:rPr lang="en-US" altLang="ko-KR" sz="2000" dirty="0"/>
              <a:t>:</a:t>
            </a:r>
            <a:r>
              <a:rPr lang="ko-KR" altLang="en-US" sz="2000" dirty="0"/>
              <a:t> </a:t>
            </a:r>
            <a:r>
              <a:rPr lang="ko-KR" altLang="ko-KR" sz="2000" dirty="0"/>
              <a:t>HAVE_DOT = YES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그래프의 상자 및 화살표 의미를 설명하는 범례 페이지를 생성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UML_LOOK이</a:t>
            </a:r>
            <a:r>
              <a:rPr lang="ko-KR" altLang="ko-KR" sz="2000" dirty="0"/>
              <a:t> 비활성화되어 있을 때 적용)</a:t>
            </a:r>
            <a:endParaRPr lang="en-US" altLang="ko-KR" sz="2000" dirty="0"/>
          </a:p>
          <a:p>
            <a:r>
              <a:rPr lang="en-US" altLang="ko-KR" sz="2000" dirty="0"/>
              <a:t>DOT_CLEANUP</a:t>
            </a:r>
            <a:br>
              <a:rPr lang="en-US" altLang="ko-KR" sz="2000" dirty="0"/>
            </a:br>
            <a:r>
              <a:rPr lang="ko-KR" altLang="en-US" sz="2000" dirty="0" err="1"/>
              <a:t>설정값</a:t>
            </a:r>
            <a:r>
              <a:rPr lang="ko-KR" altLang="en-US" sz="2000" dirty="0"/>
              <a:t> </a:t>
            </a:r>
            <a:r>
              <a:rPr lang="en-US" altLang="ko-KR" sz="2000" dirty="0"/>
              <a:t>: YES/NO (</a:t>
            </a:r>
            <a:r>
              <a:rPr lang="ko-KR" altLang="en-US" sz="2000" dirty="0"/>
              <a:t>기본값 </a:t>
            </a:r>
            <a:r>
              <a:rPr lang="en-US" altLang="ko-KR" sz="2000" dirty="0"/>
              <a:t>: YES)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 err="1"/>
              <a:t>YES로</a:t>
            </a:r>
            <a:r>
              <a:rPr lang="ko-KR" altLang="ko-KR" sz="2000" dirty="0"/>
              <a:t> 설정하면 그래프 생성 과정에서 사용된 중간/임시 파일들을 삭제</a:t>
            </a:r>
            <a:r>
              <a:rPr lang="ko-KR" altLang="en-US" sz="2000" dirty="0"/>
              <a:t>한</a:t>
            </a:r>
            <a:r>
              <a:rPr lang="ko-KR" altLang="ko-KR" sz="2000" dirty="0"/>
              <a:t>다. (</a:t>
            </a:r>
            <a:r>
              <a:rPr lang="ko-KR" altLang="ko-KR" sz="2000" dirty="0" err="1"/>
              <a:t>dot</a:t>
            </a:r>
            <a:r>
              <a:rPr lang="ko-KR" altLang="ko-KR" sz="2000" dirty="0"/>
              <a:t> 및 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임시 파일 공통 적용)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062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E58DB-837B-C8B0-3CF7-A636855C4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FC96D1-66A0-AFC8-0A85-37B3C340C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7C69F4-E3BB-0C45-D182-8BCBC8A86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13935BF-D684-6C82-CCFD-E5E42F3DA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7888"/>
            <a:ext cx="12192000" cy="45240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60D6E7C-A1A9-4411-D4A6-4A825D079D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558" y="1736505"/>
            <a:ext cx="6188241" cy="4280906"/>
          </a:xfrm>
          <a:prstGeom prst="rect">
            <a:avLst/>
          </a:prstGeom>
        </p:spPr>
      </p:pic>
      <p:sp>
        <p:nvSpPr>
          <p:cNvPr id="13" name="액자 12">
            <a:extLst>
              <a:ext uri="{FF2B5EF4-FFF2-40B4-BE49-F238E27FC236}">
                <a16:creationId xmlns:a16="http://schemas.microsoft.com/office/drawing/2014/main" id="{F0DDE1B1-B505-19AE-8630-22C7286C0EA4}"/>
              </a:ext>
            </a:extLst>
          </p:cNvPr>
          <p:cNvSpPr/>
          <p:nvPr/>
        </p:nvSpPr>
        <p:spPr>
          <a:xfrm>
            <a:off x="7828547" y="5325978"/>
            <a:ext cx="1026696" cy="691433"/>
          </a:xfrm>
          <a:prstGeom prst="frame">
            <a:avLst>
              <a:gd name="adj1" fmla="val 8713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335594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48F05-994D-D2B9-FFD1-F651D39B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AD1CC-5894-67B8-FBDB-4EBF4FAB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256984-DA53-8F33-6F4A-7B2F9601B5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EC6D352-80D9-C563-289E-B4ECC03E0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9134"/>
            <a:ext cx="11871158" cy="5368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219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37441-827D-CAE4-FB29-1B0BDF96C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56553D-BDEB-754C-33F6-5431E87A3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ko-KR" altLang="en-US" sz="3600" dirty="0"/>
              <a:t>기타 설정</a:t>
            </a:r>
            <a:r>
              <a:rPr lang="en-US" altLang="ko-KR" sz="3600" dirty="0"/>
              <a:t>2</a:t>
            </a:r>
            <a:endParaRPr lang="ko-KR" altLang="en-US" sz="36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D60C38-9A4F-7C9C-ADA5-DF3CBE54B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43001"/>
            <a:ext cx="10744200" cy="4767263"/>
          </a:xfrm>
        </p:spPr>
        <p:txBody>
          <a:bodyPr>
            <a:noAutofit/>
          </a:bodyPr>
          <a:lstStyle/>
          <a:p>
            <a:r>
              <a:rPr lang="en-US" altLang="ko-KR" sz="2000" dirty="0"/>
              <a:t>GENERATE_LEGEND</a:t>
            </a:r>
            <a:r>
              <a:rPr lang="ko-KR" altLang="en-US" sz="2000" dirty="0"/>
              <a:t>로 만들어진 범례 페이지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F1059A7-A2FD-71C6-7773-B1C45A3E72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6470"/>
            <a:ext cx="12192000" cy="154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71825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FFD1-E19E-0B5E-7C63-6A89918D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7BDA1-CEEF-84C4-CFD5-6DB72B8EE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msc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7794F1-D438-0F30-C445-7D7EBCD67C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MSCGEN : </a:t>
            </a:r>
            <a:r>
              <a:rPr lang="ko-KR" altLang="ko-KR" sz="2000" dirty="0" err="1"/>
              <a:t>Mscgen</a:t>
            </a:r>
            <a:r>
              <a:rPr lang="ko-KR" altLang="ko-KR" sz="2000" dirty="0"/>
              <a:t>(</a:t>
            </a:r>
            <a:r>
              <a:rPr lang="ko-KR" altLang="ko-KR" sz="2000" dirty="0" err="1"/>
              <a:t>Message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Sequence</a:t>
            </a:r>
            <a:r>
              <a:rPr lang="ko-KR" altLang="ko-KR" sz="2000" dirty="0"/>
              <a:t> </a:t>
            </a:r>
            <a:r>
              <a:rPr lang="ko-KR" altLang="ko-KR" sz="2000" dirty="0" err="1"/>
              <a:t>Chart</a:t>
            </a:r>
            <a:r>
              <a:rPr lang="ko-KR" altLang="ko-KR" sz="2000" dirty="0"/>
              <a:t> </a:t>
            </a:r>
            <a:r>
              <a:rPr lang="ko-KR" altLang="ko-KR" sz="2000" dirty="0" err="1"/>
              <a:t>Generator</a:t>
            </a:r>
            <a:r>
              <a:rPr lang="ko-KR" altLang="ko-KR" sz="2000" dirty="0"/>
              <a:t>)은 텍스트로 작성된 가독성 높은 코드를 읽어 시퀀스 다이어그램(순서도) 이미지로 변환해 주는 대표적인 오픈소스 도구</a:t>
            </a:r>
            <a:r>
              <a:rPr lang="ko-KR" altLang="en-US" sz="2000" dirty="0"/>
              <a:t>이다</a:t>
            </a:r>
            <a:r>
              <a:rPr lang="en-US" altLang="ko-KR" sz="2000" dirty="0"/>
              <a:t>. MSC </a:t>
            </a:r>
            <a:r>
              <a:rPr lang="ko-KR" altLang="en-US" sz="2000" dirty="0"/>
              <a:t>문법에 따라 작성하여 그래프를 만든다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 err="1"/>
              <a:t>doxygen</a:t>
            </a:r>
            <a:r>
              <a:rPr lang="ko-KR" altLang="en-US" sz="2000" dirty="0"/>
              <a:t>에서 </a:t>
            </a:r>
            <a:r>
              <a:rPr lang="en-US" altLang="ko-KR" sz="2000" dirty="0" err="1"/>
              <a:t>Mscgen</a:t>
            </a:r>
            <a:r>
              <a:rPr lang="ko-KR" altLang="en-US" sz="2000" dirty="0"/>
              <a:t>은</a:t>
            </a:r>
            <a:r>
              <a:rPr lang="en-US" altLang="ko-KR" sz="2000" dirty="0"/>
              <a:t> </a:t>
            </a:r>
            <a:r>
              <a:rPr lang="ko-KR" altLang="en-US" sz="2000" dirty="0"/>
              <a:t>크게 </a:t>
            </a:r>
            <a:r>
              <a:rPr lang="en-US" altLang="ko-KR" sz="2000" dirty="0"/>
              <a:t>2</a:t>
            </a:r>
            <a:r>
              <a:rPr lang="ko-KR" altLang="en-US" sz="2000" dirty="0"/>
              <a:t>가지 방법으로 사용된다</a:t>
            </a:r>
            <a:r>
              <a:rPr lang="en-US" altLang="ko-KR" sz="2000" dirty="0"/>
              <a:t>.</a:t>
            </a:r>
          </a:p>
          <a:p>
            <a:pPr marL="800100" lvl="1" indent="-342900">
              <a:buFont typeface="+mj-lt"/>
              <a:buAutoNum type="arabicPeriod"/>
            </a:pPr>
            <a:r>
              <a:rPr lang="ko-KR" altLang="ko-KR" sz="1800" dirty="0"/>
              <a:t>주석 안에 직접 차트 그리기 (\</a:t>
            </a:r>
            <a:r>
              <a:rPr lang="ko-KR" altLang="ko-KR" sz="1800" dirty="0" err="1"/>
              <a:t>msc</a:t>
            </a:r>
            <a:r>
              <a:rPr lang="ko-KR" altLang="ko-KR" sz="1800" dirty="0"/>
              <a:t> ~ \</a:t>
            </a:r>
            <a:r>
              <a:rPr lang="ko-KR" altLang="ko-KR" sz="1800" dirty="0" err="1"/>
              <a:t>mscend</a:t>
            </a:r>
            <a:r>
              <a:rPr lang="ko-KR" altLang="ko-KR" sz="1800" dirty="0"/>
              <a:t>)</a:t>
            </a:r>
            <a:br>
              <a:rPr lang="en-US" altLang="ko-KR" sz="1800" b="1" dirty="0"/>
            </a:br>
            <a:r>
              <a:rPr lang="ko-KR" altLang="ko-KR" sz="1800" dirty="0"/>
              <a:t>개발자가 소스 코드 함수 위에 주석을 달면서, 그 함수의 내부 동작 흐름을 </a:t>
            </a:r>
            <a:r>
              <a:rPr lang="ko-KR" altLang="ko-KR" sz="1800" dirty="0" err="1"/>
              <a:t>Mscgen</a:t>
            </a:r>
            <a:r>
              <a:rPr lang="ko-KR" altLang="ko-KR" sz="1800" dirty="0"/>
              <a:t> 문법으로 직접 작성</a:t>
            </a:r>
            <a:r>
              <a:rPr lang="ko-KR" altLang="en-US" sz="1800" dirty="0"/>
              <a:t>한다</a:t>
            </a:r>
            <a:r>
              <a:rPr lang="en-US" altLang="ko-KR" sz="1800" dirty="0"/>
              <a:t>.</a:t>
            </a:r>
            <a:endParaRPr lang="ko-KR" altLang="ko-KR" sz="1800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ko-KR" sz="1800" dirty="0"/>
              <a:t>외부 차트 파일 불러오기 (\</a:t>
            </a:r>
            <a:r>
              <a:rPr lang="ko-KR" altLang="ko-KR" sz="1800" dirty="0" err="1"/>
              <a:t>mscfile</a:t>
            </a:r>
            <a:r>
              <a:rPr lang="ko-KR" altLang="ko-KR" sz="1800" dirty="0"/>
              <a:t>)</a:t>
            </a:r>
            <a:br>
              <a:rPr lang="en-US" altLang="ko-KR" sz="1800" b="1" dirty="0"/>
            </a:br>
            <a:r>
              <a:rPr lang="ko-KR" altLang="ko-KR" sz="1800" dirty="0"/>
              <a:t>차트 내용이 너무 길어 코드 주석이 </a:t>
            </a:r>
            <a:r>
              <a:rPr lang="ko-KR" altLang="ko-KR" sz="1800" dirty="0" err="1"/>
              <a:t>지저분해진다면</a:t>
            </a:r>
            <a:r>
              <a:rPr lang="ko-KR" altLang="ko-KR" sz="1800" dirty="0"/>
              <a:t>, 별도의 텍스트 파일(예: </a:t>
            </a:r>
            <a:r>
              <a:rPr lang="ko-KR" altLang="ko-KR" sz="1800" dirty="0" err="1"/>
              <a:t>auth_flow.msc</a:t>
            </a:r>
            <a:r>
              <a:rPr lang="ko-KR" altLang="ko-KR" sz="1800" dirty="0"/>
              <a:t>)로 분리해 저장할 수 있다. </a:t>
            </a:r>
            <a:r>
              <a:rPr lang="ko-KR" altLang="en-US" sz="1800" dirty="0"/>
              <a:t>이때 파일은 </a:t>
            </a:r>
            <a:r>
              <a:rPr lang="ko-KR" altLang="ko-KR" sz="1800" dirty="0" err="1"/>
              <a:t>MSCFILE_DIRS</a:t>
            </a:r>
            <a:r>
              <a:rPr lang="ko-KR" altLang="en-US" sz="1800" dirty="0" err="1"/>
              <a:t>설정을</a:t>
            </a:r>
            <a:r>
              <a:rPr lang="ko-KR" altLang="en-US" sz="1800" dirty="0"/>
              <a:t> 통해 지정한 경로에 저장해야 한다</a:t>
            </a:r>
            <a:r>
              <a:rPr lang="ko-KR" altLang="ko-KR" sz="1800" dirty="0"/>
              <a:t>.</a:t>
            </a:r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5721668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A6BBF-6F42-B876-E577-A1B65FB9C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DC4F03-62BB-A6CB-58B6-949CFF789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1301"/>
            <a:ext cx="10515600" cy="901700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2. </a:t>
            </a:r>
            <a:r>
              <a:rPr lang="en-US" altLang="ko-KR" sz="3600" dirty="0" err="1"/>
              <a:t>Expart</a:t>
            </a:r>
            <a:r>
              <a:rPr lang="en-US" altLang="ko-KR" sz="3600" dirty="0"/>
              <a:t> </a:t>
            </a:r>
            <a:r>
              <a:rPr lang="ko-KR" altLang="en-US" sz="3600" dirty="0"/>
              <a:t>설정 </a:t>
            </a:r>
            <a:r>
              <a:rPr lang="en-US" altLang="ko-KR" sz="3600" dirty="0"/>
              <a:t>– </a:t>
            </a:r>
            <a:r>
              <a:rPr lang="en-US" altLang="ko-KR" sz="3600" dirty="0" err="1"/>
              <a:t>msc</a:t>
            </a:r>
            <a:r>
              <a:rPr lang="en-US" altLang="ko-KR" sz="3600" dirty="0"/>
              <a:t> </a:t>
            </a:r>
            <a:r>
              <a:rPr lang="ko-KR" altLang="en-US" sz="3600" dirty="0"/>
              <a:t>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4E6089-4FE1-4AA8-397E-56EB9E3814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09700"/>
            <a:ext cx="10744200" cy="4767263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MSCGEN_TOOL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주석 내에서 \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명령어로 메시지 시퀀스 차트를 생성할 때 사용할 도구를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다. 비워 두면 내장된 </a:t>
            </a:r>
            <a:r>
              <a:rPr lang="ko-KR" altLang="ko-KR" sz="2000" dirty="0" err="1"/>
              <a:t>mscgen</a:t>
            </a:r>
            <a:r>
              <a:rPr lang="ko-KR" altLang="ko-KR" sz="2000" dirty="0"/>
              <a:t> 도구를 사용</a:t>
            </a:r>
            <a:r>
              <a:rPr lang="ko-KR" altLang="en-US" sz="2000" dirty="0"/>
              <a:t>한</a:t>
            </a:r>
            <a:r>
              <a:rPr lang="ko-KR" altLang="ko-KR" sz="2000" dirty="0"/>
              <a:t>다. 외부 도구를 지정하는 경우 </a:t>
            </a:r>
            <a:r>
              <a:rPr lang="ko-KR" altLang="ko-KR" sz="2000" dirty="0" err="1"/>
              <a:t>png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eps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svg</a:t>
            </a:r>
            <a:r>
              <a:rPr lang="ko-KR" altLang="ko-KR" sz="2000" dirty="0"/>
              <a:t>, </a:t>
            </a:r>
            <a:r>
              <a:rPr lang="ko-KR" altLang="ko-KR" sz="2000" dirty="0" err="1"/>
              <a:t>ismap</a:t>
            </a:r>
            <a:r>
              <a:rPr lang="ko-KR" altLang="ko-KR" sz="2000" dirty="0"/>
              <a:t> 포맷 출력을 지원해야 </a:t>
            </a:r>
            <a:r>
              <a:rPr lang="ko-KR" altLang="en-US" sz="2000" dirty="0"/>
              <a:t>한</a:t>
            </a:r>
            <a:r>
              <a:rPr lang="ko-KR" altLang="ko-KR" sz="2000" dirty="0"/>
              <a:t>다.</a:t>
            </a:r>
            <a:endParaRPr lang="en-US" altLang="ko-KR" sz="2000" dirty="0"/>
          </a:p>
          <a:p>
            <a:r>
              <a:rPr lang="en-US" altLang="ko-KR" sz="2000" dirty="0"/>
              <a:t>MSCFILE_DIRS</a:t>
            </a:r>
            <a:br>
              <a:rPr lang="en-US" altLang="ko-KR" sz="2000" dirty="0"/>
            </a:br>
            <a:r>
              <a:rPr lang="ko-KR" altLang="en-US" sz="2000" dirty="0"/>
              <a:t>공식 매뉴얼 </a:t>
            </a:r>
            <a:r>
              <a:rPr lang="en-US" altLang="ko-KR" sz="2000" dirty="0"/>
              <a:t>: </a:t>
            </a:r>
            <a:r>
              <a:rPr lang="ko-KR" altLang="ko-KR" sz="2000" dirty="0"/>
              <a:t>문서에 포함할 외부 .</a:t>
            </a:r>
            <a:r>
              <a:rPr lang="ko-KR" altLang="ko-KR" sz="2000" dirty="0" err="1"/>
              <a:t>msc</a:t>
            </a:r>
            <a:r>
              <a:rPr lang="ko-KR" altLang="ko-KR" sz="2000" dirty="0"/>
              <a:t> 파일들이 위치한 디렉터리 경로를 지정</a:t>
            </a:r>
            <a:r>
              <a:rPr lang="ko-KR" altLang="en-US" sz="2000" dirty="0"/>
              <a:t>한</a:t>
            </a:r>
            <a:r>
              <a:rPr lang="ko-KR" altLang="ko-KR" sz="2000" dirty="0"/>
              <a:t>다 (\</a:t>
            </a:r>
            <a:r>
              <a:rPr lang="ko-KR" altLang="ko-KR" sz="2000" dirty="0" err="1"/>
              <a:t>mscfile</a:t>
            </a:r>
            <a:r>
              <a:rPr lang="ko-KR" altLang="ko-KR" sz="2000" dirty="0"/>
              <a:t> 명령어 사용 시 참조).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08522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</TotalTime>
  <Words>5078</Words>
  <Application>Microsoft Office PowerPoint</Application>
  <PresentationFormat>와이드스크린</PresentationFormat>
  <Paragraphs>279</Paragraphs>
  <Slides>63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67" baseType="lpstr">
      <vt:lpstr>Abadi</vt:lpstr>
      <vt:lpstr>맑은 고딕</vt:lpstr>
      <vt:lpstr>Arial</vt:lpstr>
      <vt:lpstr>Office 테마</vt:lpstr>
      <vt:lpstr>Doxygen 다이어그램 설정  </vt:lpstr>
      <vt:lpstr>목차</vt:lpstr>
      <vt:lpstr>1. Wizard 설정</vt:lpstr>
      <vt:lpstr>1. Wizard 설정 – 다이어그램 종류</vt:lpstr>
      <vt:lpstr>1. Wizard 설정 – 다이어그램 종류</vt:lpstr>
      <vt:lpstr>1. Wizard 설정 – 다이어그램 종류</vt:lpstr>
      <vt:lpstr>1. Wizard 설정 – 다이어그램 종류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1. Wizard 설정 – Graphviz 사용</vt:lpstr>
      <vt:lpstr>2. Expart 설정</vt:lpstr>
      <vt:lpstr>2. Expart 설정</vt:lpstr>
      <vt:lpstr>2. Expart 설정 – dot 실행 설정</vt:lpstr>
      <vt:lpstr>2. Expart 설정 – dot 실행 설정</vt:lpstr>
      <vt:lpstr>2. Expart 설정 – 그래프 스타일</vt:lpstr>
      <vt:lpstr>2. Expart 설정 – 그래프 스타일</vt:lpstr>
      <vt:lpstr>2. Expart 설정 – 그래프 스타일</vt:lpstr>
      <vt:lpstr>2. Expart 설정 – 그래프 생성1</vt:lpstr>
      <vt:lpstr>2. Expart 설정 – 그래프 생성1</vt:lpstr>
      <vt:lpstr>2. Expart 설정 - 그래프 생성1</vt:lpstr>
      <vt:lpstr>2. Expart 설정 - 그래프 생성1</vt:lpstr>
      <vt:lpstr>2. Expart 설정 – 그래프 생성1</vt:lpstr>
      <vt:lpstr>2. Expart 설정 – 그래프 생성1</vt:lpstr>
      <vt:lpstr>2. Expart 설정 – 그래프 생성1</vt:lpstr>
      <vt:lpstr>2. Expart 설정 – 그래프 생성1</vt:lpstr>
      <vt:lpstr>2. Expart 설정 – 그래프 생성1</vt:lpstr>
      <vt:lpstr>2. Expart 설정 – UML 설정</vt:lpstr>
      <vt:lpstr>2. Expart 설정 – UML 설정</vt:lpstr>
      <vt:lpstr>2. Expart 설정 – UML 설정</vt:lpstr>
      <vt:lpstr>2. Expart 설정 – UML 설정</vt:lpstr>
      <vt:lpstr>2. Expart 설정 – 기타 설정 1</vt:lpstr>
      <vt:lpstr>2. Expart 설정 – 기타 설정 1</vt:lpstr>
      <vt:lpstr>2. Expart 설정 – include, included 그래프 설정</vt:lpstr>
      <vt:lpstr>2. Expart 설정 – include, included 그래프 설정</vt:lpstr>
      <vt:lpstr>2. Expart 설정 – call, caller 그래프</vt:lpstr>
      <vt:lpstr>2. Expart 설정 – call, caller 그래프</vt:lpstr>
      <vt:lpstr>2. Expart 설정 – 그래프 생성2</vt:lpstr>
      <vt:lpstr>2. Expart 설정 – 그래프 생성2</vt:lpstr>
      <vt:lpstr>2. Expart 설정 – 그래프 생성2</vt:lpstr>
      <vt:lpstr>2. Expart 설정 – 그래프 생성2</vt:lpstr>
      <vt:lpstr>2. Expart 설정 – 그래프 이미지 설정</vt:lpstr>
      <vt:lpstr>2. Expart 설정 – 경로 설정</vt:lpstr>
      <vt:lpstr>2. Expart 설정 – DIA 설정</vt:lpstr>
      <vt:lpstr>2. Expart 설정 – DIA 설정</vt:lpstr>
      <vt:lpstr>2. Expart 설정 – PLANTUML 설정</vt:lpstr>
      <vt:lpstr>2. Expart 설정 – PLANTUML 설정</vt:lpstr>
      <vt:lpstr>2. Expart 설정 – MERMAID 설정</vt:lpstr>
      <vt:lpstr>2. Expart 설정 – MERMAID 설정</vt:lpstr>
      <vt:lpstr>2. Expart 설정 – MERMAID 설정</vt:lpstr>
      <vt:lpstr>2. Expart 설정 – 기타 설정2</vt:lpstr>
      <vt:lpstr>2. Expart 설정 – 기타 설정2</vt:lpstr>
      <vt:lpstr>2. Expart 설정 – 기타 설정2</vt:lpstr>
      <vt:lpstr>2. Expart 설정 – 기타 설정2</vt:lpstr>
      <vt:lpstr>2. Expart 설정 – msc 설정</vt:lpstr>
      <vt:lpstr>2. Expart 설정 – msc 설정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27</cp:revision>
  <dcterms:created xsi:type="dcterms:W3CDTF">2026-08-08T20:14:41Z</dcterms:created>
  <dcterms:modified xsi:type="dcterms:W3CDTF">2026-08-10T06:07:00Z</dcterms:modified>
</cp:coreProperties>
</file>