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0"/>
  </p:notesMasterIdLst>
  <p:sldIdLst>
    <p:sldId id="453" r:id="rId2"/>
    <p:sldId id="454" r:id="rId3"/>
    <p:sldId id="455" r:id="rId4"/>
    <p:sldId id="456" r:id="rId5"/>
    <p:sldId id="457" r:id="rId6"/>
    <p:sldId id="458" r:id="rId7"/>
    <p:sldId id="468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9" r:id="rId17"/>
    <p:sldId id="470" r:id="rId18"/>
    <p:sldId id="473" r:id="rId19"/>
    <p:sldId id="474" r:id="rId20"/>
    <p:sldId id="475" r:id="rId21"/>
    <p:sldId id="476" r:id="rId22"/>
    <p:sldId id="477" r:id="rId23"/>
    <p:sldId id="478" r:id="rId24"/>
    <p:sldId id="479" r:id="rId25"/>
    <p:sldId id="480" r:id="rId26"/>
    <p:sldId id="481" r:id="rId27"/>
    <p:sldId id="482" r:id="rId28"/>
    <p:sldId id="471" r:id="rId29"/>
    <p:sldId id="498" r:id="rId30"/>
    <p:sldId id="499" r:id="rId31"/>
    <p:sldId id="483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3" r:id="rId41"/>
    <p:sldId id="495" r:id="rId42"/>
    <p:sldId id="496" r:id="rId43"/>
    <p:sldId id="497" r:id="rId44"/>
    <p:sldId id="501" r:id="rId45"/>
    <p:sldId id="502" r:id="rId46"/>
    <p:sldId id="503" r:id="rId47"/>
    <p:sldId id="505" r:id="rId48"/>
    <p:sldId id="506" r:id="rId49"/>
    <p:sldId id="507" r:id="rId50"/>
    <p:sldId id="509" r:id="rId51"/>
    <p:sldId id="508" r:id="rId52"/>
    <p:sldId id="511" r:id="rId53"/>
    <p:sldId id="510" r:id="rId54"/>
    <p:sldId id="512" r:id="rId55"/>
    <p:sldId id="513" r:id="rId56"/>
    <p:sldId id="514" r:id="rId57"/>
    <p:sldId id="516" r:id="rId58"/>
    <p:sldId id="518" r:id="rId59"/>
    <p:sldId id="519" r:id="rId60"/>
    <p:sldId id="520" r:id="rId61"/>
    <p:sldId id="521" r:id="rId62"/>
    <p:sldId id="523" r:id="rId63"/>
    <p:sldId id="524" r:id="rId64"/>
    <p:sldId id="526" r:id="rId65"/>
    <p:sldId id="527" r:id="rId66"/>
    <p:sldId id="528" r:id="rId67"/>
    <p:sldId id="529" r:id="rId68"/>
    <p:sldId id="530" r:id="rId69"/>
    <p:sldId id="531" r:id="rId70"/>
    <p:sldId id="532" r:id="rId71"/>
    <p:sldId id="533" r:id="rId72"/>
    <p:sldId id="534" r:id="rId73"/>
    <p:sldId id="535" r:id="rId74"/>
    <p:sldId id="536" r:id="rId75"/>
    <p:sldId id="537" r:id="rId76"/>
    <p:sldId id="538" r:id="rId77"/>
    <p:sldId id="539" r:id="rId78"/>
    <p:sldId id="540" r:id="rId79"/>
    <p:sldId id="541" r:id="rId80"/>
    <p:sldId id="542" r:id="rId81"/>
    <p:sldId id="543" r:id="rId82"/>
    <p:sldId id="544" r:id="rId83"/>
    <p:sldId id="545" r:id="rId84"/>
    <p:sldId id="546" r:id="rId85"/>
    <p:sldId id="547" r:id="rId86"/>
    <p:sldId id="548" r:id="rId87"/>
    <p:sldId id="549" r:id="rId88"/>
    <p:sldId id="550" r:id="rId89"/>
    <p:sldId id="551" r:id="rId90"/>
    <p:sldId id="552" r:id="rId91"/>
    <p:sldId id="553" r:id="rId92"/>
    <p:sldId id="554" r:id="rId93"/>
    <p:sldId id="555" r:id="rId94"/>
    <p:sldId id="556" r:id="rId95"/>
    <p:sldId id="557" r:id="rId96"/>
    <p:sldId id="558" r:id="rId97"/>
    <p:sldId id="559" r:id="rId98"/>
    <p:sldId id="560" r:id="rId99"/>
    <p:sldId id="561" r:id="rId100"/>
    <p:sldId id="562" r:id="rId101"/>
    <p:sldId id="563" r:id="rId102"/>
    <p:sldId id="564" r:id="rId103"/>
    <p:sldId id="565" r:id="rId104"/>
    <p:sldId id="566" r:id="rId105"/>
    <p:sldId id="567" r:id="rId106"/>
    <p:sldId id="568" r:id="rId107"/>
    <p:sldId id="569" r:id="rId108"/>
    <p:sldId id="570" r:id="rId10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6C7C4-45FB-4F00-B181-D679E6E7E08B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6CEBF-94E5-46C0-8818-ECD82DFEC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7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BA091-9F9C-4734-836A-C5C3FE18A44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354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F8D9-A975-1BE7-4F26-1DD5C9CA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7D771F-C051-FE72-9B99-F5D0E83C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B13636-9B05-139A-EA5A-AD2CDF38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B5A2F6-2132-2ADC-D566-53C212F22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462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2A02-5EA9-CE94-B3CD-1064BC34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2F0806-6917-B92A-5B81-62959456E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13EB1-5C11-4588-E293-63E32E99E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68DD8A-263F-A981-1C00-4375BAC0A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462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061A-CCEB-46EF-DF0C-8FF13DDA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0B4835-D91E-6C09-7DA3-51034AF68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91D2D2-F240-D6F7-A8BD-65026495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3BF1E-2485-D401-63C9-0BEAA2F99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86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70F4-8904-BBF3-5CB6-B41138B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44E323-122E-05DD-44FA-8B60D8026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84691D-A084-1586-BB47-4131AFC45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C0D93-AA51-6328-0758-7BABF83E4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2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2179-5367-64BA-6922-3285CD21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207CE4-EEFD-917A-98D8-250A48425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5C6AF-66D5-EE58-2007-31B69B221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AB6A16-367F-D6E1-79A9-048F76C81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11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8705-7972-0590-9432-C54095A3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462B0D-D737-6156-565F-7076D0F8A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21EF0-C12A-B781-34BC-EF667B9D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22399-B901-DA36-BBF6-AF1282CB1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47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D04A-6534-8EA8-8CB5-F386F6BF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35492-7C60-0E3E-645C-A58EA05B9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D0A086-91D5-28A6-8AD4-F2C1011EF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84D9E-4D3E-3567-9BAF-0C37696D8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90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26483-AA83-01C6-98BA-A45DDB10D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8DAF0C-3279-DC32-DB74-24193369A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32FFC7-E18D-5425-80EA-6C53661B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E7DA6-D0E6-B451-6329-279F2EBE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907C9-D4BD-8F87-8617-00BC4C29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37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6A488-2AAF-FACE-BD2B-7BAA4673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D4825-61BC-F390-0855-2F8B3BB87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C1617-7477-031B-EAB4-B90433BF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E95D6-48E2-91C0-8859-6D30AD0B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54A6E-D670-8830-9935-0513E186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3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F42C5-D781-507B-D4A5-623F35F4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6007F-B0DD-06B2-7BEF-06BC566F8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13291-D312-49D1-8538-4B00F22E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BD22A-87EF-65B5-B770-1B0FF075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080AC-BC5C-35A7-2D1A-B7C59F0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02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03DE3-B8B2-BB21-93F9-8FA6EE8F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36DE-4BE4-00B3-312F-0B0AC0DDC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A7BA51-0B31-F30A-43B1-99150C262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691D2-D1E3-A7F7-6716-10070DD9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918241-A97F-EAD2-0233-D8B192EC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57499A-5148-3FB8-A664-D179E273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4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5C80A-7C60-21C8-9A43-F424CE3D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5C578-88A9-81B6-6D19-9A536530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43ECF9-6461-2974-7718-81F875B1D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A6A3B-BB90-3BE9-AC12-D8373DC3E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91933B-C947-8643-324B-70993D8F7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343739-BDB3-2EBB-C323-2B220225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440C1F-3EE6-A82F-FB3D-7202AF22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F9EB6F-F070-EC44-473B-80C61951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1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6F093-FC7F-A1EB-A843-BEF8BC32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8444AA-AA8C-AE7B-A416-9C87DA1B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86C295-E724-E8A9-D5CE-B4787B57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8B77FB-53D2-9B87-64F0-4C5BF60E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58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8AB3B7-0E94-1D54-3B0D-813EDB64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811DB0-617A-F93B-3729-FC905F2F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391CE-0464-CED9-CD39-FDB8D762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1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4916-9EAF-47E6-E88E-3D099CD1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8B364-5ACE-06A7-435A-37C231E1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D90466-02B2-268B-EEC9-6DC1AD755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4BBA4-0CF2-8AAC-8CE7-011895C2B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EA65E5-4AD5-9130-2DE6-E19258FF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01A5A7-C70D-8DA5-5004-45B35A28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BBDAB-EADB-90A3-F719-AEE973F7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BFA07A-8906-53A2-40B9-859EA7C65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CA514-4BE0-952F-21F7-FF825968E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FA6AA-29B6-91CB-02AC-32FAFB98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CC0EC-D300-DE17-9BA6-C70A6018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7BA19C-CBB8-1556-43C5-89948EA1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7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5F27-4BEC-6152-81F9-CBF734EA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DE6A9B-ACBB-48D5-FE2C-413DAD85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3DAB9-F282-E47E-26CE-6B4956BC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91171-8AED-A5E0-3C2A-F01EEDC8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3C082-EB4F-D191-4C0A-E536EA34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38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6E05E0-F229-EDFB-D73A-B083190E8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1AE47E-EC47-D0DB-9E16-363BBEF05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7E090-49D2-A6C5-322B-79B4965B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81E132-77BE-9917-F2C9-18B32B20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91BBD-8A41-C639-4ACD-1E8744BD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0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328581-07D1-9B8B-799D-CD7E4E2A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78332F-D3A9-E5DB-D5DC-43861859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518F3C-BE76-D8A1-7F09-E6084869D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01C4F-9929-4C55-AA67-174FC1B34F8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02D5C-CEB5-33F9-E781-DC2543045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D37AE-AD43-D5F7-EFDA-9A7DD242D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23ACA-1CB1-4FB9-B89A-2B5C73C86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0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.sourceforge.net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B7785-DC26-4923-B897-8D55CAD73C38}"/>
              </a:ext>
            </a:extLst>
          </p:cNvPr>
          <p:cNvSpPr txBox="1"/>
          <p:nvPr/>
        </p:nvSpPr>
        <p:spPr>
          <a:xfrm>
            <a:off x="2044700" y="2743199"/>
            <a:ext cx="880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/>
              <a:t>Expert</a:t>
            </a:r>
            <a:r>
              <a:rPr lang="ko-KR" altLang="en-US" sz="8000" dirty="0"/>
              <a:t> </a:t>
            </a:r>
            <a:r>
              <a:rPr lang="en-US" altLang="ko-KR" sz="8000" dirty="0"/>
              <a:t>project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1128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55B365-FA2A-4A5D-85CD-8DB15183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71C5F-96B5-4710-8C6A-15798A912B1C}"/>
              </a:ext>
            </a:extLst>
          </p:cNvPr>
          <p:cNvSpPr txBox="1"/>
          <p:nvPr/>
        </p:nvSpPr>
        <p:spPr>
          <a:xfrm>
            <a:off x="8890000" y="2050534"/>
            <a:ext cx="276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문서 파일 인코딩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B3853-15D9-4558-8BAD-C481C825A40C}"/>
              </a:ext>
            </a:extLst>
          </p:cNvPr>
          <p:cNvSpPr txBox="1"/>
          <p:nvPr/>
        </p:nvSpPr>
        <p:spPr>
          <a:xfrm>
            <a:off x="8890000" y="2327533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프로젝트 이름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A620D-6429-4FC2-8CE1-3B10C076515F}"/>
              </a:ext>
            </a:extLst>
          </p:cNvPr>
          <p:cNvSpPr txBox="1"/>
          <p:nvPr/>
        </p:nvSpPr>
        <p:spPr>
          <a:xfrm>
            <a:off x="7302500" y="2589143"/>
            <a:ext cx="749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프로젝트 버전</a:t>
            </a:r>
            <a:r>
              <a:rPr lang="en-US" altLang="ko-KR" sz="1100" dirty="0"/>
              <a:t>/</a:t>
            </a:r>
            <a:r>
              <a:rPr lang="ko-KR" altLang="en-US" sz="1100" dirty="0"/>
              <a:t>번호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806363-D77B-4E1D-BEBC-28D29EB830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0400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4853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C8D13F1-935C-4F45-A41E-3FE4F69C792F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2853283"/>
          <a:ext cx="10515600" cy="259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18613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간단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07426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8BE77A0-7084-495E-B199-6977DABFB0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1811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12138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B29E27-93E1-411E-9B59-EEB35CA48FBC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3175814"/>
          <a:ext cx="10515600" cy="259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92192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로고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84646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92191A7-D684-4FF5-B8DD-AB171DC2C84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99110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67397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26C974C-F222-48AC-A96C-D5B6231AE24C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4163728"/>
          <a:ext cx="2070100" cy="259080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val="3831547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아이콘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33403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8106F7-14D1-4A35-8834-CD046666C7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30552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345565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99C7D0E-727B-4F3A-9687-4A22A9D78788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5133165"/>
          <a:ext cx="2559050" cy="259080"/>
        </p:xfrm>
        <a:graphic>
          <a:graphicData uri="http://schemas.openxmlformats.org/drawingml/2006/table">
            <a:tbl>
              <a:tblPr/>
              <a:tblGrid>
                <a:gridCol w="2559050">
                  <a:extLst>
                    <a:ext uri="{9D8B030D-6E8A-4147-A177-3AD203B41FA5}">
                      <a16:colId xmlns:a16="http://schemas.microsoft.com/office/drawing/2014/main" val="1248787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출력 디렉터리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50855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744648F-48A7-4426-9F47-14470E8670E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384160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0369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6BD417F-BF4A-45EB-8830-15A2234728E7}"/>
              </a:ext>
            </a:extLst>
          </p:cNvPr>
          <p:cNvGraphicFramePr>
            <a:graphicFrameLocks noGrp="1"/>
          </p:cNvGraphicFramePr>
          <p:nvPr/>
        </p:nvGraphicFramePr>
        <p:xfrm>
          <a:off x="7607300" y="5439896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9931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하위 디렉터리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982057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28D7674-2A20-48A8-9C0A-FFBB81B5EC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08638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90301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DEB7F33-9706-434C-9D50-D92040EC7C84}"/>
              </a:ext>
            </a:extLst>
          </p:cNvPr>
          <p:cNvGraphicFramePr>
            <a:graphicFrameLocks noGrp="1"/>
          </p:cNvGraphicFramePr>
          <p:nvPr/>
        </p:nvGraphicFramePr>
        <p:xfrm>
          <a:off x="7607300" y="5695270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18608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하위 디렉터리 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3894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9CF3ADE-0ADD-4272-B8EC-ED2FE355A71A}"/>
              </a:ext>
            </a:extLst>
          </p:cNvPr>
          <p:cNvSpPr txBox="1"/>
          <p:nvPr/>
        </p:nvSpPr>
        <p:spPr>
          <a:xfrm>
            <a:off x="7607300" y="5954003"/>
            <a:ext cx="9061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유니코드 이름 허용</a:t>
            </a:r>
          </a:p>
        </p:txBody>
      </p:sp>
    </p:spTree>
    <p:extLst>
      <p:ext uri="{BB962C8B-B14F-4D97-AF65-F5344CB8AC3E}">
        <p14:creationId xmlns:p14="http://schemas.microsoft.com/office/powerpoint/2010/main" val="155730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AEC7-F8AC-44D8-9327-62EE9FF3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115AE-A2D6-41B6-BC21-AFA8A6B19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E974AB-FBED-49ED-83EF-EC979798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5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CB510-6C1F-4101-9386-75E04F5243F3}"/>
              </a:ext>
            </a:extLst>
          </p:cNvPr>
          <p:cNvSpPr txBox="1"/>
          <p:nvPr/>
        </p:nvSpPr>
        <p:spPr>
          <a:xfrm>
            <a:off x="6934200" y="180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출력 언어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DAA54-FF74-4E68-BB2B-5943501387DE}"/>
              </a:ext>
            </a:extLst>
          </p:cNvPr>
          <p:cNvSpPr txBox="1"/>
          <p:nvPr/>
        </p:nvSpPr>
        <p:spPr>
          <a:xfrm>
            <a:off x="4464050" y="604341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멤버 간단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0B502-A3CE-4A41-8686-12D98A30DE08}"/>
              </a:ext>
            </a:extLst>
          </p:cNvPr>
          <p:cNvSpPr txBox="1"/>
          <p:nvPr/>
        </p:nvSpPr>
        <p:spPr>
          <a:xfrm>
            <a:off x="4464050" y="1003042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간단한 설명 반복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02A0CB1-2965-4096-9340-1B331EBC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1375173"/>
            <a:ext cx="302999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같은 관사를 구분/축약하는 설정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960E0-E2C3-4E44-94C4-E9C8D8A2CB1B}"/>
              </a:ext>
            </a:extLst>
          </p:cNvPr>
          <p:cNvSpPr txBox="1"/>
          <p:nvPr/>
        </p:nvSpPr>
        <p:spPr>
          <a:xfrm>
            <a:off x="4337050" y="2793484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항상 상세 설명 섹션 표시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E9FF4-9F6C-40BF-B05C-BBFB75AF826F}"/>
              </a:ext>
            </a:extLst>
          </p:cNvPr>
          <p:cNvSpPr txBox="1"/>
          <p:nvPr/>
        </p:nvSpPr>
        <p:spPr>
          <a:xfrm>
            <a:off x="4337050" y="3089692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상속된 멤버를 인라인으로 표시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7F1F2-DC44-403E-80D4-FF03C56D3E4B}"/>
              </a:ext>
            </a:extLst>
          </p:cNvPr>
          <p:cNvSpPr txBox="1"/>
          <p:nvPr/>
        </p:nvSpPr>
        <p:spPr>
          <a:xfrm>
            <a:off x="4337050" y="3409295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전체 경로 이름 사용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DB599-3B74-4A00-B3FE-1F7EE3310F37}"/>
              </a:ext>
            </a:extLst>
          </p:cNvPr>
          <p:cNvSpPr txBox="1"/>
          <p:nvPr/>
        </p:nvSpPr>
        <p:spPr>
          <a:xfrm>
            <a:off x="3943350" y="3843844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경로에서 제거할 부분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0AFE91D-59EF-4365-AD2E-851C2BBF6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</a:t>
            </a:r>
            <a:r>
              <a: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경로에서 제거할 부분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02AFC7B-5360-46BD-B5BB-A497E435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5381345"/>
            <a:ext cx="2909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경로에서 제거할 부분 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31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82551-044D-4163-A8FD-BAC2339C0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5A330067-E8A3-4853-91F1-AF066F31AC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13394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891058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3EB99EC-1013-4CDF-AB50-2C02EF4E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7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48CA54-0094-4B68-8DC9-B4BD31ADB91C}"/>
              </a:ext>
            </a:extLst>
          </p:cNvPr>
          <p:cNvSpPr txBox="1"/>
          <p:nvPr/>
        </p:nvSpPr>
        <p:spPr>
          <a:xfrm>
            <a:off x="4279900" y="112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문서 파일 이름을 짧게 생성할지 설정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7229E-4870-47B3-B956-B51FDD29DE6C}"/>
              </a:ext>
            </a:extLst>
          </p:cNvPr>
          <p:cNvSpPr txBox="1"/>
          <p:nvPr/>
        </p:nvSpPr>
        <p:spPr>
          <a:xfrm>
            <a:off x="4279900" y="432594"/>
            <a:ext cx="618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Javadoc </a:t>
            </a:r>
            <a:r>
              <a:rPr lang="ko-KR" altLang="en-US" dirty="0"/>
              <a:t>형식 주석의 첫 문장을 자동으로 요약문으로 처리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32758F-B5FB-454F-809F-BC181FD9876F}"/>
              </a:ext>
            </a:extLst>
          </p:cNvPr>
          <p:cNvGraphicFramePr>
            <a:graphicFrameLocks noGrp="1"/>
          </p:cNvGraphicFramePr>
          <p:nvPr/>
        </p:nvGraphicFramePr>
        <p:xfrm>
          <a:off x="4279900" y="801291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2081927"/>
                    </a:ext>
                  </a:extLst>
                </a:gridCol>
              </a:tblGrid>
              <a:tr h="173514">
                <a:tc>
                  <a:txBody>
                    <a:bodyPr/>
                    <a:lstStyle/>
                    <a:p>
                      <a:r>
                        <a:rPr lang="en-US" altLang="ko-KR" dirty="0"/>
                        <a:t>Javadoc </a:t>
                      </a:r>
                      <a:r>
                        <a:rPr lang="ko-KR" altLang="en-US" dirty="0"/>
                        <a:t>주석에서 배너 형태를 허용할지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7234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6E99CD-D8A3-4FCE-AE27-CDD0366C5712}"/>
              </a:ext>
            </a:extLst>
          </p:cNvPr>
          <p:cNvSpPr txBox="1"/>
          <p:nvPr/>
        </p:nvSpPr>
        <p:spPr>
          <a:xfrm>
            <a:off x="4279900" y="1130737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Qt </a:t>
            </a:r>
            <a:r>
              <a:rPr lang="ko-KR" altLang="en-US" dirty="0"/>
              <a:t>스타일 주석의 첫 문장을 자동으로 요약문으로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F041F-1D3B-4312-821E-97BF13ED845A}"/>
              </a:ext>
            </a:extLst>
          </p:cNvPr>
          <p:cNvSpPr txBox="1"/>
          <p:nvPr/>
        </p:nvSpPr>
        <p:spPr>
          <a:xfrm>
            <a:off x="4216400" y="149586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여러 줄 </a:t>
            </a:r>
            <a:r>
              <a:rPr lang="en-US" altLang="ko-KR" dirty="0"/>
              <a:t>C++ </a:t>
            </a:r>
            <a:r>
              <a:rPr lang="ko-KR" altLang="en-US" dirty="0"/>
              <a:t>주석을 요약으로 </a:t>
            </a:r>
            <a:r>
              <a:rPr lang="en-US" altLang="ko-KR" dirty="0"/>
              <a:t>///</a:t>
            </a:r>
            <a:r>
              <a:rPr lang="ko-KR" altLang="en-US" dirty="0"/>
              <a:t>또는 </a:t>
            </a:r>
            <a:r>
              <a:rPr lang="en-US" altLang="ko-KR" dirty="0"/>
              <a:t>/** */</a:t>
            </a:r>
            <a:endParaRPr lang="ko-KR" alt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D3322A9-BD28-482E-97A1-1DFA83B2B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1821936"/>
            <a:ext cx="47644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""" 설명 """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같은 문서 주석을 인식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7061E8-ACB6-432C-A7C3-12357EFD6C30}"/>
              </a:ext>
            </a:extLst>
          </p:cNvPr>
          <p:cNvSpPr txBox="1"/>
          <p:nvPr/>
        </p:nvSpPr>
        <p:spPr>
          <a:xfrm>
            <a:off x="4216400" y="2200553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부모 클래스</a:t>
            </a:r>
            <a:r>
              <a:rPr lang="en-US" altLang="ko-KR" dirty="0"/>
              <a:t>/</a:t>
            </a:r>
            <a:r>
              <a:rPr lang="ko-KR" altLang="en-US" dirty="0"/>
              <a:t>함수의 문서 설명을 자식이 자동으로 상속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B05209-2848-4D30-A4BF-D3EA1CBC60BE}"/>
              </a:ext>
            </a:extLst>
          </p:cNvPr>
          <p:cNvSpPr txBox="1"/>
          <p:nvPr/>
        </p:nvSpPr>
        <p:spPr>
          <a:xfrm>
            <a:off x="4216400" y="2559130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클래스의 멤버 함수</a:t>
            </a:r>
            <a:r>
              <a:rPr lang="en-US" altLang="ko-KR" dirty="0"/>
              <a:t>/</a:t>
            </a:r>
            <a:r>
              <a:rPr lang="ko-KR" altLang="en-US" dirty="0"/>
              <a:t>변수마다 별도의 페이지를 만들지 설정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7CF64-2806-4605-9CFF-D2059CF775AB}"/>
              </a:ext>
            </a:extLst>
          </p:cNvPr>
          <p:cNvSpPr txBox="1"/>
          <p:nvPr/>
        </p:nvSpPr>
        <p:spPr>
          <a:xfrm>
            <a:off x="4279900" y="2917031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탭</a:t>
            </a:r>
            <a:r>
              <a:rPr lang="en-US" altLang="ko-KR" dirty="0"/>
              <a:t>(Tab) </a:t>
            </a:r>
            <a:r>
              <a:rPr lang="ko-KR" altLang="en-US" dirty="0"/>
              <a:t>하나를 </a:t>
            </a:r>
            <a:r>
              <a:rPr lang="ko-KR" altLang="en-US" b="1" dirty="0"/>
              <a:t>공백 </a:t>
            </a:r>
            <a:r>
              <a:rPr lang="en-US" altLang="ko-KR" b="1" dirty="0"/>
              <a:t>4</a:t>
            </a:r>
            <a:r>
              <a:rPr lang="ko-KR" altLang="en-US" b="1" dirty="0"/>
              <a:t>칸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A8A4BD-E137-466E-AD44-3C56613E576A}"/>
              </a:ext>
            </a:extLst>
          </p:cNvPr>
          <p:cNvSpPr txBox="1"/>
          <p:nvPr/>
        </p:nvSpPr>
        <p:spPr>
          <a:xfrm>
            <a:off x="3810000" y="3462971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ALIASES = </a:t>
            </a:r>
            <a:r>
              <a:rPr lang="ko-KR" altLang="en-US" dirty="0"/>
              <a:t>별칭</a:t>
            </a:r>
            <a:r>
              <a:rPr lang="en-US" altLang="ko-KR" dirty="0"/>
              <a:t>(</a:t>
            </a:r>
            <a:r>
              <a:rPr lang="ko-KR" altLang="en-US" dirty="0"/>
              <a:t>사용자 정의 명령어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B01E8-86C0-4D0D-A075-18FC1C04A2F2}"/>
              </a:ext>
            </a:extLst>
          </p:cNvPr>
          <p:cNvSpPr txBox="1"/>
          <p:nvPr/>
        </p:nvSpPr>
        <p:spPr>
          <a:xfrm>
            <a:off x="4216400" y="498842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 </a:t>
            </a:r>
            <a:r>
              <a:rPr lang="ko-KR" altLang="en-US" dirty="0"/>
              <a:t>언어 코드에 맞게 문서 출력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EB573B-F30B-4DC4-9E2A-5CEC55B976B1}"/>
              </a:ext>
            </a:extLst>
          </p:cNvPr>
          <p:cNvSpPr txBox="1"/>
          <p:nvPr/>
        </p:nvSpPr>
        <p:spPr>
          <a:xfrm>
            <a:off x="4216400" y="531592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Java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35B857-A93F-474F-9222-07AB5766F06F}"/>
              </a:ext>
            </a:extLst>
          </p:cNvPr>
          <p:cNvSpPr txBox="1"/>
          <p:nvPr/>
        </p:nvSpPr>
        <p:spPr>
          <a:xfrm>
            <a:off x="4216400" y="5685254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Fortran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F68116-1B3F-43F7-A3BA-EFD1CBFB01E4}"/>
              </a:ext>
            </a:extLst>
          </p:cNvPr>
          <p:cNvSpPr txBox="1"/>
          <p:nvPr/>
        </p:nvSpPr>
        <p:spPr>
          <a:xfrm>
            <a:off x="4216400" y="606646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VHDL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1211A3-5447-4DC9-8537-55AF0ADFD48C}"/>
              </a:ext>
            </a:extLst>
          </p:cNvPr>
          <p:cNvSpPr txBox="1"/>
          <p:nvPr/>
        </p:nvSpPr>
        <p:spPr>
          <a:xfrm>
            <a:off x="4216400" y="6392107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Slice </a:t>
            </a:r>
            <a:r>
              <a:rPr lang="ko-KR" altLang="en-US" dirty="0"/>
              <a:t>언어 코드에 맞게 문서 출력</a:t>
            </a:r>
          </a:p>
        </p:txBody>
      </p:sp>
    </p:spTree>
    <p:extLst>
      <p:ext uri="{BB962C8B-B14F-4D97-AF65-F5344CB8AC3E}">
        <p14:creationId xmlns:p14="http://schemas.microsoft.com/office/powerpoint/2010/main" val="3921665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CD34C-4444-4ABB-B1C1-5509A210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58D922FD-44DC-4F03-9AC4-F19A85323C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32124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4109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9702D26-AF72-4EEC-8FC5-5EB29160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BFBB9-90DB-4D98-B016-6353E46C1D6A}"/>
              </a:ext>
            </a:extLst>
          </p:cNvPr>
          <p:cNvSpPr txBox="1"/>
          <p:nvPr/>
        </p:nvSpPr>
        <p:spPr>
          <a:xfrm>
            <a:off x="3943350" y="230188"/>
            <a:ext cx="6184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Markdown </a:t>
            </a:r>
            <a:r>
              <a:rPr lang="ko-KR" altLang="en-US" sz="1600"/>
              <a:t>문법을 </a:t>
            </a:r>
            <a:r>
              <a:rPr lang="en-US" altLang="ko-KR" sz="1600"/>
              <a:t>Doxygen </a:t>
            </a:r>
            <a:r>
              <a:rPr lang="ko-KR" altLang="en-US" sz="1600"/>
              <a:t>문서에서 사용할 수 있게 함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19B0C-17A8-4BB7-A570-F771785D90D2}"/>
              </a:ext>
            </a:extLst>
          </p:cNvPr>
          <p:cNvSpPr txBox="1"/>
          <p:nvPr/>
        </p:nvSpPr>
        <p:spPr>
          <a:xfrm>
            <a:off x="4330700" y="2228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Markdown </a:t>
            </a:r>
            <a:r>
              <a:rPr lang="ko-KR" altLang="en-US" dirty="0"/>
              <a:t>문법을 </a:t>
            </a:r>
            <a:r>
              <a:rPr lang="en-US" altLang="ko-KR" dirty="0" err="1"/>
              <a:t>Doxygen</a:t>
            </a:r>
            <a:r>
              <a:rPr lang="en-US" altLang="ko-KR" dirty="0"/>
              <a:t> </a:t>
            </a:r>
            <a:r>
              <a:rPr lang="ko-KR" altLang="en-US" dirty="0"/>
              <a:t>문서에서 사용할 수 있게 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EDDD4-D30C-4503-9829-36CCD69CDB85}"/>
              </a:ext>
            </a:extLst>
          </p:cNvPr>
          <p:cNvSpPr txBox="1"/>
          <p:nvPr/>
        </p:nvSpPr>
        <p:spPr>
          <a:xfrm>
            <a:off x="4330700" y="26755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Markdown </a:t>
            </a:r>
            <a:r>
              <a:rPr lang="ko-KR" altLang="en-US" dirty="0"/>
              <a:t>문법을 좀 더 엄격하게 적용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B02C71E-E666-4E16-8CD9-40E9C23CE8A9}"/>
              </a:ext>
            </a:extLst>
          </p:cNvPr>
          <p:cNvGraphicFramePr>
            <a:graphicFrameLocks noGrp="1"/>
          </p:cNvGraphicFramePr>
          <p:nvPr/>
        </p:nvGraphicFramePr>
        <p:xfrm>
          <a:off x="4330700" y="318835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5958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문서의 제목</a:t>
                      </a:r>
                      <a:r>
                        <a:rPr lang="en-US" altLang="ko-KR" dirty="0"/>
                        <a:t>(Heading)</a:t>
                      </a:r>
                      <a:r>
                        <a:rPr lang="ko-KR" altLang="en-US" dirty="0"/>
                        <a:t>을 목차</a:t>
                      </a:r>
                      <a:r>
                        <a:rPr lang="en-US" altLang="ko-KR" dirty="0"/>
                        <a:t>(TOC)</a:t>
                      </a:r>
                      <a:r>
                        <a:rPr lang="ko-KR" altLang="en-US" dirty="0"/>
                        <a:t>에 포함할 단계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5260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79D980A-1615-454C-8906-D6612B0118D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01813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58585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1622ED2-F516-471D-8D30-425877AC3CBA}"/>
              </a:ext>
            </a:extLst>
          </p:cNvPr>
          <p:cNvGraphicFramePr>
            <a:graphicFrameLocks noGrp="1"/>
          </p:cNvGraphicFramePr>
          <p:nvPr/>
        </p:nvGraphicFramePr>
        <p:xfrm>
          <a:off x="5842000" y="377904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90672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Markdown </a:t>
                      </a:r>
                      <a:r>
                        <a:rPr lang="ko-KR" altLang="en-US" dirty="0"/>
                        <a:t>제목 등에 생성되는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의 형식을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45735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4A6D288-1705-4556-A7DC-8FD4A80F8AD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51055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35358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DAF4445-8559-4ABF-AE1C-86E0C423E689}"/>
              </a:ext>
            </a:extLst>
          </p:cNvPr>
          <p:cNvGraphicFramePr>
            <a:graphicFrameLocks noGrp="1"/>
          </p:cNvGraphicFramePr>
          <p:nvPr/>
        </p:nvGraphicFramePr>
        <p:xfrm>
          <a:off x="4330700" y="432768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34863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코드에서 클래스명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함수명</a:t>
                      </a:r>
                      <a:r>
                        <a:rPr lang="ko-KR" altLang="en-US" dirty="0"/>
                        <a:t> 등을 자동으로 링크로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7997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6A331B2-8E95-4BA7-BCB9-58698AC4AD0D}"/>
              </a:ext>
            </a:extLst>
          </p:cNvPr>
          <p:cNvSpPr txBox="1"/>
          <p:nvPr/>
        </p:nvSpPr>
        <p:spPr>
          <a:xfrm>
            <a:off x="3943350" y="4987905"/>
            <a:ext cx="817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자동 링크로 만들지 않을 단어를 지정</a:t>
            </a:r>
          </a:p>
        </p:txBody>
      </p:sp>
    </p:spTree>
    <p:extLst>
      <p:ext uri="{BB962C8B-B14F-4D97-AF65-F5344CB8AC3E}">
        <p14:creationId xmlns:p14="http://schemas.microsoft.com/office/powerpoint/2010/main" val="190367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377E-D072-4078-B7B0-3543F2D7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D8AEC0-BA83-4007-8664-A8A909C898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600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044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89F68C-B30F-4916-9578-598DE28A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3CCCCA6-FEB5-4B5F-B21E-ECDDB59D356F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18224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9066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C++ STL(Standard Template Library)</a:t>
                      </a:r>
                      <a:r>
                        <a:rPr lang="ko-KR" altLang="en-US" dirty="0"/>
                        <a:t>을 </a:t>
                      </a:r>
                      <a:r>
                        <a:rPr lang="en-US" dirty="0" err="1"/>
                        <a:t>Doxygen</a:t>
                      </a:r>
                      <a:r>
                        <a:rPr lang="ko-KR" altLang="en-US" dirty="0"/>
                        <a:t>이 인식하도록 지원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6723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C78839-40CA-4A6D-A85B-F57818AEFB4B}"/>
              </a:ext>
            </a:extLst>
          </p:cNvPr>
          <p:cNvSpPr txBox="1"/>
          <p:nvPr/>
        </p:nvSpPr>
        <p:spPr>
          <a:xfrm>
            <a:off x="4216400" y="56534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C++/CLI </a:t>
            </a:r>
            <a:r>
              <a:rPr lang="ko-KR" altLang="en-US"/>
              <a:t>문법을 인식하도록 지원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B5F6-ED00-4BCE-88BC-807EEF0ABE39}"/>
              </a:ext>
            </a:extLst>
          </p:cNvPr>
          <p:cNvSpPr txBox="1"/>
          <p:nvPr/>
        </p:nvSpPr>
        <p:spPr>
          <a:xfrm>
            <a:off x="4216400" y="112801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SIP</a:t>
            </a:r>
            <a:r>
              <a:rPr lang="ko-KR" altLang="en-US" dirty="0"/>
              <a:t>로 작성된 </a:t>
            </a:r>
            <a:r>
              <a:rPr lang="en-US" altLang="ko-KR" dirty="0"/>
              <a:t>Python/C++ </a:t>
            </a:r>
            <a:r>
              <a:rPr lang="ko-KR" altLang="en-US" dirty="0"/>
              <a:t>바인딩 코드를 지원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F066BF7-191A-4B90-85E3-E5D83310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1631436"/>
            <a:ext cx="3776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IDL의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property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인식하도록 지원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4D9A883-6EDB-43AB-AA9D-77CFF9F02B2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41356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42872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E40B681-E3FF-4870-835A-3751416E84D0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213485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08218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같은 그룹에 속한 멤버에게 그룹 설명을 분배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0127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4AC034A-A4A6-4A11-8A41-6A44777286B1}"/>
              </a:ext>
            </a:extLst>
          </p:cNvPr>
          <p:cNvSpPr txBox="1"/>
          <p:nvPr/>
        </p:nvSpPr>
        <p:spPr>
          <a:xfrm>
            <a:off x="4216400" y="2559375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클래스 안의 클래스 등 중첩된 요소를 그룹으로 묶음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947B5B-6EE1-4A3C-8C05-F53782BC0AC6}"/>
              </a:ext>
            </a:extLst>
          </p:cNvPr>
          <p:cNvSpPr txBox="1"/>
          <p:nvPr/>
        </p:nvSpPr>
        <p:spPr>
          <a:xfrm>
            <a:off x="4216400" y="297484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그룹 안의 클래스</a:t>
            </a:r>
            <a:r>
              <a:rPr lang="en-US" altLang="ko-KR" dirty="0"/>
              <a:t>/</a:t>
            </a:r>
            <a:r>
              <a:rPr lang="ko-KR" altLang="en-US" dirty="0"/>
              <a:t>함수 등을 하위 그룹으로 나눔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07B5D-1E49-446A-BD65-7BACBEF3AC09}"/>
              </a:ext>
            </a:extLst>
          </p:cNvPr>
          <p:cNvSpPr txBox="1"/>
          <p:nvPr/>
        </p:nvSpPr>
        <p:spPr>
          <a:xfrm>
            <a:off x="4216400" y="3491377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그룹에 속한 클래스를 별도 페이지가 아니라 그룹 페이지에 바로 표시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3B29A6F-6AEF-4757-AF8C-06C69D1B1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3892035"/>
            <a:ext cx="65453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간단한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struct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별도 문서가 아니라 현재 페이지에 바로 표시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D890C34-B163-4FEB-84A8-B1712D0D46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5271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12155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81962C9-C6FD-4B09-9491-249A97F219AF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4346743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4522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typedef </a:t>
                      </a:r>
                      <a:r>
                        <a:rPr lang="ko-KR" altLang="en-US" dirty="0"/>
                        <a:t>이름이 원래 </a:t>
                      </a:r>
                      <a:r>
                        <a:rPr lang="en-US" altLang="ko-KR" dirty="0"/>
                        <a:t>struct </a:t>
                      </a:r>
                      <a:r>
                        <a:rPr lang="ko-KR" altLang="en-US" dirty="0"/>
                        <a:t>이름을 대신하도록 처리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04922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5666F2D-A153-4E85-8DF5-3EE018E48A2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70998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810988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B3ED042-E7CD-40D4-B15F-65AFC63C4B1A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492478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73237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Doxygen</a:t>
                      </a:r>
                      <a:r>
                        <a:rPr lang="ko-KR" altLang="en-US" dirty="0"/>
                        <a:t>이 이름을 찾을 때 사용하는 캐시 크기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4193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332073B-2AD1-4404-9DF8-B42EA004DF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986483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16246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F12BD75-AD75-41A5-9B31-DADEEDB98B9A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5532186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27759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Doxygen</a:t>
                      </a:r>
                      <a:r>
                        <a:rPr lang="ko-KR" altLang="en-US" dirty="0"/>
                        <a:t>이 문서를 생성할 때 사용할 작업 스레드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313706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62BFCD8D-E1E0-443B-8358-3607D27A5A22}"/>
              </a:ext>
            </a:extLst>
          </p:cNvPr>
          <p:cNvSpPr txBox="1"/>
          <p:nvPr/>
        </p:nvSpPr>
        <p:spPr>
          <a:xfrm>
            <a:off x="5651500" y="6182176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생성된 문서에 생성 시간을 표시할지 설정</a:t>
            </a:r>
          </a:p>
        </p:txBody>
      </p:sp>
    </p:spTree>
    <p:extLst>
      <p:ext uri="{BB962C8B-B14F-4D97-AF65-F5344CB8AC3E}">
        <p14:creationId xmlns:p14="http://schemas.microsoft.com/office/powerpoint/2010/main" val="116613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EC7DF-0378-6E1F-CFBB-62A7A0221382}"/>
              </a:ext>
            </a:extLst>
          </p:cNvPr>
          <p:cNvSpPr txBox="1"/>
          <p:nvPr/>
        </p:nvSpPr>
        <p:spPr>
          <a:xfrm>
            <a:off x="1732547" y="1780674"/>
            <a:ext cx="877102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</a:t>
            </a:r>
            <a:r>
              <a:rPr lang="en-US" altLang="ko-KR" sz="11500" dirty="0" err="1"/>
              <a:t>Bulid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45988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769772-4D25-2F4A-F662-771797C3E7F7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637DC1-C5D7-E338-2548-8C863D4B8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B014A31-4C06-F0E2-96A9-014CE506F4EC}"/>
              </a:ext>
            </a:extLst>
          </p:cNvPr>
          <p:cNvSpPr/>
          <p:nvPr/>
        </p:nvSpPr>
        <p:spPr>
          <a:xfrm>
            <a:off x="2555368" y="1036320"/>
            <a:ext cx="1638300" cy="8763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A436E9-0B8B-35C9-EAB3-7F52B20369B2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EXTRACT_ALL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문서화 주석이 없는 코드 요소도 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EXTRACT_PRIVATE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PRIVATE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접근 지정자로 선언된 클래스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EXTRACT_PRIV_VIRTUAL : PRIVATE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접근 지정자로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선언된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virtual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EXTRACT_PACKAGE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Java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package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접근 수준의 클래스나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EXTRACT_STATIC : static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선언된 클래스 멤버나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전역 함수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등을 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523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3FED-EA62-8161-CD58-3E28CD93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486BE9-EC79-51BA-FA26-734395867FF5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7A4B0C-97DB-9148-F648-FA9C1B6B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CF2A6EF-26E3-D7FF-6660-678CD8643BDA}"/>
              </a:ext>
            </a:extLst>
          </p:cNvPr>
          <p:cNvSpPr/>
          <p:nvPr/>
        </p:nvSpPr>
        <p:spPr>
          <a:xfrm>
            <a:off x="2555368" y="1901952"/>
            <a:ext cx="1638300" cy="701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175F02-1F18-52E5-FD27-51791E2E7A84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EXTRACT_LOCAL_CLASSES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내부에 정의된 지역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EXTRACT_LOCAL_METHODS :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내부에서 정의된 로컬 메서드를 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EXTRACT_ANON_NSPACES : C++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익명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namespace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안에 있는 요소를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포함할지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RESOLVE_UNNAMED_PARAMS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함수의 이름이 없는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매개변수를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어떻게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처리할지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(YES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추론하여 처리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</p:txBody>
      </p:sp>
    </p:spTree>
    <p:extLst>
      <p:ext uri="{BB962C8B-B14F-4D97-AF65-F5344CB8AC3E}">
        <p14:creationId xmlns:p14="http://schemas.microsoft.com/office/powerpoint/2010/main" val="309547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DCC2-911E-173C-A779-1E62DC2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A810DA-69ED-49BD-1B60-D7603B848E0A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7AD7D3-A524-27E6-EDE1-DABEC6AC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39EC6C0-0A4D-B833-562C-EA4818FC8287}"/>
              </a:ext>
            </a:extLst>
          </p:cNvPr>
          <p:cNvSpPr/>
          <p:nvPr/>
        </p:nvSpPr>
        <p:spPr>
          <a:xfrm>
            <a:off x="2555368" y="2590800"/>
            <a:ext cx="1638300" cy="838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29F38B-723B-1F76-BF3B-C89E0A2FACDC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HIDE_UNDOC_MEMBERS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없는 클래스의 멤버를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HIDE_UNDOC_CLASSES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없는 클래스를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HIDE_UNDOC_NAMESPACES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없는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HIDE_FRIEND_COMPOUNDS : friend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선언으로 인해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표시되는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compound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HIDE_IN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_BODY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_DOCS :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함수의 본문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안에서 작성된 문서화 주석을 문서에서 숨길지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688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97F6-85A5-B64B-AD42-89FB20B1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2A1227-7927-AF3F-BAAB-9AF76250AEA2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F2979F-F7F6-3C88-22B1-6BFCCD9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0E91D0C-71C4-2030-951D-66A64ED254A1}"/>
              </a:ext>
            </a:extLst>
          </p:cNvPr>
          <p:cNvSpPr/>
          <p:nvPr/>
        </p:nvSpPr>
        <p:spPr>
          <a:xfrm>
            <a:off x="2555368" y="3429000"/>
            <a:ext cx="2128392" cy="74676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B7E279-C8DD-1D36-0F57-683D6960B2F7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INTERNAL_DOCS : internal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표시된 문서 내용을 일반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포함할지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CASE_SENSE_NAMES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변수 등의 이름을 검색하거나 참조할 때 대소문자를 구분할지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SYSTEM)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HIDE_SCOPE_NAMES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scope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이름을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HIDE_COMPOUND_REFERENCE : compound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대한 참조 정보를 문서에서 숨길지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설정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799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44CD-4C80-D37E-5A5B-BBA6C56A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4C4733-09E9-7B7A-C971-B85C558939F2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5C79CE-E40B-7653-BEA6-3932453A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C08138F-B167-3B8D-857C-F3EB94FCC5F5}"/>
              </a:ext>
            </a:extLst>
          </p:cNvPr>
          <p:cNvSpPr/>
          <p:nvPr/>
        </p:nvSpPr>
        <p:spPr>
          <a:xfrm>
            <a:off x="2555368" y="4160520"/>
            <a:ext cx="1701672" cy="86868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1D8094-CB40-08B1-736D-1F2BFC88B326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SHOW_HEADERFILE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구조체가 어떤 헤더 파일에 정의되어 있는지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SHOW_INCLUDE_FILES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파일에서 어떤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파일을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#include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하고 있는지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SHOW_GROUPED_MEMB_INC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그룹으로 묶인 멤버에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대해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include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정보를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FORCE_LOCAL_INCLUDES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헤더 파일을 표시할 때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로컬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include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형식을 강제로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INLINE_INFO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함수가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inline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선언되었는지 여부를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93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1986-D1B3-AF1D-58B2-27E4AEFB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5732D2-002A-CCA8-BDDD-6BD7B9BFA7B3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9371A3-6A0D-77FE-07DE-1D0398B4B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80" y="719475"/>
            <a:ext cx="5257189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DEE312-6B10-0414-6A5F-B554558CA49C}"/>
              </a:ext>
            </a:extLst>
          </p:cNvPr>
          <p:cNvSpPr/>
          <p:nvPr/>
        </p:nvSpPr>
        <p:spPr>
          <a:xfrm>
            <a:off x="2555368" y="1000760"/>
            <a:ext cx="1701672" cy="10414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46CE6E-DCF4-3B88-5DCA-3826D76014D9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SORT_MEMBER_DOCS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멤버 함수와 변수 등을 이름순으로 정렬할지 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SORT_BRIEF_DOCS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멤버의 간단한 설명을 이름순으로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SORT_MEMBERS_CTORS_1st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멤버 목록에서 생성자를 가장 먼저 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baseline="30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SORT_GROUP_NAMES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문서의 그룹을 이름순으로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SORT_BY_SCOPE_NAME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scope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포함한 전체 이름을 기준으로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STRICT_PROTO_MATCHING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선언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프로토타입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함수 정의를 연결할 때 매개변수 타입까지 엄격하게 일치하는지 확인할지 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7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E808-FADE-15E7-2730-C4A8641E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C5C3DA-02D8-EE9B-FE24-5108B1DB6B14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BDFC7D-CA67-7BE1-C3AB-C13F144AC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80" y="719475"/>
            <a:ext cx="5257189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4B5B11C-833A-06DC-8886-2EF6B9A70174}"/>
              </a:ext>
            </a:extLst>
          </p:cNvPr>
          <p:cNvSpPr/>
          <p:nvPr/>
        </p:nvSpPr>
        <p:spPr>
          <a:xfrm>
            <a:off x="2555368" y="2042160"/>
            <a:ext cx="1701672" cy="8534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899931-E175-74B2-24F5-41D2790B9CD2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GENERATE_TODOLIST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todo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Todo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GENERATE_TESTLIST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\test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Test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GENERATE_BUGLIST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\bug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Bug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GENERATE_DEPRECATEDLIST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\deprecated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표시한 요소를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Deprecated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GENERATE_REQUIREMENTS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\req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사용해 작성한 요구사항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(Requirements)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</p:txBody>
      </p:sp>
    </p:spTree>
    <p:extLst>
      <p:ext uri="{BB962C8B-B14F-4D97-AF65-F5344CB8AC3E}">
        <p14:creationId xmlns:p14="http://schemas.microsoft.com/office/powerpoint/2010/main" val="2239619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2AAB-8A2A-C03A-6898-AE3B6B85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4B1F00-D45B-D03B-96E3-704A7A06C5BE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7913D0-0B8D-F90D-FD8D-E820082CC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359" y="719475"/>
            <a:ext cx="5213830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67D9EE-DA77-1F6A-155D-20534B0EF5E7}"/>
              </a:ext>
            </a:extLst>
          </p:cNvPr>
          <p:cNvSpPr/>
          <p:nvPr/>
        </p:nvSpPr>
        <p:spPr>
          <a:xfrm>
            <a:off x="2555368" y="3505200"/>
            <a:ext cx="3073272" cy="2225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34B122-04C5-6253-91A2-E06CC90513A1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FILE_VERSION_FILTER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파일의 버전 정보를 가져올 때 사용할 외부 명령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스크립트를 지정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LAYOUT_FILE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문서의 화면 구성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(Layout)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사용자 정의할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XML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파일을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CITE_BIB_FILES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사용할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BibTeX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참고문헌 파일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(.bib)**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EXTERNAL_TOOL_PATH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문서를 생성할 때 사용하는 외부 프로그램이나 도구의 경로를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629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F73F93-9ABE-DE60-B5B4-B3465B36D749}"/>
              </a:ext>
            </a:extLst>
          </p:cNvPr>
          <p:cNvSpPr txBox="1"/>
          <p:nvPr/>
        </p:nvSpPr>
        <p:spPr>
          <a:xfrm>
            <a:off x="1335505" y="2370222"/>
            <a:ext cx="87710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dirty="0"/>
              <a:t>Expert Messages</a:t>
            </a:r>
            <a:endParaRPr lang="ko-KR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375634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228278-9DEC-FCFF-7335-2C4C3A43F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6A67B-B14A-ECF7-9A70-CB951E123F11}"/>
              </a:ext>
            </a:extLst>
          </p:cNvPr>
          <p:cNvSpPr txBox="1"/>
          <p:nvPr/>
        </p:nvSpPr>
        <p:spPr>
          <a:xfrm>
            <a:off x="1379825" y="2394777"/>
            <a:ext cx="25271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/>
              <a:t>문서를 생성할 때 어떤 경고 메시지를 출력할지 설정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73E9D-ACAD-5413-5A23-D219CA04A9F5}"/>
              </a:ext>
            </a:extLst>
          </p:cNvPr>
          <p:cNvSpPr txBox="1"/>
          <p:nvPr/>
        </p:nvSpPr>
        <p:spPr>
          <a:xfrm>
            <a:off x="7494297" y="2610193"/>
            <a:ext cx="4448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@param에 존재하지 않는 매개변수를 적었거나</a:t>
            </a:r>
            <a:r>
              <a:rPr lang="en-US" altLang="ko-KR" sz="1000" dirty="0"/>
              <a:t> </a:t>
            </a:r>
            <a:r>
              <a:rPr lang="ko-KR" altLang="ko-KR" sz="1000" dirty="0"/>
              <a:t>문법을 잘못 썼을 때 경고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A4EF0-F73E-A1C1-6AEE-FA8704EB6D19}"/>
              </a:ext>
            </a:extLst>
          </p:cNvPr>
          <p:cNvSpPr txBox="1"/>
          <p:nvPr/>
        </p:nvSpPr>
        <p:spPr>
          <a:xfrm>
            <a:off x="7494298" y="2187274"/>
            <a:ext cx="3845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 기능 자체를 켤지 끌지 (이게 꺼지면 아래 항목들 다 무의미)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F5430-D55B-8245-4C0D-E45D1CC5569C}"/>
              </a:ext>
            </a:extLst>
          </p:cNvPr>
          <p:cNvSpPr txBox="1"/>
          <p:nvPr/>
        </p:nvSpPr>
        <p:spPr>
          <a:xfrm>
            <a:off x="7494298" y="1998121"/>
            <a:ext cx="41871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켜면 진행 상황 메시지까지 다 숨김 (에러/경고만 빼고 조용하게)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78EC6-E3DE-D836-788C-7FAE2BC2EDEB}"/>
              </a:ext>
            </a:extLst>
          </p:cNvPr>
          <p:cNvSpPr txBox="1"/>
          <p:nvPr/>
        </p:nvSpPr>
        <p:spPr>
          <a:xfrm>
            <a:off x="7494297" y="3031900"/>
            <a:ext cx="39218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@param·@return을 아예 통째로 안 썼을 때 경고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36EEB-1262-411B-6BCB-680F5A480427}"/>
              </a:ext>
            </a:extLst>
          </p:cNvPr>
          <p:cNvSpPr txBox="1"/>
          <p:nvPr/>
        </p:nvSpPr>
        <p:spPr>
          <a:xfrm>
            <a:off x="7196933" y="4818741"/>
            <a:ext cx="71350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경고를 화면 대신 파일로 저장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1B6C7-A112-C16D-110B-CBF6E8D9A662}"/>
              </a:ext>
            </a:extLst>
          </p:cNvPr>
          <p:cNvSpPr txBox="1"/>
          <p:nvPr/>
        </p:nvSpPr>
        <p:spPr>
          <a:xfrm>
            <a:off x="9301018" y="4222042"/>
            <a:ext cx="42781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경고에 줄 번호를 표시하는 형식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1C6F59-634B-737D-1068-1A8B92BBA235}"/>
              </a:ext>
            </a:extLst>
          </p:cNvPr>
          <p:cNvSpPr txBox="1"/>
          <p:nvPr/>
        </p:nvSpPr>
        <p:spPr>
          <a:xfrm>
            <a:off x="8767571" y="3955407"/>
            <a:ext cx="4914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 메시지 출력 형식 (</a:t>
            </a:r>
            <a:r>
              <a:rPr lang="ko-KR" altLang="ko-KR" sz="1000" dirty="0" err="1"/>
              <a:t>파일명:줄번호</a:t>
            </a:r>
            <a:r>
              <a:rPr lang="ko-KR" altLang="ko-KR" sz="1000" dirty="0"/>
              <a:t>: 내용)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80102-9206-8EA4-FD4B-89C58474B096}"/>
              </a:ext>
            </a:extLst>
          </p:cNvPr>
          <p:cNvSpPr txBox="1"/>
          <p:nvPr/>
        </p:nvSpPr>
        <p:spPr>
          <a:xfrm>
            <a:off x="7814821" y="3660272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경고를 아예 에러로 취급해서 문서 생성을 멈춤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E86DD2-83E1-7486-099E-61AA0AA6BDA2}"/>
              </a:ext>
            </a:extLst>
          </p:cNvPr>
          <p:cNvSpPr txBox="1"/>
          <p:nvPr/>
        </p:nvSpPr>
        <p:spPr>
          <a:xfrm>
            <a:off x="7543297" y="3415808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 레이아웃 설정 파일(</a:t>
            </a:r>
            <a:r>
              <a:rPr lang="ko-KR" altLang="ko-KR" sz="1000" dirty="0" err="1"/>
              <a:t>DoxygenLayout.xml</a:t>
            </a:r>
            <a:r>
              <a:rPr lang="ko-KR" altLang="ko-KR" sz="1000" dirty="0"/>
              <a:t>)</a:t>
            </a:r>
            <a:r>
              <a:rPr lang="ko-KR" altLang="ko-KR" sz="1000" dirty="0" err="1"/>
              <a:t>에</a:t>
            </a:r>
            <a:r>
              <a:rPr lang="ko-KR" altLang="ko-KR" sz="1000" dirty="0"/>
              <a:t> 오류가 있으면 경고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2B79E2-BEB7-ECAC-50AD-964089C7A070}"/>
              </a:ext>
            </a:extLst>
          </p:cNvPr>
          <p:cNvSpPr txBox="1"/>
          <p:nvPr/>
        </p:nvSpPr>
        <p:spPr>
          <a:xfrm>
            <a:off x="7568340" y="3217832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enum</a:t>
            </a:r>
            <a:r>
              <a:rPr lang="ko-KR" altLang="ko-KR" sz="1000" dirty="0"/>
              <a:t> 값 중 문서화 안 된 것이 있으면 경고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629FE-3DE2-CC9A-76DC-3CE5C7CF2143}"/>
              </a:ext>
            </a:extLst>
          </p:cNvPr>
          <p:cNvSpPr txBox="1"/>
          <p:nvPr/>
        </p:nvSpPr>
        <p:spPr>
          <a:xfrm>
            <a:off x="7494297" y="2839946"/>
            <a:ext cx="45350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매개변수가 3개인데 2개만 @param 썼을 때처럼, 일부만 빠뜨렸을 때 경고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05F82F-DFEF-2BAE-8075-F36276D1A8B6}"/>
              </a:ext>
            </a:extLst>
          </p:cNvPr>
          <p:cNvSpPr txBox="1"/>
          <p:nvPr/>
        </p:nvSpPr>
        <p:spPr>
          <a:xfrm>
            <a:off x="7494297" y="2424654"/>
            <a:ext cx="25724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문서화 안 된 함수/변수가 있으면 경고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0E4FEC-DBD8-6E39-F3F4-25982009FB89}"/>
              </a:ext>
            </a:extLst>
          </p:cNvPr>
          <p:cNvSpPr txBox="1"/>
          <p:nvPr/>
        </p:nvSpPr>
        <p:spPr>
          <a:xfrm>
            <a:off x="4514051" y="5715259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e</a:t>
            </a:r>
            <a:r>
              <a:rPr lang="ko-KR" altLang="ko-KR" sz="1000" dirty="0" err="1"/>
              <a:t>num</a:t>
            </a:r>
            <a:r>
              <a:rPr lang="en-US" altLang="ko-KR" sz="1000" dirty="0"/>
              <a:t>:</a:t>
            </a:r>
            <a:r>
              <a:rPr lang="ko-KR" altLang="ko-KR" sz="1000" dirty="0"/>
              <a:t> 변수에 넣을 수 있는 값의 후보들을 미리 </a:t>
            </a:r>
            <a:r>
              <a:rPr lang="ko-KR" altLang="ko-KR" sz="1000" dirty="0" err="1"/>
              <a:t>정해놓은</a:t>
            </a:r>
            <a:r>
              <a:rPr lang="ko-KR" altLang="ko-KR" sz="1000" dirty="0"/>
              <a:t> </a:t>
            </a:r>
            <a:r>
              <a:rPr lang="ko-KR" altLang="en-US" sz="1000" dirty="0"/>
              <a:t>것</a:t>
            </a:r>
          </a:p>
        </p:txBody>
      </p:sp>
    </p:spTree>
    <p:extLst>
      <p:ext uri="{BB962C8B-B14F-4D97-AF65-F5344CB8AC3E}">
        <p14:creationId xmlns:p14="http://schemas.microsoft.com/office/powerpoint/2010/main" val="323917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DA9F8-2FF9-B160-C71C-CB1B910A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4" y="581693"/>
            <a:ext cx="10904622" cy="5373939"/>
          </a:xfrm>
        </p:spPr>
        <p:txBody>
          <a:bodyPr>
            <a:normAutofit/>
          </a:bodyPr>
          <a:lstStyle/>
          <a:p>
            <a:r>
              <a:rPr lang="en-US" altLang="ko-KR" sz="9600" dirty="0"/>
              <a:t>Export</a:t>
            </a:r>
            <a:r>
              <a:rPr lang="ko-KR" altLang="en-US" sz="9600" dirty="0"/>
              <a:t> </a:t>
            </a:r>
            <a:r>
              <a:rPr lang="en-US" altLang="ko-KR" sz="9600" dirty="0"/>
              <a:t>input</a:t>
            </a:r>
            <a:r>
              <a:rPr lang="ko-KR" altLang="en-US" sz="9600" dirty="0"/>
              <a:t> </a:t>
            </a:r>
            <a:r>
              <a:rPr lang="en-US" altLang="ko-KR" sz="9600" dirty="0"/>
              <a:t> </a:t>
            </a:r>
            <a:br>
              <a:rPr lang="en-US" altLang="ko-KR" sz="9600" dirty="0"/>
            </a:b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04892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image displays a configuration dialogue for Doxygen, showing input options for file and directory specification, as well as character encoding configuration.&#10;&#10;AI 생성 콘텐츠는 정확하지 않을 수 있습니다.">
            <a:extLst>
              <a:ext uri="{FF2B5EF4-FFF2-40B4-BE49-F238E27FC236}">
                <a16:creationId xmlns:a16="http://schemas.microsoft.com/office/drawing/2014/main" id="{79556B00-068D-28BD-6A34-3AC62CA8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002"/>
            <a:ext cx="12192000" cy="31782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EFD08-D104-3CCD-5651-CFA9F77F0F95}"/>
              </a:ext>
            </a:extLst>
          </p:cNvPr>
          <p:cNvSpPr txBox="1"/>
          <p:nvPr/>
        </p:nvSpPr>
        <p:spPr>
          <a:xfrm>
            <a:off x="0" y="3862742"/>
            <a:ext cx="12071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– Configuration options related to the input files</a:t>
            </a:r>
            <a:br>
              <a:rPr lang="en-US" altLang="ko-KR" dirty="0"/>
            </a:br>
            <a:r>
              <a:rPr lang="ko-KR" altLang="ko-KR" dirty="0" err="1"/>
              <a:t>Doxygen이</a:t>
            </a:r>
            <a:r>
              <a:rPr lang="ko-KR" altLang="ko-KR" dirty="0"/>
              <a:t> 분석하고 문서로 뽑아낼 대상 코드 파일이나 폴더(디렉터리)의 위치를 적어주는</a:t>
            </a:r>
            <a:r>
              <a:rPr lang="en-US" altLang="ko-KR" dirty="0"/>
              <a:t> </a:t>
            </a:r>
            <a:r>
              <a:rPr lang="ko-KR" altLang="en-US" dirty="0"/>
              <a:t>칸입니다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칸 안에 글씨를 쓰거나 </a:t>
            </a:r>
            <a:r>
              <a:rPr lang="en-US" altLang="ko-KR" dirty="0"/>
              <a:t>( main.cpp , </a:t>
            </a:r>
            <a:r>
              <a:rPr lang="ko-KR" altLang="ko-KR" dirty="0"/>
              <a:t>/</a:t>
            </a:r>
            <a:r>
              <a:rPr lang="ko-KR" altLang="ko-KR" dirty="0" err="1"/>
              <a:t>usr</a:t>
            </a:r>
            <a:r>
              <a:rPr lang="ko-KR" altLang="ko-KR" dirty="0"/>
              <a:t>/</a:t>
            </a:r>
            <a:r>
              <a:rPr lang="ko-KR" altLang="ko-KR" dirty="0" err="1"/>
              <a:t>src</a:t>
            </a:r>
            <a:r>
              <a:rPr lang="ko-KR" altLang="ko-KR" dirty="0"/>
              <a:t>/</a:t>
            </a:r>
            <a:r>
              <a:rPr lang="ko-KR" altLang="ko-KR" dirty="0" err="1"/>
              <a:t>myproject</a:t>
            </a:r>
            <a:r>
              <a:rPr lang="en-US" altLang="ko-KR" dirty="0"/>
              <a:t>) </a:t>
            </a:r>
            <a:r>
              <a:rPr lang="ko-KR" altLang="en-US" dirty="0" err="1"/>
              <a:t>파일찾기나</a:t>
            </a:r>
            <a:r>
              <a:rPr lang="ko-KR" altLang="en-US" dirty="0"/>
              <a:t> </a:t>
            </a:r>
            <a:r>
              <a:rPr lang="ko-KR" altLang="en-US" dirty="0" err="1"/>
              <a:t>폴더찾기</a:t>
            </a:r>
            <a:r>
              <a:rPr lang="ko-KR" altLang="en-US" dirty="0"/>
              <a:t> 기능을 </a:t>
            </a:r>
            <a:r>
              <a:rPr lang="ko-KR" altLang="en-US" dirty="0" err="1"/>
              <a:t>쓸수</a:t>
            </a:r>
            <a:r>
              <a:rPr lang="ko-KR" altLang="en-US" dirty="0"/>
              <a:t> 도 있습니다</a:t>
            </a:r>
            <a:br>
              <a:rPr lang="en-US" altLang="ko-KR" dirty="0"/>
            </a:br>
            <a:r>
              <a:rPr lang="ko-KR" altLang="en-US" dirty="0"/>
              <a:t>빈칸으로 두면 </a:t>
            </a:r>
            <a:r>
              <a:rPr lang="en-US" altLang="ko-KR" dirty="0"/>
              <a:t> </a:t>
            </a:r>
            <a:r>
              <a:rPr lang="en-US" altLang="ko-KR" dirty="0" err="1"/>
              <a:t>Doxygen</a:t>
            </a:r>
            <a:r>
              <a:rPr lang="ko-KR" altLang="en-US" dirty="0"/>
              <a:t>이 현재 실행하고 있는 폴더 안에 있는 파일을 </a:t>
            </a:r>
            <a:r>
              <a:rPr lang="en-US" altLang="ko-KR" dirty="0"/>
              <a:t>	</a:t>
            </a:r>
            <a:r>
              <a:rPr lang="ko-KR" altLang="en-US" dirty="0"/>
              <a:t>자동으로 뒤져서 문서화를 진행 합니다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401DE-0951-F87E-DCB8-5F1AC0211D60}"/>
              </a:ext>
            </a:extLst>
          </p:cNvPr>
          <p:cNvSpPr txBox="1"/>
          <p:nvPr/>
        </p:nvSpPr>
        <p:spPr>
          <a:xfrm>
            <a:off x="0" y="5340070"/>
            <a:ext cx="1207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INPUT_ENCODING (</a:t>
            </a:r>
            <a:r>
              <a:rPr lang="ko-KR" altLang="en-US" dirty="0"/>
              <a:t>글자 깨짐 방지 설정입니다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  <a:r>
              <a:rPr lang="en-US" altLang="ko-KR" dirty="0"/>
              <a:t>UTF-8 </a:t>
            </a:r>
            <a:r>
              <a:rPr lang="ko-KR" altLang="en-US" dirty="0"/>
              <a:t>이 기본입니다</a:t>
            </a:r>
          </a:p>
        </p:txBody>
      </p:sp>
    </p:spTree>
    <p:extLst>
      <p:ext uri="{BB962C8B-B14F-4D97-AF65-F5344CB8AC3E}">
        <p14:creationId xmlns:p14="http://schemas.microsoft.com/office/powerpoint/2010/main" val="1261678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text describes how to use Doxygen tags for specifying character encodings and file patterns to filter source files.&#10;&#10;AI 생성 콘텐츠는 정확하지 않을 수 있습니다.">
            <a:extLst>
              <a:ext uri="{FF2B5EF4-FFF2-40B4-BE49-F238E27FC236}">
                <a16:creationId xmlns:a16="http://schemas.microsoft.com/office/drawing/2014/main" id="{6597CFFF-90FB-226A-C850-FB7698F4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761"/>
            <a:ext cx="12192000" cy="4494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C0949-37DD-90C2-E2C1-CB23501424E4}"/>
              </a:ext>
            </a:extLst>
          </p:cNvPr>
          <p:cNvSpPr txBox="1"/>
          <p:nvPr/>
        </p:nvSpPr>
        <p:spPr>
          <a:xfrm>
            <a:off x="979054" y="1506485"/>
            <a:ext cx="12071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특정 확장자를 가진 파일만 다른 방식으로 </a:t>
            </a:r>
            <a:r>
              <a:rPr lang="ko-KR" altLang="en-US" dirty="0" err="1">
                <a:solidFill>
                  <a:schemeClr val="bg1"/>
                </a:solidFill>
              </a:rPr>
              <a:t>읽을수</a:t>
            </a:r>
            <a:r>
              <a:rPr lang="ko-KR" altLang="en-US" dirty="0">
                <a:solidFill>
                  <a:schemeClr val="bg1"/>
                </a:solidFill>
              </a:rPr>
              <a:t> 있습니다 빈칸 안에 쓰면 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예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  <a:r>
              <a:rPr lang="ko-KR" altLang="ko-KR" dirty="0">
                <a:solidFill>
                  <a:schemeClr val="bg1"/>
                </a:solidFill>
              </a:rPr>
              <a:t>*.</a:t>
            </a:r>
            <a:r>
              <a:rPr lang="ko-KR" altLang="ko-KR" dirty="0" err="1">
                <a:solidFill>
                  <a:schemeClr val="bg1"/>
                </a:solidFill>
              </a:rPr>
              <a:t>php</a:t>
            </a:r>
            <a:r>
              <a:rPr lang="ko-KR" altLang="ko-KR" dirty="0">
                <a:solidFill>
                  <a:schemeClr val="bg1"/>
                </a:solidFill>
              </a:rPr>
              <a:t>=ISO-8859-1</a:t>
            </a:r>
            <a:r>
              <a:rPr lang="en-US" altLang="ko-KR" dirty="0">
                <a:solidFill>
                  <a:schemeClr val="bg1"/>
                </a:solidFill>
              </a:rPr>
              <a:t> ,</a:t>
            </a:r>
            <a:r>
              <a:rPr lang="ko-KR" altLang="ko-KR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  </a:t>
            </a:r>
            <a:r>
              <a:rPr lang="ko-KR" altLang="ko-KR" dirty="0">
                <a:solidFill>
                  <a:schemeClr val="bg1"/>
                </a:solidFill>
              </a:rPr>
              <a:t>*.c=EUC-KR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327EC-FCF0-50DF-B62C-FB1AB66CFA45}"/>
              </a:ext>
            </a:extLst>
          </p:cNvPr>
          <p:cNvSpPr txBox="1"/>
          <p:nvPr/>
        </p:nvSpPr>
        <p:spPr>
          <a:xfrm>
            <a:off x="1320800" y="3822224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폴더안에있는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파일중</a:t>
            </a:r>
            <a:r>
              <a:rPr lang="ko-KR" altLang="en-US" dirty="0">
                <a:solidFill>
                  <a:schemeClr val="bg1"/>
                </a:solidFill>
              </a:rPr>
              <a:t> 어떤 확장자를 가진 파일만 분석할 것인지 필터링하는 기능입니다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30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The provided text appears to be a snippet from a configuration file or documentation, explaining how to use tags like RECURSIVE, EXCLUDE, and EXCLUDE_SYMLINKS in a Doxygen setup. It is not an image, but a textual description of how to manage file and directory inclusion or exclusion during documentation generation.&#10;&#10;AI 생성 콘텐츠는 정확하지 않을 수 있습니다.">
            <a:extLst>
              <a:ext uri="{FF2B5EF4-FFF2-40B4-BE49-F238E27FC236}">
                <a16:creationId xmlns:a16="http://schemas.microsoft.com/office/drawing/2014/main" id="{F39C1D33-4073-147F-200A-F53CC6AC3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0193"/>
            <a:ext cx="12192000" cy="3291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7F4C5-D85C-E5AB-36FD-F91A40D809A2}"/>
              </a:ext>
            </a:extLst>
          </p:cNvPr>
          <p:cNvSpPr txBox="1"/>
          <p:nvPr/>
        </p:nvSpPr>
        <p:spPr>
          <a:xfrm>
            <a:off x="0" y="34620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RECURSIVE – </a:t>
            </a:r>
            <a:r>
              <a:rPr lang="ko-KR" altLang="en-US" dirty="0"/>
              <a:t>이 기능을 클릭하면 지정한 </a:t>
            </a:r>
            <a:r>
              <a:rPr lang="ko-KR" altLang="en-US" dirty="0" err="1"/>
              <a:t>폴더안에이는</a:t>
            </a:r>
            <a:r>
              <a:rPr lang="ko-KR" altLang="en-US" dirty="0"/>
              <a:t> 하위 디렉토리들까지 들어가서 소스 코드를 찾는 기능입니다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EBEEB-F175-C85E-D424-27ADFB02A08F}"/>
              </a:ext>
            </a:extLst>
          </p:cNvPr>
          <p:cNvSpPr txBox="1"/>
          <p:nvPr/>
        </p:nvSpPr>
        <p:spPr>
          <a:xfrm>
            <a:off x="424873" y="989396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 파일이나 폴더는 빼고 분석할 수 있는 기능입니다</a:t>
            </a:r>
            <a:r>
              <a:rPr lang="en-US" altLang="ko-KR" dirty="0">
                <a:solidFill>
                  <a:schemeClr val="bg1"/>
                </a:solidFill>
              </a:rPr>
              <a:t>. (.</a:t>
            </a:r>
            <a:r>
              <a:rPr lang="ko-KR" altLang="ko-KR" dirty="0" err="1">
                <a:solidFill>
                  <a:schemeClr val="bg1"/>
                </a:solidFill>
              </a:rPr>
              <a:t>gitignore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와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같은 역할 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66BE6-017E-C96F-7E9D-305938D21AF1}"/>
              </a:ext>
            </a:extLst>
          </p:cNvPr>
          <p:cNvSpPr txBox="1"/>
          <p:nvPr/>
        </p:nvSpPr>
        <p:spPr>
          <a:xfrm>
            <a:off x="0" y="401016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EXCLUDE_SYMLINKS – </a:t>
            </a:r>
            <a:r>
              <a:rPr lang="ko-KR" altLang="en-US" dirty="0"/>
              <a:t>이 기능을 클릭하면 </a:t>
            </a:r>
            <a:r>
              <a:rPr lang="ko-KR" altLang="en-US" dirty="0" err="1"/>
              <a:t>심볼릭</a:t>
            </a:r>
            <a:r>
              <a:rPr lang="ko-KR" altLang="en-US" dirty="0"/>
              <a:t> 링크</a:t>
            </a:r>
            <a:r>
              <a:rPr lang="en-US" altLang="ko-KR" dirty="0"/>
              <a:t>(</a:t>
            </a:r>
            <a:r>
              <a:rPr lang="ko-KR" altLang="en-US" dirty="0"/>
              <a:t>바로가기 개념</a:t>
            </a:r>
            <a:r>
              <a:rPr lang="en-US" altLang="ko-KR" dirty="0"/>
              <a:t>)</a:t>
            </a:r>
            <a:r>
              <a:rPr lang="ko-KR" altLang="en-US" dirty="0"/>
              <a:t>를 분석 대상에서 </a:t>
            </a:r>
            <a:r>
              <a:rPr lang="ko-KR" altLang="en-US" dirty="0" err="1"/>
              <a:t>뺄지</a:t>
            </a:r>
            <a:r>
              <a:rPr lang="ko-KR" altLang="en-US" dirty="0"/>
              <a:t> 결정하는 옵션입니다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783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EXCLUDE_SYMBOLS,&#10;&#10;AI 생성 콘텐츠는 정확하지 않을 수 있습니다.">
            <a:extLst>
              <a:ext uri="{FF2B5EF4-FFF2-40B4-BE49-F238E27FC236}">
                <a16:creationId xmlns:a16="http://schemas.microsoft.com/office/drawing/2014/main" id="{E8D5D61F-9D98-A434-B7A0-B3C32A56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2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4417F4-6996-7820-5D91-6D5760ED9806}"/>
              </a:ext>
            </a:extLst>
          </p:cNvPr>
          <p:cNvSpPr txBox="1"/>
          <p:nvPr/>
        </p:nvSpPr>
        <p:spPr>
          <a:xfrm>
            <a:off x="0" y="2227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EXCLUDE_PATTERNS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이름 패턴이나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규칙으로 뺄 수 있는 옵션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E9A0A-997F-41FF-847C-34CE529C048B}"/>
              </a:ext>
            </a:extLst>
          </p:cNvPr>
          <p:cNvSpPr txBox="1"/>
          <p:nvPr/>
        </p:nvSpPr>
        <p:spPr>
          <a:xfrm>
            <a:off x="0" y="23563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EXCLUDE_SYMBOLS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코드 내부에 있는 클래스 함수 등을 문서에 숨기게 해주는 옵션입니다 </a:t>
            </a:r>
            <a:r>
              <a:rPr lang="en-US" altLang="ko-KR" dirty="0">
                <a:solidFill>
                  <a:schemeClr val="bg1"/>
                </a:solidFill>
              </a:rPr>
              <a:t>. (</a:t>
            </a:r>
            <a:r>
              <a:rPr lang="ko-KR" altLang="en-US" dirty="0">
                <a:solidFill>
                  <a:schemeClr val="bg1"/>
                </a:solidFill>
              </a:rPr>
              <a:t>결과물에 </a:t>
            </a:r>
            <a:r>
              <a:rPr lang="ko-KR" altLang="en-US" dirty="0" err="1">
                <a:solidFill>
                  <a:schemeClr val="bg1"/>
                </a:solidFill>
              </a:rPr>
              <a:t>안나옴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85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9B64F-3E3E-72BC-212B-6FD82664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The provided text appears to be a snippet from a software documentation or configuration file, detailing how to include example files in a project. It explains how to use tags like EXAMPLE_PATH and EXAMPLE_PATTERNS to specify which files or directories to include in the project, and how to use the RECURSIVE tag to search subdirectories for additional files.&#10;&#10;AI 생성 콘텐츠는 정확하지 않을 수 있습니다.">
            <a:extLst>
              <a:ext uri="{FF2B5EF4-FFF2-40B4-BE49-F238E27FC236}">
                <a16:creationId xmlns:a16="http://schemas.microsoft.com/office/drawing/2014/main" id="{15C77046-A0F4-A637-0330-D6CB0C34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91"/>
            <a:ext cx="12192000" cy="4380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504D3-AC03-FB13-3A6F-7C2D998B11E8}"/>
              </a:ext>
            </a:extLst>
          </p:cNvPr>
          <p:cNvSpPr txBox="1"/>
          <p:nvPr/>
        </p:nvSpPr>
        <p:spPr>
          <a:xfrm>
            <a:off x="0" y="23563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EXCLUDE_SYMBOLS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 err="1">
                <a:solidFill>
                  <a:schemeClr val="bg1"/>
                </a:solidFill>
              </a:rPr>
              <a:t>EXAMPLE_PATH로</a:t>
            </a:r>
            <a:r>
              <a:rPr lang="ko-KR" altLang="ko-KR" dirty="0">
                <a:solidFill>
                  <a:schemeClr val="bg1"/>
                </a:solidFill>
              </a:rPr>
              <a:t> 지정한 예제 폴더 안에서 </a:t>
            </a:r>
            <a:r>
              <a:rPr lang="ko-KR" altLang="ko-KR" b="1" dirty="0">
                <a:solidFill>
                  <a:schemeClr val="bg1"/>
                </a:solidFill>
              </a:rPr>
              <a:t>어떤 확장자를 가진 파일만 진짜 예제로 쓸 것인지</a:t>
            </a:r>
            <a:r>
              <a:rPr lang="ko-KR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필터링</a:t>
            </a:r>
            <a:r>
              <a:rPr lang="ko-KR" altLang="ko-KR" dirty="0">
                <a:solidFill>
                  <a:schemeClr val="bg1"/>
                </a:solidFill>
              </a:rPr>
              <a:t> 옵션입니다.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18315-615D-3865-DD92-B2A15D87CCE3}"/>
              </a:ext>
            </a:extLst>
          </p:cNvPr>
          <p:cNvSpPr txBox="1"/>
          <p:nvPr/>
        </p:nvSpPr>
        <p:spPr>
          <a:xfrm>
            <a:off x="0" y="229421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EXCLUDE_PATH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>
                <a:solidFill>
                  <a:schemeClr val="bg1"/>
                </a:solidFill>
              </a:rPr>
              <a:t>예제 소스 코드들이 </a:t>
            </a:r>
            <a:r>
              <a:rPr lang="ko-KR" altLang="ko-KR" dirty="0" err="1">
                <a:solidFill>
                  <a:schemeClr val="bg1"/>
                </a:solidFill>
              </a:rPr>
              <a:t>모여있는</a:t>
            </a:r>
            <a:r>
              <a:rPr lang="ko-KR" altLang="ko-KR" dirty="0">
                <a:solidFill>
                  <a:schemeClr val="bg1"/>
                </a:solidFill>
              </a:rPr>
              <a:t> 폴더의 경로를 알려주는 곳입니다.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E539E-688C-F3A9-375C-129D26059A8D}"/>
              </a:ext>
            </a:extLst>
          </p:cNvPr>
          <p:cNvSpPr txBox="1"/>
          <p:nvPr/>
        </p:nvSpPr>
        <p:spPr>
          <a:xfrm>
            <a:off x="0" y="4442173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EXCLUDE_RECURSIVE</a:t>
            </a:r>
            <a:br>
              <a:rPr lang="en-US" altLang="ko-KR" dirty="0"/>
            </a:br>
            <a:r>
              <a:rPr lang="ko-KR" altLang="en-US" dirty="0"/>
              <a:t>예제 폴더 안에 있는 하위 디렉토리까지 들어가서 찾을지 결정하는 옵션</a:t>
            </a:r>
          </a:p>
        </p:txBody>
      </p:sp>
    </p:spTree>
    <p:extLst>
      <p:ext uri="{BB962C8B-B14F-4D97-AF65-F5344CB8AC3E}">
        <p14:creationId xmlns:p14="http://schemas.microsoft.com/office/powerpoint/2010/main" val="1862369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provided text appears to be a set of instructions or documentation on how to use certain tags in Doxygen, a documentation generator for software. It explains how to use the `IMAGE_PATH` tag to include images in documentation and the `INPUT_FILTER` tag to process input files through a specified program before Doxygen scans them.&#10;&#10;AI 생성 콘텐츠는 정확하지 않을 수 있습니다.">
            <a:extLst>
              <a:ext uri="{FF2B5EF4-FFF2-40B4-BE49-F238E27FC236}">
                <a16:creationId xmlns:a16="http://schemas.microsoft.com/office/drawing/2014/main" id="{8013A467-65F2-C66D-B966-AE074A77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60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C6BCE-6933-9211-9F66-A977F1F4BD3E}"/>
              </a:ext>
            </a:extLst>
          </p:cNvPr>
          <p:cNvSpPr txBox="1"/>
          <p:nvPr/>
        </p:nvSpPr>
        <p:spPr>
          <a:xfrm>
            <a:off x="-73892" y="258403"/>
            <a:ext cx="10732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IMAGE_PATH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 err="1">
                <a:solidFill>
                  <a:schemeClr val="bg1"/>
                </a:solidFill>
              </a:rPr>
              <a:t>Doxygen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문서 안에 삽입할 이미지 폴더 위치를 지정하는 옵션입니다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FB661-AF13-12AD-3CDE-F8BE955BAECC}"/>
              </a:ext>
            </a:extLst>
          </p:cNvPr>
          <p:cNvSpPr txBox="1"/>
          <p:nvPr/>
        </p:nvSpPr>
        <p:spPr>
          <a:xfrm>
            <a:off x="-73892" y="1840345"/>
            <a:ext cx="1226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INPUT_FILTER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 err="1">
                <a:solidFill>
                  <a:schemeClr val="bg1"/>
                </a:solidFill>
              </a:rPr>
              <a:t>Doxygen이</a:t>
            </a:r>
            <a:r>
              <a:rPr lang="ko-KR" altLang="ko-KR" dirty="0">
                <a:solidFill>
                  <a:schemeClr val="bg1"/>
                </a:solidFill>
              </a:rPr>
              <a:t> 소스 코드를 읽어 들이기 직전에, </a:t>
            </a:r>
            <a:r>
              <a:rPr lang="ko-KR" altLang="ko-KR" b="1" dirty="0">
                <a:solidFill>
                  <a:schemeClr val="bg1"/>
                </a:solidFill>
              </a:rPr>
              <a:t>특정 외부 프로그램(스크립트)을 먼저 거치게 만드는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ko-KR" altLang="ko-KR" b="1" dirty="0" err="1">
                <a:solidFill>
                  <a:schemeClr val="bg1"/>
                </a:solidFill>
              </a:rPr>
              <a:t>전처리</a:t>
            </a:r>
            <a:r>
              <a:rPr lang="ko-KR" altLang="ko-KR" b="1" dirty="0">
                <a:solidFill>
                  <a:schemeClr val="bg1"/>
                </a:solidFill>
              </a:rPr>
              <a:t> 기능</a:t>
            </a:r>
            <a:r>
              <a:rPr lang="ko-KR" altLang="ko-KR" dirty="0">
                <a:solidFill>
                  <a:schemeClr val="bg1"/>
                </a:solidFill>
              </a:rPr>
              <a:t>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228DF-6418-8BA4-4A55-A5EACABB020A}"/>
              </a:ext>
            </a:extLst>
          </p:cNvPr>
          <p:cNvSpPr txBox="1"/>
          <p:nvPr/>
        </p:nvSpPr>
        <p:spPr>
          <a:xfrm>
            <a:off x="0" y="3412836"/>
            <a:ext cx="1226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FILTER_PATTERNS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특정파일이나 특정 확장자에만 필터를 적용하게 할 수 있는 기능입니다</a:t>
            </a:r>
            <a:r>
              <a:rPr lang="ko-KR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023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420A5-443A-D66F-62AB-BDC774E0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The text describes various configuration options for a documentation generation tool, explaining how to filter input files, use markdown files as main pages, and implicitly include README.md files in subdirectories.&#10;&#10;AI 생성 콘텐츠는 정확하지 않을 수 있습니다.">
            <a:extLst>
              <a:ext uri="{FF2B5EF4-FFF2-40B4-BE49-F238E27FC236}">
                <a16:creationId xmlns:a16="http://schemas.microsoft.com/office/drawing/2014/main" id="{81720942-8568-46FE-6751-867A08AD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68"/>
          <a:stretch>
            <a:fillRect/>
          </a:stretch>
        </p:blipFill>
        <p:spPr>
          <a:xfrm>
            <a:off x="0" y="-13110"/>
            <a:ext cx="12192000" cy="3334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A295FF-3AC7-B21B-75FC-415F09E12C1A}"/>
              </a:ext>
            </a:extLst>
          </p:cNvPr>
          <p:cNvSpPr txBox="1"/>
          <p:nvPr/>
        </p:nvSpPr>
        <p:spPr>
          <a:xfrm>
            <a:off x="-1" y="3477351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FILTER_SOURCE_FILES </a:t>
            </a:r>
            <a:br>
              <a:rPr lang="en-US" altLang="ko-KR" dirty="0"/>
            </a:br>
            <a:r>
              <a:rPr lang="ko-KR" altLang="ko-KR" dirty="0"/>
              <a:t>설명서를 만들 때 썼던 코드 번역기를, 사용자들이 원본 코드를 구경할 때도 똑같이 덧씌워서 가공된 상태로 보여줄까? 아니면 구경할 때는 필터 없이 쌩 원본을 </a:t>
            </a:r>
            <a:r>
              <a:rPr lang="ko-KR" altLang="ko-KR" dirty="0" err="1"/>
              <a:t>보여줄까?를</a:t>
            </a:r>
            <a:r>
              <a:rPr lang="ko-KR" altLang="ko-KR" dirty="0"/>
              <a:t> 결정하는 스위치입니다.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83E70-2976-B89A-629B-D9861584C6FC}"/>
              </a:ext>
            </a:extLst>
          </p:cNvPr>
          <p:cNvSpPr txBox="1"/>
          <p:nvPr/>
        </p:nvSpPr>
        <p:spPr>
          <a:xfrm>
            <a:off x="0" y="4556815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FILTER_SOURCE_PATTERNS</a:t>
            </a:r>
            <a:br>
              <a:rPr lang="en-US" altLang="ko-KR" dirty="0"/>
            </a:br>
            <a:r>
              <a:rPr lang="ko-KR" altLang="ko-KR" dirty="0"/>
              <a:t>특정 확장자(예: *.</a:t>
            </a:r>
            <a:r>
              <a:rPr lang="ko-KR" altLang="ko-KR" dirty="0" err="1"/>
              <a:t>cpp</a:t>
            </a:r>
            <a:r>
              <a:rPr lang="ko-KR" altLang="ko-KR" dirty="0"/>
              <a:t>, *.c)를 가진 파일만 쏙쏙 골라서 열람용 필터를 다르게 적용하고 싶을 때 규칙을 적어주는 곳입니다..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16724-2C77-3912-F4C9-200DA73F58A7}"/>
              </a:ext>
            </a:extLst>
          </p:cNvPr>
          <p:cNvSpPr txBox="1"/>
          <p:nvPr/>
        </p:nvSpPr>
        <p:spPr>
          <a:xfrm>
            <a:off x="-2" y="5636279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USE_MODFILE_AS_MAINPAGE</a:t>
            </a:r>
            <a:br>
              <a:rPr lang="en-US" altLang="ko-KR" dirty="0"/>
            </a:br>
            <a:r>
              <a:rPr lang="ko-KR" altLang="ko-KR" dirty="0"/>
              <a:t>생성된 </a:t>
            </a:r>
            <a:r>
              <a:rPr lang="ko-KR" altLang="ko-KR" dirty="0" err="1"/>
              <a:t>Doxygen</a:t>
            </a:r>
            <a:r>
              <a:rPr lang="ko-KR" altLang="ko-KR" dirty="0"/>
              <a:t> 웹사이트 문서에 접속했을 때 가장 먼저 뜨는 </a:t>
            </a:r>
            <a:r>
              <a:rPr lang="ko-KR" altLang="ko-KR" b="1" dirty="0"/>
              <a:t>첫 화면을 내가 지정한 마크다운(</a:t>
            </a:r>
            <a:r>
              <a:rPr lang="en-US" altLang="ko-KR" b="1" dirty="0"/>
              <a:t>README.md</a:t>
            </a:r>
            <a:r>
              <a:rPr lang="ko-KR" altLang="ko-KR" b="1" dirty="0"/>
              <a:t>) 파일의 내용으로 채워 넣는 기능</a:t>
            </a:r>
            <a:r>
              <a:rPr lang="ko-KR" altLang="ko-KR" dirty="0"/>
              <a:t>입니다.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5332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image shows a text snippet with configuration settings, specifically regarding documentation and Fortran code commenting conventions.&#10;&#10;AI 생성 콘텐츠는 정확하지 않을 수 있습니다.">
            <a:extLst>
              <a:ext uri="{FF2B5EF4-FFF2-40B4-BE49-F238E27FC236}">
                <a16:creationId xmlns:a16="http://schemas.microsoft.com/office/drawing/2014/main" id="{72272E6A-FB35-51E8-7580-E243FC74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87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852517-ABF4-20C3-EB7E-957F81258427}"/>
              </a:ext>
            </a:extLst>
          </p:cNvPr>
          <p:cNvSpPr txBox="1"/>
          <p:nvPr/>
        </p:nvSpPr>
        <p:spPr>
          <a:xfrm>
            <a:off x="-36946" y="2505670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IMPLICIT_DIR_</a:t>
            </a:r>
            <a:r>
              <a:rPr lang="en-US" altLang="ko-KR" b="1" dirty="0"/>
              <a:t>DOCS</a:t>
            </a:r>
            <a:endParaRPr lang="ko-KR" altLang="ko-KR" b="1" dirty="0"/>
          </a:p>
          <a:p>
            <a:pPr lvl="0"/>
            <a:r>
              <a:rPr lang="ko-KR" altLang="ko-KR" dirty="0"/>
              <a:t>프로젝트 폴더 안에 있는</a:t>
            </a:r>
            <a:r>
              <a:rPr lang="en-US" altLang="ko-KR" dirty="0"/>
              <a:t> </a:t>
            </a:r>
            <a:r>
              <a:rPr lang="ko-KR" altLang="ko-KR" dirty="0"/>
              <a:t>하위 디렉터리들에 각각 들어있는 README.md 파일을</a:t>
            </a:r>
            <a:r>
              <a:rPr lang="en-US" altLang="ko-KR" dirty="0"/>
              <a:t> </a:t>
            </a:r>
            <a:r>
              <a:rPr lang="ko-KR" altLang="en-US" dirty="0"/>
              <a:t>그 폴더를 </a:t>
            </a:r>
            <a:r>
              <a:rPr lang="ko-KR" altLang="ko-KR" dirty="0"/>
              <a:t>설명하는 공식 문서로 자동 지정해 주는 아주 편리한 기능입니다.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71E77-9631-D16D-A997-EBE5390F0320}"/>
              </a:ext>
            </a:extLst>
          </p:cNvPr>
          <p:cNvSpPr txBox="1"/>
          <p:nvPr/>
        </p:nvSpPr>
        <p:spPr>
          <a:xfrm>
            <a:off x="-36946" y="3847252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/>
              <a:t>FORTRAN_COMMENT_AFTER </a:t>
            </a:r>
            <a:br>
              <a:rPr lang="en-US" altLang="ko-KR" dirty="0"/>
            </a:br>
            <a:r>
              <a:rPr lang="ko-KR" altLang="en-US" dirty="0" err="1"/>
              <a:t>포드란</a:t>
            </a:r>
            <a:r>
              <a:rPr lang="ko-KR" altLang="en-US" dirty="0"/>
              <a:t> 언어 주석 시작 </a:t>
            </a:r>
            <a:r>
              <a:rPr lang="ko-KR" altLang="en-US"/>
              <a:t>위치 무시해도 </a:t>
            </a:r>
            <a:r>
              <a:rPr lang="ko-KR" altLang="en-US" dirty="0"/>
              <a:t>되는 옵션</a:t>
            </a:r>
            <a:r>
              <a:rPr lang="en-US" altLang="ko-KR" dirty="0"/>
              <a:t>	</a:t>
            </a:r>
            <a:br>
              <a:rPr lang="en-US" altLang="ko-KR" dirty="0"/>
            </a:b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462852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C400313-41F1-3830-CE38-0FD87086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4" y="581693"/>
            <a:ext cx="10904622" cy="5373939"/>
          </a:xfrm>
        </p:spPr>
        <p:txBody>
          <a:bodyPr>
            <a:normAutofit/>
          </a:bodyPr>
          <a:lstStyle/>
          <a:p>
            <a:r>
              <a:rPr lang="en-US" altLang="ko-KR" sz="8000" dirty="0"/>
              <a:t>Export</a:t>
            </a:r>
            <a:r>
              <a:rPr lang="ko-KR" altLang="en-US" sz="8000" dirty="0"/>
              <a:t> </a:t>
            </a:r>
            <a:r>
              <a:rPr lang="en-US" altLang="ko-KR" sz="8000" dirty="0" err="1"/>
              <a:t>Sourec</a:t>
            </a:r>
            <a:r>
              <a:rPr lang="en-US" altLang="ko-KR" sz="8000" dirty="0"/>
              <a:t> browser</a:t>
            </a:r>
            <a:r>
              <a:rPr lang="ko-KR" altLang="en-US" sz="8000" dirty="0"/>
              <a:t> </a:t>
            </a:r>
            <a:r>
              <a:rPr lang="en-US" altLang="ko-KR" sz="8000" dirty="0"/>
              <a:t> </a:t>
            </a:r>
            <a:br>
              <a:rPr lang="en-US" altLang="ko-KR" sz="8000" dirty="0"/>
            </a:b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11441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E08F45F-8015-8A84-30DA-8730C49F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87250" cy="6734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1301C-DF54-B177-CD39-19749193067E}"/>
              </a:ext>
            </a:extLst>
          </p:cNvPr>
          <p:cNvSpPr txBox="1"/>
          <p:nvPr/>
        </p:nvSpPr>
        <p:spPr>
          <a:xfrm>
            <a:off x="1962727" y="2775590"/>
            <a:ext cx="6142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소스 코드 브라우저 설정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3176F-A4CF-0417-C3F1-2E120CB7A620}"/>
              </a:ext>
            </a:extLst>
          </p:cNvPr>
          <p:cNvSpPr txBox="1"/>
          <p:nvPr/>
        </p:nvSpPr>
        <p:spPr>
          <a:xfrm>
            <a:off x="7319817" y="1981308"/>
            <a:ext cx="48721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문서에서 소스 코드 자체를 볼 수 있는 소스 브라우저 생성 여</a:t>
            </a:r>
            <a:r>
              <a:rPr lang="ko-KR" altLang="en-US" sz="1000" dirty="0"/>
              <a:t>부</a:t>
            </a:r>
            <a:r>
              <a:rPr lang="ko-KR" altLang="ko-KR" sz="1000" dirty="0"/>
              <a:t>)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52914-5A61-622F-8B26-5F056CBF872B}"/>
              </a:ext>
            </a:extLst>
          </p:cNvPr>
          <p:cNvSpPr txBox="1"/>
          <p:nvPr/>
        </p:nvSpPr>
        <p:spPr>
          <a:xfrm>
            <a:off x="7319817" y="2172113"/>
            <a:ext cx="6142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함수/클래스 설명 바로 아래에 소스 코드를 함께 표시할지 여부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86005-F201-E929-BA81-1543CA3E4F9E}"/>
              </a:ext>
            </a:extLst>
          </p:cNvPr>
          <p:cNvSpPr txBox="1"/>
          <p:nvPr/>
        </p:nvSpPr>
        <p:spPr>
          <a:xfrm>
            <a:off x="7319817" y="2386672"/>
            <a:ext cx="404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소스 코드 표시 시 일반 주석(문서화 주석 제외)을 제거할지 여부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C58D1-DFE7-F174-B068-DFE9079C13FA}"/>
              </a:ext>
            </a:extLst>
          </p:cNvPr>
          <p:cNvSpPr txBox="1"/>
          <p:nvPr/>
        </p:nvSpPr>
        <p:spPr>
          <a:xfrm>
            <a:off x="7319817" y="2609139"/>
            <a:ext cx="4290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함수/변수마다 "이 함수를 호출하는 곳(</a:t>
            </a:r>
            <a:r>
              <a:rPr lang="ko-KR" altLang="ko-KR" sz="1000" dirty="0" err="1"/>
              <a:t>referenced</a:t>
            </a:r>
            <a:r>
              <a:rPr lang="ko-KR" altLang="ko-KR" sz="1000" dirty="0"/>
              <a:t> </a:t>
            </a:r>
            <a:r>
              <a:rPr lang="ko-KR" altLang="ko-KR" sz="1000" dirty="0" err="1"/>
              <a:t>by</a:t>
            </a:r>
            <a:r>
              <a:rPr lang="ko-KR" altLang="ko-KR" sz="1000" dirty="0"/>
              <a:t>)" 목록 표시 여부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3C9E8E-DEAF-D9A5-0F4E-F3AB82487A54}"/>
              </a:ext>
            </a:extLst>
          </p:cNvPr>
          <p:cNvSpPr txBox="1"/>
          <p:nvPr/>
        </p:nvSpPr>
        <p:spPr>
          <a:xfrm>
            <a:off x="7311160" y="2823698"/>
            <a:ext cx="41419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함수/변수마다 "이 함수가 호출하는 것(</a:t>
            </a:r>
            <a:r>
              <a:rPr lang="ko-KR" altLang="ko-KR" sz="1000" dirty="0" err="1"/>
              <a:t>references</a:t>
            </a:r>
            <a:r>
              <a:rPr lang="ko-KR" altLang="ko-KR" sz="1000" dirty="0"/>
              <a:t>)" 목록 표시 여부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A01F5-EBA1-5E84-D90C-973EC51D522A}"/>
              </a:ext>
            </a:extLst>
          </p:cNvPr>
          <p:cNvSpPr txBox="1"/>
          <p:nvPr/>
        </p:nvSpPr>
        <p:spPr>
          <a:xfrm>
            <a:off x="7319817" y="3014503"/>
            <a:ext cx="404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REFERENCES 관계 표시 시 소스 코드로 바로 링크 연결할지 여부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857D3-9631-5155-F3DB-BB86004411E7}"/>
              </a:ext>
            </a:extLst>
          </p:cNvPr>
          <p:cNvSpPr txBox="1"/>
          <p:nvPr/>
        </p:nvSpPr>
        <p:spPr>
          <a:xfrm>
            <a:off x="7319817" y="3229062"/>
            <a:ext cx="55649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dirty="0"/>
              <a:t>소스 코드 내 하이퍼링크에 마우스를 올리면 </a:t>
            </a:r>
            <a:r>
              <a:rPr lang="ko-KR" altLang="ko-KR" sz="900" dirty="0" err="1"/>
              <a:t>툴팁으로</a:t>
            </a:r>
            <a:r>
              <a:rPr lang="ko-KR" altLang="ko-KR" sz="900" dirty="0"/>
              <a:t> 함수 설명 미리보기 표시 (기본값 YES)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51C6D-E00D-3BEA-7E9D-7D80081811EC}"/>
              </a:ext>
            </a:extLst>
          </p:cNvPr>
          <p:cNvSpPr txBox="1"/>
          <p:nvPr/>
        </p:nvSpPr>
        <p:spPr>
          <a:xfrm>
            <a:off x="7319817" y="3419867"/>
            <a:ext cx="67286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Doxygen</a:t>
            </a:r>
            <a:r>
              <a:rPr lang="ko-KR" altLang="ko-KR" sz="1000" dirty="0"/>
              <a:t> 자체 소스 브라우저 대신 GNU GLOBAL(</a:t>
            </a:r>
            <a:r>
              <a:rPr lang="ko-KR" altLang="ko-KR" sz="1000" dirty="0" err="1"/>
              <a:t>htags</a:t>
            </a:r>
            <a:r>
              <a:rPr lang="ko-KR" altLang="ko-KR" sz="1000" dirty="0"/>
              <a:t>) 도구를 사용할지 여부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A80051-D47A-0874-952A-3AC490567403}"/>
              </a:ext>
            </a:extLst>
          </p:cNvPr>
          <p:cNvSpPr txBox="1"/>
          <p:nvPr/>
        </p:nvSpPr>
        <p:spPr>
          <a:xfrm>
            <a:off x="7311160" y="3615296"/>
            <a:ext cx="7024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클래스 문서에 원본 헤더 파일 링크를 그대로 첨부할지 여부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EE426-24A5-9FD4-604C-6CC22CBB5DE3}"/>
              </a:ext>
            </a:extLst>
          </p:cNvPr>
          <p:cNvSpPr txBox="1"/>
          <p:nvPr/>
        </p:nvSpPr>
        <p:spPr>
          <a:xfrm>
            <a:off x="7319817" y="3801535"/>
            <a:ext cx="48721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파서를</a:t>
            </a:r>
            <a:r>
              <a:rPr lang="ko-KR" altLang="ko-KR" sz="1000" dirty="0"/>
              <a:t> 사용해 더 정확하게 소스 코드를 분석할지 여부 (C/C++ 정확도 향상)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3C295-96D7-47FA-A3CF-3A78823D46FB}"/>
              </a:ext>
            </a:extLst>
          </p:cNvPr>
          <p:cNvSpPr txBox="1"/>
          <p:nvPr/>
        </p:nvSpPr>
        <p:spPr>
          <a:xfrm>
            <a:off x="7319817" y="4020660"/>
            <a:ext cx="3412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파싱 시 표준 </a:t>
            </a:r>
            <a:r>
              <a:rPr lang="ko-KR" altLang="ko-KR" sz="1000" dirty="0" err="1"/>
              <a:t>include</a:t>
            </a:r>
            <a:r>
              <a:rPr lang="ko-KR" altLang="ko-KR" sz="1000" dirty="0"/>
              <a:t> 경로를 자동 추가할지 여부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963727-CFC4-F456-12F9-8720358B740C}"/>
              </a:ext>
            </a:extLst>
          </p:cNvPr>
          <p:cNvSpPr txBox="1"/>
          <p:nvPr/>
        </p:nvSpPr>
        <p:spPr>
          <a:xfrm>
            <a:off x="6945746" y="4319356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파서에</a:t>
            </a:r>
            <a:r>
              <a:rPr lang="ko-KR" altLang="ko-KR" sz="1000" dirty="0"/>
              <a:t> 전달할 추가 컴파일 옵션 목록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BA034-1CCB-0DB5-52A2-A20C48A95D6D}"/>
              </a:ext>
            </a:extLst>
          </p:cNvPr>
          <p:cNvSpPr txBox="1"/>
          <p:nvPr/>
        </p:nvSpPr>
        <p:spPr>
          <a:xfrm>
            <a:off x="6945746" y="5674289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compile_commands.json</a:t>
            </a:r>
            <a:r>
              <a:rPr lang="ko-KR" altLang="ko-KR" sz="1000" dirty="0"/>
              <a:t> 같은 </a:t>
            </a:r>
            <a:r>
              <a:rPr lang="ko-KR" altLang="ko-KR" sz="1000" dirty="0" err="1"/>
              <a:t>Clang</a:t>
            </a:r>
            <a:r>
              <a:rPr lang="ko-KR" altLang="ko-KR" sz="1000" dirty="0"/>
              <a:t> 컴파일 데이터베이스 경로 지정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737987-51A1-31C9-B3FA-51AED3B57647}"/>
              </a:ext>
            </a:extLst>
          </p:cNvPr>
          <p:cNvSpPr txBox="1"/>
          <p:nvPr/>
        </p:nvSpPr>
        <p:spPr>
          <a:xfrm>
            <a:off x="4521200" y="4678169"/>
            <a:ext cx="71674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/>
              <a:t>GNU GLOBAL</a:t>
            </a:r>
            <a:r>
              <a:rPr lang="en-US" altLang="ko-KR" sz="1000" b="1" dirty="0"/>
              <a:t> :</a:t>
            </a:r>
          </a:p>
          <a:p>
            <a:r>
              <a:rPr lang="ko-KR" altLang="ko-KR" sz="1000" dirty="0"/>
              <a:t>소스 코드를 검색하고 탐색하기 쉽게 만들어주는 외부 도구</a:t>
            </a:r>
            <a:r>
              <a:rPr lang="ko-KR" altLang="en-US" sz="1000" dirty="0"/>
              <a:t>입니다</a:t>
            </a:r>
            <a:endParaRPr lang="en-US" altLang="ko-KR" sz="1000" dirty="0"/>
          </a:p>
          <a:p>
            <a:r>
              <a:rPr lang="ko-KR" altLang="ko-KR" sz="1000" dirty="0"/>
              <a:t>그 중 </a:t>
            </a:r>
            <a:r>
              <a:rPr lang="ko-KR" altLang="ko-KR" sz="1000" dirty="0" err="1"/>
              <a:t>htags는</a:t>
            </a:r>
            <a:r>
              <a:rPr lang="ko-KR" altLang="ko-KR" sz="1000" dirty="0"/>
              <a:t> 소스 코드를 </a:t>
            </a:r>
            <a:r>
              <a:rPr lang="ko-KR" altLang="ko-KR" sz="1000" dirty="0" err="1"/>
              <a:t>HTML로</a:t>
            </a:r>
            <a:r>
              <a:rPr lang="ko-KR" altLang="ko-KR" sz="1000" dirty="0"/>
              <a:t> 변환해서 브라우저로 볼 수 있게 해주는 하위 기능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108F8F-9C33-B2E2-093B-B50475CF8589}"/>
              </a:ext>
            </a:extLst>
          </p:cNvPr>
          <p:cNvSpPr txBox="1"/>
          <p:nvPr/>
        </p:nvSpPr>
        <p:spPr>
          <a:xfrm>
            <a:off x="4539673" y="5241777"/>
            <a:ext cx="7167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 err="1"/>
              <a:t>Clang</a:t>
            </a:r>
            <a:r>
              <a:rPr lang="ko-KR" altLang="ko-KR" sz="1000" b="1" dirty="0"/>
              <a:t> 파서</a:t>
            </a:r>
            <a:r>
              <a:rPr lang="en-US" altLang="ko-KR" sz="1000" b="1" dirty="0"/>
              <a:t>:</a:t>
            </a:r>
          </a:p>
          <a:p>
            <a:r>
              <a:rPr lang="ko-KR" altLang="ko-KR" sz="1000" dirty="0"/>
              <a:t>실제 컴파일러처럼 코드를 완벽하게 이해하는 방식 (마치 문법책 보며 정확히 해석하는 것)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BD5C6-FB44-721A-448F-B7D2D2503023}"/>
              </a:ext>
            </a:extLst>
          </p:cNvPr>
          <p:cNvSpPr txBox="1"/>
          <p:nvPr/>
        </p:nvSpPr>
        <p:spPr>
          <a:xfrm>
            <a:off x="5442527" y="369561"/>
            <a:ext cx="52901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회색으로 </a:t>
            </a:r>
            <a:r>
              <a:rPr lang="ko-KR" altLang="ko-KR" sz="1100" dirty="0" err="1"/>
              <a:t>비활성화</a:t>
            </a:r>
            <a:r>
              <a:rPr lang="ko-KR" altLang="en-US" sz="1100" dirty="0" err="1"/>
              <a:t>되있는</a:t>
            </a:r>
            <a:r>
              <a:rPr lang="ko-KR" altLang="en-US" sz="1100" dirty="0"/>
              <a:t> 기능들은</a:t>
            </a:r>
            <a:r>
              <a:rPr lang="ko-KR" altLang="ko-KR" sz="1100" dirty="0"/>
              <a:t> </a:t>
            </a:r>
            <a:endParaRPr lang="en-US" altLang="ko-KR" sz="1100" dirty="0"/>
          </a:p>
          <a:p>
            <a:r>
              <a:rPr lang="ko-KR" altLang="ko-KR" sz="1100" dirty="0" err="1"/>
              <a:t>SOURCE_BROWSER와</a:t>
            </a:r>
            <a:r>
              <a:rPr lang="ko-KR" altLang="ko-KR" sz="1100" dirty="0"/>
              <a:t> </a:t>
            </a:r>
            <a:r>
              <a:rPr lang="ko-KR" altLang="ko-KR" sz="1100" dirty="0" err="1"/>
              <a:t>CLANG_ASSISTED_PARSING이</a:t>
            </a:r>
            <a:r>
              <a:rPr lang="ko-KR" altLang="ko-KR" sz="1100" dirty="0"/>
              <a:t> 꺼져 있기 때문입니다 </a:t>
            </a:r>
            <a:endParaRPr lang="en-US" altLang="ko-KR" sz="1100" dirty="0"/>
          </a:p>
          <a:p>
            <a:r>
              <a:rPr lang="ko-KR" altLang="ko-KR" sz="1100" dirty="0"/>
              <a:t>(상위 옵션이 꺼지면 하위 세부 옵션도 자동 비활성화됨)</a:t>
            </a:r>
            <a:endParaRPr lang="ko-KR" alt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1D723-637A-D34B-34C1-1D9A6395304C}"/>
              </a:ext>
            </a:extLst>
          </p:cNvPr>
          <p:cNvSpPr txBox="1"/>
          <p:nvPr/>
        </p:nvSpPr>
        <p:spPr>
          <a:xfrm>
            <a:off x="3817504" y="1985667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상위 옵션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DCFC1C-93B7-7143-BFF3-F5BFE0F852E4}"/>
              </a:ext>
            </a:extLst>
          </p:cNvPr>
          <p:cNvSpPr txBox="1"/>
          <p:nvPr/>
        </p:nvSpPr>
        <p:spPr>
          <a:xfrm>
            <a:off x="3835976" y="381071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상위 옵션</a:t>
            </a:r>
          </a:p>
        </p:txBody>
      </p:sp>
    </p:spTree>
    <p:extLst>
      <p:ext uri="{BB962C8B-B14F-4D97-AF65-F5344CB8AC3E}">
        <p14:creationId xmlns:p14="http://schemas.microsoft.com/office/powerpoint/2010/main" val="1035667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C67D3F-C42E-0075-4C46-E60ED81D70C5}"/>
              </a:ext>
            </a:extLst>
          </p:cNvPr>
          <p:cNvSpPr txBox="1"/>
          <p:nvPr/>
        </p:nvSpPr>
        <p:spPr>
          <a:xfrm>
            <a:off x="1925053" y="1997243"/>
            <a:ext cx="8157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Index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344364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50" y="-355600"/>
            <a:ext cx="13963650" cy="73088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264400" y="1035050"/>
            <a:ext cx="4483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이름을 알파벳순으로 찾아볼 수 있는 색인 생성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635000"/>
            <a:ext cx="7010400" cy="6870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95475" y="261938"/>
            <a:ext cx="73469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클래스·함수·변수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이름을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색인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(Index)에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어떻게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정렬할지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결정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2520950" y="177800"/>
            <a:ext cx="7366000" cy="463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9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INDEX =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850" y="844550"/>
            <a:ext cx="4883150" cy="5905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300" y="1270000"/>
            <a:ext cx="1987550" cy="5905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483350" y="2686050"/>
            <a:ext cx="5829300" cy="3238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접두사를 무시하고 알파벳순으로 정렬할 때 사용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962900" y="1809750"/>
            <a:ext cx="109220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AB2174-7712-9208-B8D8-953C2896707C}"/>
              </a:ext>
            </a:extLst>
          </p:cNvPr>
          <p:cNvSpPr txBox="1"/>
          <p:nvPr/>
        </p:nvSpPr>
        <p:spPr>
          <a:xfrm>
            <a:off x="1864895" y="1431758"/>
            <a:ext cx="866273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Html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2216800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7A6EC7-435B-D599-EE51-1461749FE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08431" cy="6513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839B9-B85E-A630-D122-B7AA20ED86CD}"/>
              </a:ext>
            </a:extLst>
          </p:cNvPr>
          <p:cNvSpPr txBox="1"/>
          <p:nvPr/>
        </p:nvSpPr>
        <p:spPr>
          <a:xfrm>
            <a:off x="6062375" y="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GENERATE_HTML</a:t>
            </a:r>
            <a:r>
              <a:rPr lang="en-US" altLang="ko-KR" dirty="0"/>
              <a:t> : HTML </a:t>
            </a:r>
            <a:r>
              <a:rPr lang="ko-KR" altLang="en-US" dirty="0"/>
              <a:t>형식의 문서 생성 여부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0BB76-14B6-13CF-E7C5-DDBD8EBEB762}"/>
              </a:ext>
            </a:extLst>
          </p:cNvPr>
          <p:cNvSpPr txBox="1"/>
          <p:nvPr/>
        </p:nvSpPr>
        <p:spPr>
          <a:xfrm>
            <a:off x="6062375" y="323165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HTML_OUTPUT : </a:t>
            </a:r>
            <a:r>
              <a:rPr lang="ko-KR" altLang="en-US" sz="1800" dirty="0"/>
              <a:t>생성된 </a:t>
            </a:r>
            <a:r>
              <a:rPr lang="en-US" altLang="ko-KR" dirty="0"/>
              <a:t>HTML</a:t>
            </a:r>
            <a:r>
              <a:rPr lang="ko-KR" altLang="en-US" dirty="0"/>
              <a:t> </a:t>
            </a:r>
            <a:r>
              <a:rPr lang="ko-KR" altLang="en-US" sz="1800" dirty="0"/>
              <a:t>폴더 이름 </a:t>
            </a:r>
            <a:r>
              <a:rPr lang="en-US" altLang="ko-KR" sz="1800" dirty="0"/>
              <a:t>(</a:t>
            </a:r>
            <a:r>
              <a:rPr lang="ko-KR" altLang="en-US" sz="1800" dirty="0"/>
              <a:t>비우면 폴더가 </a:t>
            </a:r>
            <a:r>
              <a:rPr lang="ko-KR" altLang="en-US" sz="1800" dirty="0" err="1"/>
              <a:t>생기지않음</a:t>
            </a:r>
            <a:r>
              <a:rPr lang="en-US" altLang="ko-KR" sz="1800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4B534-C825-A0CC-B3A1-FDD221D173BF}"/>
              </a:ext>
            </a:extLst>
          </p:cNvPr>
          <p:cNvSpPr txBox="1"/>
          <p:nvPr/>
        </p:nvSpPr>
        <p:spPr>
          <a:xfrm>
            <a:off x="6062375" y="96949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HTML_FILE_EXTENSION : </a:t>
            </a:r>
            <a:r>
              <a:rPr lang="ko-KR" altLang="en-US" dirty="0"/>
              <a:t>확장자 지정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AD5AC-05E9-0BBD-4043-0C2D5394AE04}"/>
              </a:ext>
            </a:extLst>
          </p:cNvPr>
          <p:cNvSpPr txBox="1"/>
          <p:nvPr/>
        </p:nvSpPr>
        <p:spPr>
          <a:xfrm>
            <a:off x="6062375" y="1456397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HTML_HEADER : </a:t>
            </a:r>
            <a:r>
              <a:rPr lang="ko-KR" altLang="en-US" dirty="0"/>
              <a:t>웹페이지 </a:t>
            </a:r>
            <a:r>
              <a:rPr lang="ko-KR" altLang="en-US" dirty="0" err="1"/>
              <a:t>윗</a:t>
            </a:r>
            <a:r>
              <a:rPr lang="ko-KR" altLang="en-US" dirty="0"/>
              <a:t> 부분에 나옴 </a:t>
            </a:r>
            <a:r>
              <a:rPr lang="en-US" altLang="ko-KR" dirty="0"/>
              <a:t>(</a:t>
            </a:r>
            <a:r>
              <a:rPr lang="ko-KR" altLang="en-US" dirty="0"/>
              <a:t>글씨</a:t>
            </a:r>
            <a:r>
              <a:rPr lang="en-US" altLang="ko-KR" dirty="0"/>
              <a:t>-&gt;</a:t>
            </a:r>
            <a:r>
              <a:rPr lang="ko-KR" altLang="en-US" dirty="0"/>
              <a:t>글씨</a:t>
            </a:r>
            <a:br>
              <a:rPr lang="en-US" altLang="ko-KR" dirty="0"/>
            </a:br>
            <a:r>
              <a:rPr lang="en-US" altLang="ko-KR" dirty="0"/>
              <a:t>HTML</a:t>
            </a:r>
            <a:r>
              <a:rPr lang="ko-KR" altLang="en-US" dirty="0"/>
              <a:t> 코드 </a:t>
            </a:r>
            <a:r>
              <a:rPr lang="en-US" altLang="ko-KR" dirty="0"/>
              <a:t>-&gt; </a:t>
            </a:r>
            <a:r>
              <a:rPr lang="ko-KR" altLang="en-US" dirty="0"/>
              <a:t>코드 결과물</a:t>
            </a:r>
            <a:r>
              <a:rPr lang="en-US" altLang="ko-KR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5316C-458C-D33A-1B59-58E1E2265E28}"/>
              </a:ext>
            </a:extLst>
          </p:cNvPr>
          <p:cNvSpPr txBox="1"/>
          <p:nvPr/>
        </p:nvSpPr>
        <p:spPr>
          <a:xfrm>
            <a:off x="6096000" y="2148893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HTML_FOOTER : </a:t>
            </a:r>
            <a:r>
              <a:rPr lang="ko-KR" altLang="en-US" sz="1800" dirty="0"/>
              <a:t>웹페이지 </a:t>
            </a:r>
            <a:r>
              <a:rPr lang="ko-KR" altLang="en-US" sz="1800" dirty="0" err="1"/>
              <a:t>아랫</a:t>
            </a:r>
            <a:r>
              <a:rPr lang="ko-KR" altLang="en-US" sz="1800" dirty="0"/>
              <a:t> 부분에 나옴 </a:t>
            </a:r>
            <a:r>
              <a:rPr lang="en-US" altLang="ko-KR" sz="1800" dirty="0"/>
              <a:t>(HEADER</a:t>
            </a:r>
            <a:r>
              <a:rPr lang="ko-KR" altLang="en-US" sz="1800" dirty="0"/>
              <a:t>와 나오는 위치만 다름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6F0004-0024-159E-5B54-7FDF3A371056}"/>
              </a:ext>
            </a:extLst>
          </p:cNvPr>
          <p:cNvSpPr txBox="1"/>
          <p:nvPr/>
        </p:nvSpPr>
        <p:spPr>
          <a:xfrm>
            <a:off x="6062375" y="2912793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HTML_STYLESHEET : </a:t>
            </a:r>
            <a:r>
              <a:rPr lang="ko-KR" altLang="en-US" sz="1800" dirty="0"/>
              <a:t>웹페이지 꾸미는 부분 </a:t>
            </a:r>
            <a:br>
              <a:rPr lang="en-US" altLang="ko-KR" sz="1800" dirty="0"/>
            </a:br>
            <a:r>
              <a:rPr lang="en-US" altLang="ko-KR" sz="1800" dirty="0"/>
              <a:t>(DOXYGEN CSS </a:t>
            </a:r>
            <a:r>
              <a:rPr lang="ko-KR" altLang="en-US" sz="1800" dirty="0"/>
              <a:t>파일</a:t>
            </a:r>
            <a:r>
              <a:rPr lang="ko-KR" altLang="en-US" dirty="0"/>
              <a:t>을 대체하는 파일</a:t>
            </a:r>
            <a:r>
              <a:rPr lang="en-US" altLang="ko-KR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308BF-23D3-935D-1973-F172164CDAD1}"/>
              </a:ext>
            </a:extLst>
          </p:cNvPr>
          <p:cNvSpPr txBox="1"/>
          <p:nvPr/>
        </p:nvSpPr>
        <p:spPr>
          <a:xfrm>
            <a:off x="6062375" y="388229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</a:t>
            </a:r>
            <a:r>
              <a:rPr lang="en-US" altLang="ko-KR" dirty="0"/>
              <a:t>EXTRA_</a:t>
            </a:r>
            <a:r>
              <a:rPr lang="en-US" altLang="ko-KR" sz="1800" dirty="0"/>
              <a:t>STLESHEET : </a:t>
            </a:r>
            <a:r>
              <a:rPr lang="ko-KR" altLang="en-US" dirty="0"/>
              <a:t>웹페이지 꾸미는 부분</a:t>
            </a:r>
            <a:endParaRPr lang="en-US" altLang="ko-KR" dirty="0"/>
          </a:p>
          <a:p>
            <a:r>
              <a:rPr lang="en-US" altLang="ko-KR" sz="1800" dirty="0"/>
              <a:t>(DOXYGEN </a:t>
            </a:r>
            <a:r>
              <a:rPr lang="en-US" altLang="ko-KR" dirty="0"/>
              <a:t>CSS</a:t>
            </a:r>
            <a:r>
              <a:rPr lang="ko-KR" altLang="en-US" dirty="0"/>
              <a:t>를 유지하고 꾸밈</a:t>
            </a:r>
            <a:r>
              <a:rPr lang="en-US" altLang="ko-KR" dirty="0"/>
              <a:t>)</a:t>
            </a:r>
            <a:r>
              <a:rPr lang="en-US" altLang="ko-KR" sz="1800" dirty="0"/>
              <a:t>  </a:t>
            </a:r>
            <a:endParaRPr lang="ko-KR" alt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8E245-EFDE-DFA6-AA0A-83DB547421CA}"/>
              </a:ext>
            </a:extLst>
          </p:cNvPr>
          <p:cNvSpPr txBox="1"/>
          <p:nvPr/>
        </p:nvSpPr>
        <p:spPr>
          <a:xfrm>
            <a:off x="6062375" y="5401603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HTML_EXTRA_FILES : CSS</a:t>
            </a:r>
            <a:r>
              <a:rPr lang="ko-KR" altLang="en-US" sz="1800" dirty="0"/>
              <a:t>와 </a:t>
            </a:r>
            <a:r>
              <a:rPr lang="en-US" altLang="ko-KR" sz="1800" dirty="0"/>
              <a:t>HEADER,FOOTER</a:t>
            </a:r>
            <a:r>
              <a:rPr lang="ko-KR" altLang="en-US" sz="1800" dirty="0"/>
              <a:t>안에 넣은 추가 파일의 결과물을 올리는 곳 </a:t>
            </a:r>
            <a:r>
              <a:rPr lang="en-US" altLang="ko-KR" sz="1800" dirty="0"/>
              <a:t>(</a:t>
            </a:r>
            <a:r>
              <a:rPr lang="ko-KR" altLang="en-US" dirty="0" err="1"/>
              <a:t>결과물없으면</a:t>
            </a:r>
            <a:r>
              <a:rPr lang="ko-KR" altLang="en-US" dirty="0"/>
              <a:t> 웹페이지 </a:t>
            </a:r>
            <a:endParaRPr lang="en-US" altLang="ko-KR" dirty="0"/>
          </a:p>
          <a:p>
            <a:r>
              <a:rPr lang="ko-KR" altLang="en-US" dirty="0"/>
              <a:t>속 에서 깨짐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865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068B25-E631-6026-81E7-24D7FCBBD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11" y="146454"/>
            <a:ext cx="8278380" cy="1219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B2B85-06C7-2C81-870A-4103C3FEB022}"/>
              </a:ext>
            </a:extLst>
          </p:cNvPr>
          <p:cNvSpPr txBox="1"/>
          <p:nvPr/>
        </p:nvSpPr>
        <p:spPr>
          <a:xfrm>
            <a:off x="3046828" y="136582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HTML_HEADER </a:t>
            </a:r>
            <a:r>
              <a:rPr lang="ko-KR" altLang="en-US" sz="1800" dirty="0"/>
              <a:t>적용 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189D13-21C5-F581-1D08-D3B8E48F4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84" y="3064666"/>
            <a:ext cx="8287907" cy="1629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16F264-4DF8-4320-A4D6-BAE7B17F0A96}"/>
              </a:ext>
            </a:extLst>
          </p:cNvPr>
          <p:cNvSpPr txBox="1"/>
          <p:nvPr/>
        </p:nvSpPr>
        <p:spPr>
          <a:xfrm>
            <a:off x="3046828" y="493817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적용 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355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B7A6D4-4324-BAB9-E6D5-6DE94E50B1AF}"/>
              </a:ext>
            </a:extLst>
          </p:cNvPr>
          <p:cNvSpPr txBox="1"/>
          <p:nvPr/>
        </p:nvSpPr>
        <p:spPr>
          <a:xfrm>
            <a:off x="6501185" y="7685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 :</a:t>
            </a:r>
            <a:r>
              <a:rPr lang="en-US" altLang="ko-KR" dirty="0"/>
              <a:t> </a:t>
            </a:r>
            <a:r>
              <a:rPr lang="ko-KR" altLang="en-US" dirty="0"/>
              <a:t>라이트</a:t>
            </a:r>
            <a:r>
              <a:rPr lang="en-US" altLang="ko-KR" dirty="0"/>
              <a:t>,</a:t>
            </a:r>
            <a:r>
              <a:rPr lang="ko-KR" altLang="en-US" dirty="0" err="1"/>
              <a:t>다크모드</a:t>
            </a:r>
            <a:r>
              <a:rPr lang="ko-KR" altLang="en-US" dirty="0"/>
              <a:t> 설정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B38DD-BCBB-02B7-6C8A-99B247CFC44B}"/>
              </a:ext>
            </a:extLst>
          </p:cNvPr>
          <p:cNvSpPr txBox="1"/>
          <p:nvPr/>
        </p:nvSpPr>
        <p:spPr>
          <a:xfrm>
            <a:off x="6501185" y="649371"/>
            <a:ext cx="6302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HTML_COLORSTYLE_HUE</a:t>
            </a:r>
            <a:r>
              <a:rPr lang="en-US" altLang="ko-KR" dirty="0"/>
              <a:t> : </a:t>
            </a:r>
            <a:r>
              <a:rPr lang="ko-KR" altLang="en-US" dirty="0"/>
              <a:t>설정한 컬러스타일 </a:t>
            </a:r>
            <a:endParaRPr lang="en-US" altLang="ko-KR" dirty="0"/>
          </a:p>
          <a:p>
            <a:r>
              <a:rPr lang="ko-KR" altLang="en-US" dirty="0"/>
              <a:t>기준에서 색조 변환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C1AF1-D790-84EA-DF69-6F90047A178C}"/>
              </a:ext>
            </a:extLst>
          </p:cNvPr>
          <p:cNvSpPr txBox="1"/>
          <p:nvPr/>
        </p:nvSpPr>
        <p:spPr>
          <a:xfrm>
            <a:off x="6501185" y="1497996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HTML_COLORSTYLE_</a:t>
            </a:r>
            <a:r>
              <a:rPr lang="en-US" altLang="ko-KR" dirty="0"/>
              <a:t>SAT : </a:t>
            </a:r>
            <a:r>
              <a:rPr lang="ko-KR" altLang="en-US" dirty="0"/>
              <a:t>설정한 컬러스타일 기준으로</a:t>
            </a:r>
            <a:endParaRPr lang="en-US" altLang="ko-KR" dirty="0"/>
          </a:p>
          <a:p>
            <a:r>
              <a:rPr lang="ko-KR" altLang="en-US" dirty="0"/>
              <a:t>채도 변환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B19B5-A5E3-FFA1-EDFF-075F8BC26784}"/>
              </a:ext>
            </a:extLst>
          </p:cNvPr>
          <p:cNvSpPr txBox="1"/>
          <p:nvPr/>
        </p:nvSpPr>
        <p:spPr>
          <a:xfrm>
            <a:off x="6501185" y="2211877"/>
            <a:ext cx="6450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HTML_COLORSTYLE_</a:t>
            </a:r>
            <a:r>
              <a:rPr lang="en-US" altLang="ko-KR" sz="1800" dirty="0"/>
              <a:t>GAMMA : </a:t>
            </a:r>
            <a:r>
              <a:rPr lang="ko-KR" altLang="en-US" sz="1800" dirty="0"/>
              <a:t>설정한 컬러스타일</a:t>
            </a:r>
            <a:br>
              <a:rPr lang="en-US" altLang="ko-KR" sz="1800" dirty="0"/>
            </a:br>
            <a:r>
              <a:rPr lang="ko-KR" altLang="en-US" sz="1800" dirty="0"/>
              <a:t>기준으로 명암 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5A6374-5AF7-42E4-65FC-587FB77BA7BA}"/>
              </a:ext>
            </a:extLst>
          </p:cNvPr>
          <p:cNvSpPr txBox="1"/>
          <p:nvPr/>
        </p:nvSpPr>
        <p:spPr>
          <a:xfrm>
            <a:off x="6488876" y="2871414"/>
            <a:ext cx="6478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</a:t>
            </a:r>
            <a:r>
              <a:rPr lang="en-US" altLang="ko-KR" sz="1800" dirty="0"/>
              <a:t>DYNAMIC</a:t>
            </a:r>
            <a:r>
              <a:rPr lang="en-US" altLang="ko-KR" dirty="0"/>
              <a:t>_MENUS</a:t>
            </a:r>
            <a:r>
              <a:rPr lang="en-US" altLang="ko-KR" sz="1800" dirty="0"/>
              <a:t> : </a:t>
            </a:r>
            <a:r>
              <a:rPr lang="ko-KR" altLang="en-US" sz="1800" dirty="0"/>
              <a:t>메뉴를 클릭하면 접거나</a:t>
            </a:r>
            <a:endParaRPr lang="en-US" altLang="ko-KR" sz="1800" dirty="0"/>
          </a:p>
          <a:p>
            <a:r>
              <a:rPr lang="ko-KR" altLang="en-US" dirty="0"/>
              <a:t>펼쳐지게 하는 기능</a:t>
            </a:r>
            <a:r>
              <a:rPr lang="en-US" altLang="ko-KR" dirty="0"/>
              <a:t> (</a:t>
            </a:r>
            <a:r>
              <a:rPr lang="ko-KR" altLang="en-US" dirty="0"/>
              <a:t>비활성화 시 펼쳐진 상태 고정</a:t>
            </a:r>
            <a:r>
              <a:rPr lang="en-US" altLang="ko-KR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002AA6-38AF-7864-0EFE-0332F3B5F1BC}"/>
              </a:ext>
            </a:extLst>
          </p:cNvPr>
          <p:cNvSpPr txBox="1"/>
          <p:nvPr/>
        </p:nvSpPr>
        <p:spPr>
          <a:xfrm>
            <a:off x="6508219" y="4244832"/>
            <a:ext cx="6492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HTML_CODE_FOLDING :</a:t>
            </a:r>
            <a:r>
              <a:rPr lang="en-US" altLang="ko-KR" dirty="0"/>
              <a:t> </a:t>
            </a:r>
            <a:r>
              <a:rPr lang="ko-KR" altLang="en-US" dirty="0"/>
              <a:t>함수나 코드를 접거나 펼치는</a:t>
            </a:r>
            <a:endParaRPr lang="en-US" altLang="ko-KR" dirty="0"/>
          </a:p>
          <a:p>
            <a:r>
              <a:rPr lang="ko-KR" altLang="en-US" dirty="0"/>
              <a:t>기능 </a:t>
            </a:r>
            <a:r>
              <a:rPr lang="en-US" altLang="ko-KR" dirty="0"/>
              <a:t>(</a:t>
            </a:r>
            <a:r>
              <a:rPr lang="ko-KR" altLang="en-US" dirty="0"/>
              <a:t>비활성화 시 펼쳐진 상태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95D7603-065D-01AF-CD92-4F29C482D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8"/>
            <a:ext cx="6504702" cy="68489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1789E7-05AD-9B14-E45B-597CA0190CC5}"/>
              </a:ext>
            </a:extLst>
          </p:cNvPr>
          <p:cNvSpPr txBox="1"/>
          <p:nvPr/>
        </p:nvSpPr>
        <p:spPr>
          <a:xfrm>
            <a:off x="6501185" y="3541041"/>
            <a:ext cx="6499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HTML_DYNAMIC_SECTIONS :</a:t>
            </a:r>
            <a:r>
              <a:rPr lang="en-US" altLang="ko-KR" sz="1800" dirty="0"/>
              <a:t> </a:t>
            </a:r>
            <a:r>
              <a:rPr lang="ko-KR" altLang="en-US" sz="1800" dirty="0"/>
              <a:t>긴 글</a:t>
            </a:r>
            <a:r>
              <a:rPr lang="en-US" altLang="ko-KR" sz="1800" dirty="0"/>
              <a:t>,</a:t>
            </a:r>
            <a:r>
              <a:rPr lang="ko-KR" altLang="en-US" sz="1800" dirty="0"/>
              <a:t>숨겨진 상세설명</a:t>
            </a:r>
            <a:r>
              <a:rPr lang="ko-KR" altLang="en-US" dirty="0"/>
              <a:t>을</a:t>
            </a:r>
            <a:br>
              <a:rPr lang="en-US" altLang="ko-KR" sz="1800" dirty="0"/>
            </a:br>
            <a:r>
              <a:rPr lang="ko-KR" altLang="en-US" sz="1800" dirty="0"/>
              <a:t>접거나</a:t>
            </a:r>
            <a:r>
              <a:rPr lang="en-US" altLang="ko-KR" dirty="0"/>
              <a:t> </a:t>
            </a:r>
            <a:r>
              <a:rPr lang="ko-KR" altLang="en-US" sz="1800" dirty="0"/>
              <a:t>펼쳐지게 하는 기능 </a:t>
            </a:r>
            <a:r>
              <a:rPr lang="en-US" altLang="ko-KR" sz="1800" dirty="0"/>
              <a:t>(</a:t>
            </a:r>
            <a:r>
              <a:rPr lang="ko-KR" altLang="en-US" sz="1800" dirty="0"/>
              <a:t>비활성화 시 펼쳐진 상태</a:t>
            </a:r>
            <a:r>
              <a:rPr lang="en-US" altLang="ko-KR" sz="18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F1D41-3C94-AE8A-A638-5646CA7DA76E}"/>
              </a:ext>
            </a:extLst>
          </p:cNvPr>
          <p:cNvSpPr txBox="1"/>
          <p:nvPr/>
        </p:nvSpPr>
        <p:spPr>
          <a:xfrm>
            <a:off x="6508219" y="4948623"/>
            <a:ext cx="6499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ko-KR" altLang="ko-KR" dirty="0"/>
              <a:t>HTML_</a:t>
            </a:r>
            <a:r>
              <a:rPr lang="en-US" altLang="ko-KR" dirty="0"/>
              <a:t>COPY</a:t>
            </a:r>
            <a:r>
              <a:rPr lang="ko-KR" altLang="ko-KR" dirty="0"/>
              <a:t>_CLIPBOARD</a:t>
            </a:r>
            <a:r>
              <a:rPr lang="en-US" altLang="ko-KR" dirty="0"/>
              <a:t> : </a:t>
            </a:r>
            <a:r>
              <a:rPr lang="ko-KR" altLang="en-US" dirty="0"/>
              <a:t>코드 블록마다 복사 버튼 </a:t>
            </a:r>
            <a:endParaRPr lang="en-US" altLang="ko-KR" dirty="0"/>
          </a:p>
          <a:p>
            <a:pPr marL="0" marR="0" rtl="0">
              <a:lnSpc>
                <a:spcPts val="1800"/>
              </a:lnSpc>
              <a:buNone/>
            </a:pPr>
            <a:r>
              <a:rPr lang="ko-KR" altLang="en-US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1C4006-76BD-7C02-150A-819A648DA6F7}"/>
              </a:ext>
            </a:extLst>
          </p:cNvPr>
          <p:cNvSpPr txBox="1"/>
          <p:nvPr/>
        </p:nvSpPr>
        <p:spPr>
          <a:xfrm>
            <a:off x="6508219" y="5494150"/>
            <a:ext cx="650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HTML_PROJECT_COOKIE</a:t>
            </a:r>
            <a:r>
              <a:rPr lang="en-US" altLang="ko-KR" dirty="0"/>
              <a:t> : </a:t>
            </a:r>
            <a:r>
              <a:rPr lang="ko-KR" altLang="en-US" dirty="0"/>
              <a:t>브라우저 사용자 설정 저장</a:t>
            </a:r>
            <a:endParaRPr lang="en-US" altLang="ko-KR" dirty="0"/>
          </a:p>
          <a:p>
            <a:r>
              <a:rPr lang="ko-KR" altLang="en-US" dirty="0"/>
              <a:t>할 쿠키 이름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2E7728-94C1-C2D7-897C-0F3C9971B2F7}"/>
              </a:ext>
            </a:extLst>
          </p:cNvPr>
          <p:cNvSpPr txBox="1"/>
          <p:nvPr/>
        </p:nvSpPr>
        <p:spPr>
          <a:xfrm>
            <a:off x="6508219" y="6176075"/>
            <a:ext cx="650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HTML_INDEX_NUM_ENTRIES</a:t>
            </a:r>
            <a:r>
              <a:rPr lang="en-US" altLang="ko-KR" dirty="0"/>
              <a:t> : </a:t>
            </a:r>
            <a:r>
              <a:rPr lang="ko-KR" altLang="en-US" dirty="0"/>
              <a:t>메뉴와 목차를 몇 개의</a:t>
            </a:r>
            <a:endParaRPr lang="en-US" altLang="ko-KR" dirty="0"/>
          </a:p>
          <a:p>
            <a:r>
              <a:rPr lang="ko-KR" altLang="en-US" dirty="0"/>
              <a:t>항목을 </a:t>
            </a:r>
            <a:r>
              <a:rPr lang="ko-KR" altLang="en-US" dirty="0" err="1"/>
              <a:t>펼치게할지</a:t>
            </a:r>
            <a:r>
              <a:rPr lang="ko-KR" altLang="en-US" dirty="0"/>
              <a:t> 정하는 기능 </a:t>
            </a:r>
            <a:r>
              <a:rPr lang="en-US" altLang="ko-KR" dirty="0"/>
              <a:t>(</a:t>
            </a:r>
            <a:r>
              <a:rPr lang="ko-KR" altLang="en-US" dirty="0"/>
              <a:t>다이나믹 메뉴 필수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9854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D1B628-A534-33EB-F33F-09F3BFA1E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CD2B9-AF32-DA9B-D3AE-E0AA9B92E6E0}"/>
              </a:ext>
            </a:extLst>
          </p:cNvPr>
          <p:cNvSpPr txBox="1"/>
          <p:nvPr/>
        </p:nvSpPr>
        <p:spPr>
          <a:xfrm>
            <a:off x="6096000" y="0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GENERATE_DOCSET : Xcode </a:t>
            </a:r>
            <a:r>
              <a:rPr lang="ko-KR" altLang="en-US"/>
              <a:t>전용 도움말 문서 제작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F60135-1521-0781-9CD7-EE5B03ABC96B}"/>
              </a:ext>
            </a:extLst>
          </p:cNvPr>
          <p:cNvSpPr txBox="1"/>
          <p:nvPr/>
        </p:nvSpPr>
        <p:spPr>
          <a:xfrm>
            <a:off x="6093656" y="5942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DOCSET_FEEDNAME</a:t>
            </a:r>
            <a:r>
              <a:rPr lang="en-US" altLang="ko-KR" dirty="0"/>
              <a:t> : </a:t>
            </a:r>
            <a:r>
              <a:rPr lang="ko-KR" altLang="en-US" dirty="0"/>
              <a:t>문서 업데이트 정보 확인 시 </a:t>
            </a:r>
            <a:br>
              <a:rPr lang="en-US" altLang="ko-KR" dirty="0"/>
            </a:br>
            <a:r>
              <a:rPr lang="ko-KR" altLang="en-US" dirty="0"/>
              <a:t>사용할 이름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235E3-BDB3-B265-CAA6-B65EB0432F36}"/>
              </a:ext>
            </a:extLst>
          </p:cNvPr>
          <p:cNvSpPr txBox="1"/>
          <p:nvPr/>
        </p:nvSpPr>
        <p:spPr>
          <a:xfrm>
            <a:off x="6093656" y="139788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DOCSET_FEED</a:t>
            </a:r>
            <a:r>
              <a:rPr lang="en-US" altLang="ko-KR" dirty="0"/>
              <a:t>URL</a:t>
            </a:r>
            <a:r>
              <a:rPr lang="en-US" altLang="ko-KR" sz="1800" dirty="0"/>
              <a:t> : </a:t>
            </a:r>
            <a:r>
              <a:rPr lang="ko-KR" altLang="en-US" sz="1800" dirty="0"/>
              <a:t>문서 업데이트 정보를 확인하는 주소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DD3A2-28DE-ACE4-610A-E19E8AACF8DE}"/>
              </a:ext>
            </a:extLst>
          </p:cNvPr>
          <p:cNvSpPr txBox="1"/>
          <p:nvPr/>
        </p:nvSpPr>
        <p:spPr>
          <a:xfrm>
            <a:off x="6093656" y="2782669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</a:t>
            </a:r>
            <a:r>
              <a:rPr lang="en-US" altLang="ko-KR" dirty="0"/>
              <a:t>PUBLISHER</a:t>
            </a:r>
            <a:r>
              <a:rPr lang="en-US" altLang="ko-KR" sz="1800" dirty="0"/>
              <a:t>_ID : </a:t>
            </a:r>
            <a:r>
              <a:rPr lang="ko-KR" altLang="en-US" dirty="0"/>
              <a:t>해당 문서를 만든 회사나 개발</a:t>
            </a:r>
            <a:endParaRPr lang="en-US" altLang="ko-KR" dirty="0"/>
          </a:p>
          <a:p>
            <a:r>
              <a:rPr lang="ko-KR" altLang="en-US" sz="1800" dirty="0"/>
              <a:t>그룹의 고유한 </a:t>
            </a:r>
            <a:r>
              <a:rPr lang="en-US" altLang="ko-KR" sz="1800" dirty="0"/>
              <a:t>ID 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BDF1A1-3034-9C62-FDEC-C6CCBDE9AA7F}"/>
              </a:ext>
            </a:extLst>
          </p:cNvPr>
          <p:cNvSpPr txBox="1"/>
          <p:nvPr/>
        </p:nvSpPr>
        <p:spPr>
          <a:xfrm>
            <a:off x="6093656" y="219409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</a:t>
            </a:r>
            <a:r>
              <a:rPr lang="en-US" altLang="ko-KR" sz="1800" dirty="0"/>
              <a:t>BUNDLE_ID: </a:t>
            </a:r>
            <a:r>
              <a:rPr lang="ko-KR" altLang="en-US" sz="1800" dirty="0"/>
              <a:t>해당</a:t>
            </a:r>
            <a:r>
              <a:rPr lang="en-US" altLang="ko-KR" sz="1800" dirty="0"/>
              <a:t> </a:t>
            </a:r>
            <a:r>
              <a:rPr lang="ko-KR" altLang="en-US" dirty="0"/>
              <a:t>문서 패키지의 고유한 </a:t>
            </a:r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C1EFC-97A7-C162-D5EA-51C83F18DCE0}"/>
              </a:ext>
            </a:extLst>
          </p:cNvPr>
          <p:cNvSpPr txBox="1"/>
          <p:nvPr/>
        </p:nvSpPr>
        <p:spPr>
          <a:xfrm>
            <a:off x="6093656" y="3429000"/>
            <a:ext cx="6098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dirty="0"/>
              <a:t>DOCSET_PUBLISHER_NAME</a:t>
            </a:r>
            <a:r>
              <a:rPr lang="en-US" altLang="ko-KR" dirty="0"/>
              <a:t> : </a:t>
            </a:r>
            <a:r>
              <a:rPr lang="ko-KR" altLang="en-US" dirty="0"/>
              <a:t>해당 문서를 만든 회사나 </a:t>
            </a:r>
            <a:endParaRPr lang="en-US" altLang="ko-KR" dirty="0"/>
          </a:p>
          <a:p>
            <a:r>
              <a:rPr lang="ko-KR" altLang="en-US" dirty="0"/>
              <a:t>개발자 이름을 사람들이 보이게 적는 기능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CD56A3A-C570-BA4C-46FC-F8763407EEE1}"/>
              </a:ext>
            </a:extLst>
          </p:cNvPr>
          <p:cNvSpPr/>
          <p:nvPr/>
        </p:nvSpPr>
        <p:spPr>
          <a:xfrm>
            <a:off x="0" y="0"/>
            <a:ext cx="12192000" cy="4220308"/>
          </a:xfrm>
          <a:prstGeom prst="roundRect">
            <a:avLst>
              <a:gd name="adj" fmla="val 4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C038A-FE9C-06FD-64BA-55BFD1265003}"/>
              </a:ext>
            </a:extLst>
          </p:cNvPr>
          <p:cNvSpPr txBox="1"/>
          <p:nvPr/>
        </p:nvSpPr>
        <p:spPr>
          <a:xfrm>
            <a:off x="2616590" y="32592"/>
            <a:ext cx="39952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FF0000"/>
                </a:solidFill>
              </a:rPr>
              <a:t>맥</a:t>
            </a:r>
            <a:r>
              <a:rPr lang="en-US" altLang="ko-KR" sz="2500" b="1" dirty="0">
                <a:solidFill>
                  <a:srgbClr val="FF0000"/>
                </a:solidFill>
              </a:rPr>
              <a:t>(Mac)</a:t>
            </a:r>
            <a:r>
              <a:rPr lang="ko-KR" altLang="en-US" sz="2500" b="1" dirty="0">
                <a:solidFill>
                  <a:srgbClr val="FF0000"/>
                </a:solidFill>
              </a:rPr>
              <a:t>을 위한 기능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51701D-0918-5247-2816-F592782BF1E4}"/>
              </a:ext>
            </a:extLst>
          </p:cNvPr>
          <p:cNvSpPr txBox="1"/>
          <p:nvPr/>
        </p:nvSpPr>
        <p:spPr>
          <a:xfrm>
            <a:off x="6093656" y="4304946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GENERATE_HTMLHELP : </a:t>
            </a:r>
            <a:r>
              <a:rPr lang="ko-KR" altLang="en-US" dirty="0"/>
              <a:t>윈도우 전용 도움말 파일 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F57E2C-EA71-9955-E36E-4BD15FB90A9A}"/>
              </a:ext>
            </a:extLst>
          </p:cNvPr>
          <p:cNvSpPr txBox="1"/>
          <p:nvPr/>
        </p:nvSpPr>
        <p:spPr>
          <a:xfrm>
            <a:off x="6093656" y="509078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CHM_FILE</a:t>
            </a:r>
            <a:r>
              <a:rPr lang="en-US" altLang="ko-KR" dirty="0"/>
              <a:t> : </a:t>
            </a:r>
            <a:r>
              <a:rPr lang="ko-KR" altLang="en-US" dirty="0"/>
              <a:t>도움말 파일 이름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990BA4-B86D-03E4-27E5-45426BE6CF6A}"/>
              </a:ext>
            </a:extLst>
          </p:cNvPr>
          <p:cNvSpPr txBox="1"/>
          <p:nvPr/>
        </p:nvSpPr>
        <p:spPr>
          <a:xfrm>
            <a:off x="6093656" y="6123999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HHC</a:t>
            </a:r>
            <a:r>
              <a:rPr lang="ko-KR" altLang="ko-KR" dirty="0"/>
              <a:t>_</a:t>
            </a:r>
            <a:r>
              <a:rPr lang="en-US" altLang="ko-KR" dirty="0"/>
              <a:t>LOCATION : </a:t>
            </a:r>
            <a:r>
              <a:rPr lang="ko-KR" altLang="en-US" dirty="0"/>
              <a:t>도움말 파일 저장 위치</a:t>
            </a:r>
          </a:p>
        </p:txBody>
      </p:sp>
    </p:spTree>
    <p:extLst>
      <p:ext uri="{BB962C8B-B14F-4D97-AF65-F5344CB8AC3E}">
        <p14:creationId xmlns:p14="http://schemas.microsoft.com/office/powerpoint/2010/main" val="1872741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0AAF61-82ED-07EB-97A4-6921E2626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92958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2BB1E-C56B-7D9C-3783-67BA5F1CBAFF}"/>
              </a:ext>
            </a:extLst>
          </p:cNvPr>
          <p:cNvSpPr txBox="1"/>
          <p:nvPr/>
        </p:nvSpPr>
        <p:spPr>
          <a:xfrm>
            <a:off x="6929586" y="16904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GENERATE_CHI : </a:t>
            </a:r>
            <a:r>
              <a:rPr lang="ko-KR" altLang="en-US" dirty="0"/>
              <a:t>인덱스 정보가 담긴 파일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4B311-E4E4-0925-2C83-E21D430374C1}"/>
              </a:ext>
            </a:extLst>
          </p:cNvPr>
          <p:cNvSpPr txBox="1"/>
          <p:nvPr/>
        </p:nvSpPr>
        <p:spPr>
          <a:xfrm>
            <a:off x="6929586" y="626818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CHM_INDEX_ENCODING : </a:t>
            </a:r>
            <a:r>
              <a:rPr lang="ko-KR" altLang="en-US" dirty="0"/>
              <a:t>도움말 파일에 사용할</a:t>
            </a:r>
            <a:endParaRPr lang="en-US" altLang="ko-KR" dirty="0"/>
          </a:p>
          <a:p>
            <a:r>
              <a:rPr lang="ko-KR" altLang="en-US" dirty="0"/>
              <a:t>문자 인코딩 설정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EF2B1-2FE5-A674-4F0E-DD6ACDEE1FA5}"/>
              </a:ext>
            </a:extLst>
          </p:cNvPr>
          <p:cNvSpPr txBox="1"/>
          <p:nvPr/>
        </p:nvSpPr>
        <p:spPr>
          <a:xfrm>
            <a:off x="6929586" y="1284242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BINARY_TOC : </a:t>
            </a:r>
            <a:r>
              <a:rPr lang="ko-KR" altLang="en-US" dirty="0"/>
              <a:t>도움말 파일의 목차를 이진 형식을</a:t>
            </a:r>
            <a:endParaRPr lang="en-US" altLang="ko-KR" dirty="0"/>
          </a:p>
          <a:p>
            <a:r>
              <a:rPr lang="ko-KR" altLang="en-US" dirty="0"/>
              <a:t>사용해 압축하는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F2497-2820-7773-CC34-AAFAD6A0EA9C}"/>
              </a:ext>
            </a:extLst>
          </p:cNvPr>
          <p:cNvSpPr txBox="1"/>
          <p:nvPr/>
        </p:nvSpPr>
        <p:spPr>
          <a:xfrm>
            <a:off x="6929586" y="1919480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TOC_EXPAND : </a:t>
            </a:r>
            <a:r>
              <a:rPr lang="ko-KR" altLang="en-US" dirty="0"/>
              <a:t>도움말 목차 세부 항목 전체</a:t>
            </a:r>
            <a:endParaRPr lang="en-US" altLang="ko-KR" dirty="0"/>
          </a:p>
          <a:p>
            <a:r>
              <a:rPr lang="ko-KR" altLang="en-US" dirty="0"/>
              <a:t>보여주는 기능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A14281-E2B3-7D7E-B154-9C95391BB5D0}"/>
              </a:ext>
            </a:extLst>
          </p:cNvPr>
          <p:cNvSpPr txBox="1"/>
          <p:nvPr/>
        </p:nvSpPr>
        <p:spPr>
          <a:xfrm>
            <a:off x="6929586" y="2565811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SITEMAP_URL : </a:t>
            </a:r>
            <a:r>
              <a:rPr lang="ko-KR" altLang="en-US" dirty="0"/>
              <a:t>문서 웹사이트가 인터넷에 배정될</a:t>
            </a:r>
            <a:endParaRPr lang="en-US" altLang="ko-KR" dirty="0"/>
          </a:p>
          <a:p>
            <a:r>
              <a:rPr lang="ko-KR" altLang="en-US" dirty="0"/>
              <a:t>실제 웹 주소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CC97B-1DD1-BDCB-A2F7-E2F5639EEFE1}"/>
              </a:ext>
            </a:extLst>
          </p:cNvPr>
          <p:cNvSpPr txBox="1"/>
          <p:nvPr/>
        </p:nvSpPr>
        <p:spPr>
          <a:xfrm>
            <a:off x="6929586" y="327652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GENERATE_QHP :Qt </a:t>
            </a:r>
            <a:r>
              <a:rPr lang="ko-KR" altLang="en-US" dirty="0"/>
              <a:t>도움말 시스템 전용 파일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F2937F-981D-1F5F-EF3B-EF235945B35D}"/>
              </a:ext>
            </a:extLst>
          </p:cNvPr>
          <p:cNvSpPr txBox="1"/>
          <p:nvPr/>
        </p:nvSpPr>
        <p:spPr>
          <a:xfrm>
            <a:off x="6929586" y="397547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QCH_FILE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도움말 파일 이름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B504FF-43B4-9E3E-1887-348DE4E8A7B8}"/>
              </a:ext>
            </a:extLst>
          </p:cNvPr>
          <p:cNvSpPr txBox="1"/>
          <p:nvPr/>
        </p:nvSpPr>
        <p:spPr>
          <a:xfrm>
            <a:off x="6929586" y="472974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QCH_NAMESPACE</a:t>
            </a:r>
            <a:r>
              <a:rPr lang="ko-KR" altLang="en-US" dirty="0"/>
              <a:t> </a:t>
            </a:r>
            <a:r>
              <a:rPr lang="en-US" altLang="ko-KR" dirty="0"/>
              <a:t>: Qt </a:t>
            </a:r>
            <a:r>
              <a:rPr lang="ko-KR" altLang="en-US" dirty="0"/>
              <a:t>도움말 파일의 고유 주소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C5FBF0-502C-2B9F-E65B-4BC669ECA9F4}"/>
              </a:ext>
            </a:extLst>
          </p:cNvPr>
          <p:cNvSpPr txBox="1"/>
          <p:nvPr/>
        </p:nvSpPr>
        <p:spPr>
          <a:xfrm>
            <a:off x="6929586" y="5332208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QCH_VIRTUAL_FOLDER :</a:t>
            </a:r>
            <a:r>
              <a:rPr lang="ko-KR" altLang="en-US" dirty="0"/>
              <a:t> 도움말 내부에서 문서</a:t>
            </a:r>
            <a:endParaRPr lang="en-US" altLang="ko-KR" dirty="0"/>
          </a:p>
          <a:p>
            <a:r>
              <a:rPr lang="ko-KR" altLang="en-US" dirty="0"/>
              <a:t>파일을 넣을 가상 폴더의 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338694-D5E6-0B7C-8100-1F6A9D465E03}"/>
              </a:ext>
            </a:extLst>
          </p:cNvPr>
          <p:cNvSpPr txBox="1"/>
          <p:nvPr/>
        </p:nvSpPr>
        <p:spPr>
          <a:xfrm>
            <a:off x="6929586" y="6095104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QCH_CUST_FILTER_NAME</a:t>
            </a:r>
            <a:r>
              <a:rPr lang="ko-KR" altLang="en-US" dirty="0"/>
              <a:t> </a:t>
            </a:r>
            <a:r>
              <a:rPr lang="en-US" altLang="ko-KR" dirty="0"/>
              <a:t>: Qt </a:t>
            </a:r>
            <a:r>
              <a:rPr lang="ko-KR" altLang="en-US" dirty="0"/>
              <a:t>도움말에서 </a:t>
            </a:r>
            <a:br>
              <a:rPr lang="en-US" altLang="ko-KR" dirty="0"/>
            </a:br>
            <a:r>
              <a:rPr lang="ko-KR" altLang="en-US" dirty="0"/>
              <a:t>사용자 정의 필터의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2469403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5BB88F-993F-E86D-1ECD-2166347042A8}"/>
              </a:ext>
            </a:extLst>
          </p:cNvPr>
          <p:cNvSpPr txBox="1"/>
          <p:nvPr/>
        </p:nvSpPr>
        <p:spPr>
          <a:xfrm>
            <a:off x="5697414" y="0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QCH_CUST_FILTER_</a:t>
            </a:r>
            <a:r>
              <a:rPr lang="en-US" altLang="ko-KR" dirty="0"/>
              <a:t>ATTRS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사용자 정의 필터의 속성 조건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700008-77E2-8071-D962-E4236E29B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69741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4C70B4-D31E-D507-5263-EAC7917E126A}"/>
              </a:ext>
            </a:extLst>
          </p:cNvPr>
          <p:cNvSpPr txBox="1"/>
          <p:nvPr/>
        </p:nvSpPr>
        <p:spPr>
          <a:xfrm>
            <a:off x="5697414" y="397468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</a:t>
            </a:r>
            <a:r>
              <a:rPr lang="en-US" altLang="ko-KR" dirty="0"/>
              <a:t>SECT</a:t>
            </a:r>
            <a:r>
              <a:rPr lang="en-US" altLang="ko-KR" sz="1800" dirty="0"/>
              <a:t>_FILTER_</a:t>
            </a:r>
            <a:r>
              <a:rPr lang="en-US" altLang="ko-KR" dirty="0"/>
              <a:t>ATTRS</a:t>
            </a:r>
            <a:r>
              <a:rPr lang="ko-KR" altLang="en-US" sz="1800" dirty="0"/>
              <a:t> </a:t>
            </a:r>
            <a:r>
              <a:rPr lang="en-US" altLang="ko-KR" sz="1800" dirty="0"/>
              <a:t>: Qt </a:t>
            </a:r>
            <a:r>
              <a:rPr lang="ko-KR" altLang="en-US" sz="1800" dirty="0"/>
              <a:t>도움말의 </a:t>
            </a:r>
            <a:r>
              <a:rPr lang="en-US" altLang="ko-KR" sz="1800" dirty="0"/>
              <a:t>‘’SECTION </a:t>
            </a:r>
            <a:r>
              <a:rPr lang="ko-KR" altLang="en-US" sz="1800" dirty="0"/>
              <a:t>단위</a:t>
            </a:r>
            <a:r>
              <a:rPr lang="en-US" altLang="ko-KR" sz="1800" dirty="0"/>
              <a:t>’’</a:t>
            </a:r>
            <a:r>
              <a:rPr lang="ko-KR" altLang="en-US" sz="1800" dirty="0"/>
              <a:t> 필터에 적용될 조건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8C5EF-A0E1-4A03-4D1F-C636E60D4837}"/>
              </a:ext>
            </a:extLst>
          </p:cNvPr>
          <p:cNvSpPr txBox="1"/>
          <p:nvPr/>
        </p:nvSpPr>
        <p:spPr>
          <a:xfrm>
            <a:off x="5697414" y="105786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</a:t>
            </a:r>
            <a:r>
              <a:rPr lang="en-US" altLang="ko-KR" dirty="0"/>
              <a:t>LOCATION</a:t>
            </a:r>
            <a:r>
              <a:rPr lang="ko-KR" altLang="en-US" dirty="0"/>
              <a:t> </a:t>
            </a:r>
            <a:r>
              <a:rPr lang="en-US" altLang="ko-KR" sz="1800" dirty="0"/>
              <a:t>: Qt</a:t>
            </a:r>
            <a:r>
              <a:rPr lang="ko-KR" altLang="en-US" dirty="0"/>
              <a:t> 도움말 파일 저장 경로</a:t>
            </a:r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4E0BF-687B-BF4F-4317-7737FA773CA2}"/>
              </a:ext>
            </a:extLst>
          </p:cNvPr>
          <p:cNvSpPr txBox="1"/>
          <p:nvPr/>
        </p:nvSpPr>
        <p:spPr>
          <a:xfrm>
            <a:off x="5697414" y="165998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GENERATE_ECLIPSEHELP : </a:t>
            </a:r>
            <a:r>
              <a:rPr lang="ko-KR" altLang="en-US" dirty="0"/>
              <a:t>이클립스 </a:t>
            </a:r>
            <a:r>
              <a:rPr lang="en-US" altLang="ko-KR" dirty="0"/>
              <a:t>IDE </a:t>
            </a:r>
            <a:r>
              <a:rPr lang="ko-KR" altLang="en-US" dirty="0"/>
              <a:t>전용 도움말 생성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2DFAB-569F-B6EC-2F47-37F536A16192}"/>
              </a:ext>
            </a:extLst>
          </p:cNvPr>
          <p:cNvSpPr txBox="1"/>
          <p:nvPr/>
        </p:nvSpPr>
        <p:spPr>
          <a:xfrm>
            <a:off x="5697414" y="222967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ECLIPSE_DOC_ID : </a:t>
            </a:r>
            <a:r>
              <a:rPr lang="ko-KR" altLang="en-US" dirty="0"/>
              <a:t>이클립스 도움말의 고유한 </a:t>
            </a:r>
            <a:r>
              <a:rPr lang="en-US" altLang="ko-KR" dirty="0"/>
              <a:t>ID </a:t>
            </a:r>
            <a:endParaRPr lang="ko-KR" alt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DB7D5-F88D-5567-1CA9-DFEAEF43872D}"/>
              </a:ext>
            </a:extLst>
          </p:cNvPr>
          <p:cNvSpPr txBox="1"/>
          <p:nvPr/>
        </p:nvSpPr>
        <p:spPr>
          <a:xfrm>
            <a:off x="5697414" y="276759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DISABLE_INDEX : </a:t>
            </a:r>
            <a:r>
              <a:rPr lang="ko-KR" altLang="en-US" dirty="0"/>
              <a:t>목록 페이지 비활성화</a:t>
            </a:r>
            <a:endParaRPr lang="ko-KR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EA9C1-88C9-98BA-16E6-D438E46ADD10}"/>
              </a:ext>
            </a:extLst>
          </p:cNvPr>
          <p:cNvSpPr txBox="1"/>
          <p:nvPr/>
        </p:nvSpPr>
        <p:spPr>
          <a:xfrm>
            <a:off x="5697414" y="313692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GENERATE_TREEVIEW : </a:t>
            </a:r>
            <a:r>
              <a:rPr lang="ko-KR" altLang="en-US" dirty="0"/>
              <a:t>사이드바 탐색 메뉴 생성</a:t>
            </a:r>
            <a:endParaRPr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78D0F-3F3D-4D4D-2460-625EAC2C4224}"/>
              </a:ext>
            </a:extLst>
          </p:cNvPr>
          <p:cNvSpPr txBox="1"/>
          <p:nvPr/>
        </p:nvSpPr>
        <p:spPr>
          <a:xfrm>
            <a:off x="5697414" y="3429000"/>
            <a:ext cx="6494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PAGE_OUTLINE_PANEL : </a:t>
            </a:r>
            <a:r>
              <a:rPr lang="ko-KR" altLang="en-US" dirty="0"/>
              <a:t>본문 안의 소제목을 보여주는 패널 생성</a:t>
            </a:r>
            <a:endParaRPr lang="ko-KR" alt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1A15F-0847-F6B3-D5A6-42D2645D61F2}"/>
              </a:ext>
            </a:extLst>
          </p:cNvPr>
          <p:cNvSpPr txBox="1"/>
          <p:nvPr/>
        </p:nvSpPr>
        <p:spPr>
          <a:xfrm>
            <a:off x="5697414" y="403112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FULL_SIDEBAR : </a:t>
            </a:r>
            <a:r>
              <a:rPr lang="ko-KR" altLang="en-US" dirty="0"/>
              <a:t>사이드바를 브라우저 창 높이까지 설정</a:t>
            </a:r>
            <a:endParaRPr lang="ko-KR" alt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1AE0F5-C163-C222-D923-F7F47C79A239}"/>
              </a:ext>
            </a:extLst>
          </p:cNvPr>
          <p:cNvSpPr txBox="1"/>
          <p:nvPr/>
        </p:nvSpPr>
        <p:spPr>
          <a:xfrm>
            <a:off x="5697414" y="4439922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ENUM_VALUES_PER_LINE : </a:t>
            </a:r>
            <a:r>
              <a:rPr lang="ko-KR" altLang="en-US" dirty="0"/>
              <a:t>열거형 값을 한 줄에 몇 개씩 표시할지 설정</a:t>
            </a:r>
            <a:endParaRPr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BA7F3-7446-D0F9-7B9E-9C42B70551B7}"/>
              </a:ext>
            </a:extLst>
          </p:cNvPr>
          <p:cNvSpPr txBox="1"/>
          <p:nvPr/>
        </p:nvSpPr>
        <p:spPr>
          <a:xfrm>
            <a:off x="5697414" y="5002630"/>
            <a:ext cx="6274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SHOW_ENUM_VALUES : </a:t>
            </a:r>
            <a:r>
              <a:rPr lang="ko-KR" altLang="en-US" dirty="0"/>
              <a:t>열거형 값의 실제 숫자 표시 설정</a:t>
            </a:r>
            <a:endParaRPr lang="ko-KR" alt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3556B6-3CC9-8325-8148-6EB51A94D645}"/>
              </a:ext>
            </a:extLst>
          </p:cNvPr>
          <p:cNvSpPr txBox="1"/>
          <p:nvPr/>
        </p:nvSpPr>
        <p:spPr>
          <a:xfrm>
            <a:off x="5697414" y="5430801"/>
            <a:ext cx="6274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TREEVIEW_WIDTH : </a:t>
            </a:r>
            <a:r>
              <a:rPr lang="ko-KR" altLang="en-US" dirty="0"/>
              <a:t>사이드바 탐색창의 가로 폭 픽셀</a:t>
            </a:r>
            <a:endParaRPr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67DDE-9C24-36EF-C297-C862508696F5}"/>
              </a:ext>
            </a:extLst>
          </p:cNvPr>
          <p:cNvSpPr txBox="1"/>
          <p:nvPr/>
        </p:nvSpPr>
        <p:spPr>
          <a:xfrm>
            <a:off x="5697414" y="5895706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EXT_LINKS_IN_WINDOW : </a:t>
            </a:r>
            <a:r>
              <a:rPr lang="ko-KR" altLang="en-US" dirty="0"/>
              <a:t>외부링크를 새 창에서 열리게 설정</a:t>
            </a:r>
            <a:r>
              <a:rPr lang="en-US" altLang="ko-KR" dirty="0"/>
              <a:t> </a:t>
            </a:r>
            <a:endParaRPr lang="ko-KR" alt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BCB26A-C925-36EC-0608-1855D1853A2E}"/>
              </a:ext>
            </a:extLst>
          </p:cNvPr>
          <p:cNvSpPr txBox="1"/>
          <p:nvPr/>
        </p:nvSpPr>
        <p:spPr>
          <a:xfrm>
            <a:off x="5697414" y="6419450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OBFUSCATE_EMAILS : </a:t>
            </a:r>
            <a:r>
              <a:rPr lang="ko-KR" altLang="en-US" dirty="0"/>
              <a:t>이메일 주소가 코드안에선 변형됨</a:t>
            </a:r>
            <a:r>
              <a:rPr lang="en-US" altLang="ko-KR" dirty="0"/>
              <a:t>(</a:t>
            </a:r>
            <a:r>
              <a:rPr lang="ko-KR" altLang="en-US" dirty="0"/>
              <a:t>보안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4A3EFE-BF63-93E9-29B8-BC804336152E}"/>
              </a:ext>
            </a:extLst>
          </p:cNvPr>
          <p:cNvSpPr txBox="1"/>
          <p:nvPr/>
        </p:nvSpPr>
        <p:spPr>
          <a:xfrm>
            <a:off x="5697414" y="6110183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(NO – </a:t>
            </a:r>
            <a:r>
              <a:rPr lang="ko-KR" altLang="en-US" dirty="0"/>
              <a:t>현재 창에서 열림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49408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07D09-D7C9-6FE0-0F67-E68AEBF8D5F7}"/>
              </a:ext>
            </a:extLst>
          </p:cNvPr>
          <p:cNvSpPr txBox="1"/>
          <p:nvPr/>
        </p:nvSpPr>
        <p:spPr>
          <a:xfrm>
            <a:off x="5847471" y="0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HTML_FORMULA_FORMAT : </a:t>
            </a:r>
            <a:r>
              <a:rPr lang="ko-KR" altLang="en-US" dirty="0"/>
              <a:t>수식을 어떤 이미지로 변환시킬지 설정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FA2A07-FDA6-0214-525F-4004A1087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4747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94629F-176F-E66D-D153-0DF616DBB9DF}"/>
              </a:ext>
            </a:extLst>
          </p:cNvPr>
          <p:cNvSpPr txBox="1"/>
          <p:nvPr/>
        </p:nvSpPr>
        <p:spPr>
          <a:xfrm>
            <a:off x="5847470" y="646331"/>
            <a:ext cx="634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FORMULA_FONTSIZE : </a:t>
            </a:r>
            <a:r>
              <a:rPr lang="ko-KR" altLang="en-US" sz="1800" dirty="0"/>
              <a:t>수학 수식 글자 크기 설정</a:t>
            </a:r>
            <a:r>
              <a:rPr lang="en-US" altLang="ko-KR" sz="1800" dirty="0"/>
              <a:t>(pt)</a:t>
            </a:r>
            <a:endParaRPr lang="ko-KR" alt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B1446-6762-F703-EAFB-9C421EBE7FFC}"/>
              </a:ext>
            </a:extLst>
          </p:cNvPr>
          <p:cNvSpPr txBox="1"/>
          <p:nvPr/>
        </p:nvSpPr>
        <p:spPr>
          <a:xfrm>
            <a:off x="5847471" y="1338828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FORMULA_MACROFILE : </a:t>
            </a:r>
            <a:r>
              <a:rPr lang="ko-KR" altLang="en-US" sz="1800" dirty="0"/>
              <a:t>수식 작성시 명령어</a:t>
            </a:r>
            <a:r>
              <a:rPr lang="en-US" altLang="ko-KR" sz="1800" dirty="0"/>
              <a:t>,</a:t>
            </a:r>
            <a:r>
              <a:rPr lang="ko-KR" altLang="en-US" sz="1800" dirty="0"/>
              <a:t>단축키를 모아둔 파일 지정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440EE-4EE5-3F41-1D28-87CA4892EB77}"/>
              </a:ext>
            </a:extLst>
          </p:cNvPr>
          <p:cNvSpPr txBox="1"/>
          <p:nvPr/>
        </p:nvSpPr>
        <p:spPr>
          <a:xfrm>
            <a:off x="5847469" y="2090172"/>
            <a:ext cx="63445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USE</a:t>
            </a:r>
            <a:r>
              <a:rPr lang="en-US" altLang="ko-KR" sz="1800" dirty="0"/>
              <a:t>_MATHJAX : </a:t>
            </a:r>
            <a:r>
              <a:rPr lang="ko-KR" altLang="en-US" sz="1600" dirty="0"/>
              <a:t>수식을 이미지가 아닌 브라우저가 실시간으로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렌더링 설정</a:t>
            </a:r>
            <a:r>
              <a:rPr lang="en-US" altLang="ko-KR" sz="1600" dirty="0"/>
              <a:t>(YES-</a:t>
            </a:r>
            <a:r>
              <a:rPr lang="ko-KR" altLang="en-US" sz="1600" dirty="0"/>
              <a:t>복사 가능</a:t>
            </a:r>
            <a:r>
              <a:rPr lang="en-US" altLang="ko-KR" sz="1600" dirty="0"/>
              <a:t>,</a:t>
            </a:r>
            <a:r>
              <a:rPr lang="ko-KR" altLang="en-US" sz="1600" dirty="0" err="1"/>
              <a:t>확대시</a:t>
            </a:r>
            <a:r>
              <a:rPr lang="ko-KR" altLang="en-US" sz="1600" dirty="0"/>
              <a:t> 안 깨짐</a:t>
            </a:r>
            <a:r>
              <a:rPr lang="en-US" altLang="ko-KR" sz="1600" dirty="0"/>
              <a:t> BUT. </a:t>
            </a:r>
            <a:r>
              <a:rPr lang="ko-KR" altLang="en-US" sz="1600" dirty="0"/>
              <a:t>로딩시간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1BB49-36F8-59A9-A30C-CE7600F5C81C}"/>
              </a:ext>
            </a:extLst>
          </p:cNvPr>
          <p:cNvSpPr txBox="1"/>
          <p:nvPr/>
        </p:nvSpPr>
        <p:spPr>
          <a:xfrm>
            <a:off x="5847471" y="2703025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</a:t>
            </a:r>
            <a:r>
              <a:rPr lang="en-US" altLang="ko-KR" dirty="0"/>
              <a:t>VERSION</a:t>
            </a:r>
            <a:r>
              <a:rPr lang="en-US" altLang="ko-KR" sz="1800" dirty="0"/>
              <a:t> : </a:t>
            </a:r>
            <a:r>
              <a:rPr lang="ko-KR" altLang="en-US" sz="1800" dirty="0" err="1"/>
              <a:t>매스잭스를</a:t>
            </a:r>
            <a:r>
              <a:rPr lang="ko-KR" altLang="en-US" sz="1800" dirty="0"/>
              <a:t> 어떤 버전으로 사용할지 설정 </a:t>
            </a:r>
            <a:r>
              <a:rPr lang="en-US" altLang="ko-KR" sz="1800" dirty="0"/>
              <a:t>(2-</a:t>
            </a:r>
            <a:r>
              <a:rPr lang="ko-KR" altLang="en-US" sz="1800" dirty="0"/>
              <a:t>호환성 </a:t>
            </a:r>
            <a:r>
              <a:rPr lang="en-US" altLang="ko-KR" dirty="0"/>
              <a:t>, 3-</a:t>
            </a:r>
            <a:r>
              <a:rPr lang="ko-KR" altLang="en-US" dirty="0" err="1"/>
              <a:t>빨라짐</a:t>
            </a:r>
            <a:r>
              <a:rPr lang="en-US" altLang="ko-KR" dirty="0"/>
              <a:t>, 4-</a:t>
            </a:r>
            <a:r>
              <a:rPr lang="ko-KR" altLang="en-US" dirty="0" err="1"/>
              <a:t>더빠름</a:t>
            </a:r>
            <a:r>
              <a:rPr lang="en-US" altLang="ko-KR" dirty="0"/>
              <a:t>,LaTeX </a:t>
            </a:r>
            <a:r>
              <a:rPr lang="ko-KR" altLang="en-US" dirty="0"/>
              <a:t>문법 오류 최소화</a:t>
            </a:r>
            <a:r>
              <a:rPr lang="en-US" altLang="ko-KR" dirty="0"/>
              <a:t>)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21953-6EA9-8DCF-A9BB-B31ED252AF8F}"/>
              </a:ext>
            </a:extLst>
          </p:cNvPr>
          <p:cNvSpPr txBox="1"/>
          <p:nvPr/>
        </p:nvSpPr>
        <p:spPr>
          <a:xfrm>
            <a:off x="5847471" y="3349356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MATHJAX_FORMAT : </a:t>
            </a:r>
            <a:r>
              <a:rPr lang="ko-KR" altLang="en-US" sz="1800" dirty="0"/>
              <a:t>수식을 그릴 때 출력 방식 설정</a:t>
            </a:r>
            <a:endParaRPr lang="en-US" altLang="ko-KR" sz="1800" dirty="0"/>
          </a:p>
          <a:p>
            <a:r>
              <a:rPr lang="en-US" altLang="ko-KR" dirty="0"/>
              <a:t>(HTML-CSS : </a:t>
            </a:r>
            <a:r>
              <a:rPr lang="ko-KR" altLang="en-US" dirty="0"/>
              <a:t>호환성 우수 </a:t>
            </a:r>
            <a:r>
              <a:rPr lang="en-US" altLang="ko-KR" dirty="0"/>
              <a:t>| SVG : </a:t>
            </a:r>
            <a:r>
              <a:rPr lang="ko-KR" altLang="en-US" dirty="0"/>
              <a:t>화면 배율 상관없이 선명</a:t>
            </a:r>
            <a:r>
              <a:rPr lang="en-US" altLang="ko-KR" dirty="0"/>
              <a:t>) </a:t>
            </a:r>
            <a:endParaRPr lang="ko-KR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9E28E-F2D5-74D2-BDAA-C247619BC5C1}"/>
              </a:ext>
            </a:extLst>
          </p:cNvPr>
          <p:cNvSpPr txBox="1"/>
          <p:nvPr/>
        </p:nvSpPr>
        <p:spPr>
          <a:xfrm>
            <a:off x="5847467" y="4128985"/>
            <a:ext cx="634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</a:t>
            </a:r>
            <a:r>
              <a:rPr lang="en-US" altLang="ko-KR" dirty="0"/>
              <a:t>RELPATH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MathJax</a:t>
            </a:r>
            <a:r>
              <a:rPr lang="en-US" altLang="ko-KR" dirty="0"/>
              <a:t>  </a:t>
            </a:r>
            <a:r>
              <a:rPr lang="ko-KR" altLang="en-US" dirty="0"/>
              <a:t>라이브러리 파일 경로 </a:t>
            </a:r>
            <a:endParaRPr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F5CD7-8C00-426E-98D2-5F1AB93894B3}"/>
              </a:ext>
            </a:extLst>
          </p:cNvPr>
          <p:cNvSpPr txBox="1"/>
          <p:nvPr/>
        </p:nvSpPr>
        <p:spPr>
          <a:xfrm>
            <a:off x="5847467" y="4822724"/>
            <a:ext cx="63445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MATHJAX_EXTENSIONS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MathJax</a:t>
            </a:r>
            <a:r>
              <a:rPr lang="ko-KR" altLang="en-US" dirty="0"/>
              <a:t>로 수식 렌더링 시 확장 기능 설정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예시</a:t>
            </a:r>
            <a:r>
              <a:rPr lang="en-US" altLang="ko-KR" dirty="0"/>
              <a:t>&gt;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ko-KR" b="1" dirty="0">
                <a:solidFill>
                  <a:srgbClr val="FF0000"/>
                </a:solidFill>
              </a:rPr>
              <a:t>MATHJAX_EXTENSIONS = </a:t>
            </a:r>
            <a:r>
              <a:rPr lang="ko-KR" altLang="ko-KR" b="1" dirty="0" err="1">
                <a:solidFill>
                  <a:srgbClr val="FF0000"/>
                </a:solidFill>
              </a:rPr>
              <a:t>TeX</a:t>
            </a:r>
            <a:r>
              <a:rPr lang="ko-KR" altLang="ko-KR" b="1" dirty="0">
                <a:solidFill>
                  <a:srgbClr val="FF0000"/>
                </a:solidFill>
              </a:rPr>
              <a:t>/</a:t>
            </a:r>
            <a:r>
              <a:rPr lang="ko-KR" altLang="ko-KR" b="1" dirty="0" err="1">
                <a:solidFill>
                  <a:srgbClr val="FF0000"/>
                </a:solidFill>
              </a:rPr>
              <a:t>AMSmath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-&gt; </a:t>
            </a:r>
            <a:r>
              <a:rPr lang="ko-KR" altLang="en-US" dirty="0"/>
              <a:t>고급 수식</a:t>
            </a:r>
            <a:r>
              <a:rPr lang="en-US" altLang="ko-KR" dirty="0"/>
              <a:t>)</a:t>
            </a:r>
          </a:p>
          <a:p>
            <a:r>
              <a:rPr lang="en-US" altLang="ko-KR" sz="1800" dirty="0"/>
              <a:t>(</a:t>
            </a:r>
            <a:r>
              <a:rPr lang="ko-KR" altLang="ko-KR" b="1" dirty="0">
                <a:solidFill>
                  <a:srgbClr val="FF0000"/>
                </a:solidFill>
              </a:rPr>
              <a:t>MATHJAX_EXTENSIONS =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TeX</a:t>
            </a:r>
            <a:r>
              <a:rPr lang="ko-KR" altLang="ko-KR" b="1" dirty="0">
                <a:solidFill>
                  <a:srgbClr val="FF0000"/>
                </a:solidFill>
              </a:rPr>
              <a:t>/</a:t>
            </a:r>
            <a:r>
              <a:rPr lang="ko-KR" altLang="ko-KR" b="1" dirty="0" err="1">
                <a:solidFill>
                  <a:srgbClr val="FF0000"/>
                </a:solidFill>
              </a:rPr>
              <a:t>AMSsymbols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-&gt; </a:t>
            </a:r>
            <a:r>
              <a:rPr lang="ko-KR" altLang="en-US" dirty="0"/>
              <a:t>고급 수학</a:t>
            </a:r>
            <a:r>
              <a:rPr lang="en-US" altLang="ko-KR" dirty="0"/>
              <a:t>,</a:t>
            </a:r>
            <a:r>
              <a:rPr lang="ko-KR" altLang="en-US" dirty="0"/>
              <a:t>화살표</a:t>
            </a:r>
            <a:r>
              <a:rPr lang="en-US" altLang="ko-KR" dirty="0"/>
              <a:t>,</a:t>
            </a:r>
            <a:r>
              <a:rPr lang="ko-KR" altLang="en-US" dirty="0"/>
              <a:t>논리연산자 등 사용 가능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44929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A04AED-3B9C-BD12-959A-401D337F7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8" y="239721"/>
            <a:ext cx="8476844" cy="23354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853866-C4C0-CC50-437F-190DD92EC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8" y="3429000"/>
            <a:ext cx="8366232" cy="22121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09A16F-A405-1B7B-6697-7B717951C055}"/>
              </a:ext>
            </a:extLst>
          </p:cNvPr>
          <p:cNvSpPr txBox="1"/>
          <p:nvPr/>
        </p:nvSpPr>
        <p:spPr>
          <a:xfrm>
            <a:off x="2134772" y="268162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/>
              <a:t>USE_MATHJAX </a:t>
            </a:r>
            <a:r>
              <a:rPr lang="ko-KR" altLang="en-US" sz="1800" dirty="0" err="1"/>
              <a:t>사용전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9DE1D-095C-4F8A-E9A4-9905FF4ACA26}"/>
              </a:ext>
            </a:extLst>
          </p:cNvPr>
          <p:cNvSpPr txBox="1"/>
          <p:nvPr/>
        </p:nvSpPr>
        <p:spPr>
          <a:xfrm>
            <a:off x="2134772" y="601918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USE_</a:t>
            </a:r>
            <a:r>
              <a:rPr lang="en-US" altLang="ko-KR" sz="1800"/>
              <a:t>MATHJAX </a:t>
            </a:r>
            <a:r>
              <a:rPr lang="ko-KR" altLang="en-US" sz="1800" dirty="0"/>
              <a:t>사용 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9082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86C049-4D56-999D-0659-B02CD206E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4605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72257-5806-8CFC-7923-848CB6DD1CAC}"/>
              </a:ext>
            </a:extLst>
          </p:cNvPr>
          <p:cNvSpPr txBox="1"/>
          <p:nvPr/>
        </p:nvSpPr>
        <p:spPr>
          <a:xfrm>
            <a:off x="6246055" y="0"/>
            <a:ext cx="6147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ko-KR" altLang="ko-KR" dirty="0"/>
              <a:t>MATHJAX_CODEFILE</a:t>
            </a:r>
            <a:r>
              <a:rPr lang="en-US" altLang="ko-KR" dirty="0"/>
              <a:t> : MATHJAX</a:t>
            </a:r>
            <a:r>
              <a:rPr lang="ko-KR" altLang="en-US" dirty="0"/>
              <a:t>가 렌더링 전</a:t>
            </a:r>
            <a:r>
              <a:rPr lang="en-US" altLang="ko-KR" dirty="0"/>
              <a:t>,</a:t>
            </a:r>
            <a:r>
              <a:rPr lang="ko-KR" altLang="en-US" dirty="0"/>
              <a:t>후에 실행</a:t>
            </a:r>
            <a:endParaRPr lang="en-US" altLang="ko-KR" dirty="0"/>
          </a:p>
          <a:p>
            <a:pPr marL="0" marR="0" rtl="0">
              <a:lnSpc>
                <a:spcPts val="1800"/>
              </a:lnSpc>
              <a:buNone/>
            </a:pPr>
            <a:r>
              <a:rPr lang="ko-KR" altLang="en-US" dirty="0"/>
              <a:t>할 자바스크립트 코드가 담긴 파일 지정</a:t>
            </a:r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4315F-3317-9B75-0F09-A30CFD8E582B}"/>
              </a:ext>
            </a:extLst>
          </p:cNvPr>
          <p:cNvSpPr txBox="1"/>
          <p:nvPr/>
        </p:nvSpPr>
        <p:spPr>
          <a:xfrm>
            <a:off x="6246055" y="667738"/>
            <a:ext cx="61475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SEARCHENGINE : HTML</a:t>
            </a:r>
            <a:r>
              <a:rPr lang="ko-KR" altLang="en-US" dirty="0"/>
              <a:t> 문서에 코드 검색 기능 생성</a:t>
            </a:r>
            <a:r>
              <a:rPr lang="en-US" altLang="ko-KR" dirty="0"/>
              <a:t> 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65328-A2D8-C745-D930-6E6EDD2EA9E8}"/>
              </a:ext>
            </a:extLst>
          </p:cNvPr>
          <p:cNvSpPr txBox="1"/>
          <p:nvPr/>
        </p:nvSpPr>
        <p:spPr>
          <a:xfrm>
            <a:off x="6246055" y="1104644"/>
            <a:ext cx="6147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SERVER_BASED_SEARCH : </a:t>
            </a:r>
            <a:r>
              <a:rPr lang="ko-KR" altLang="en-US" dirty="0"/>
              <a:t>검색 기능을 외부 서버 기반으로 처리할지 설정</a:t>
            </a:r>
            <a:r>
              <a:rPr lang="en-US" altLang="ko-KR" dirty="0"/>
              <a:t>(NO-</a:t>
            </a:r>
            <a:r>
              <a:rPr lang="ko-KR" altLang="en-US" dirty="0"/>
              <a:t>로컬에서 작동</a:t>
            </a:r>
            <a:r>
              <a:rPr lang="en-US" altLang="ko-KR" dirty="0"/>
              <a:t>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A5C21-DB65-45AF-C033-C9844EC73633}"/>
              </a:ext>
            </a:extLst>
          </p:cNvPr>
          <p:cNvSpPr txBox="1"/>
          <p:nvPr/>
        </p:nvSpPr>
        <p:spPr>
          <a:xfrm>
            <a:off x="6246055" y="1658642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EXTERNAL_SEARCH : </a:t>
            </a:r>
            <a:r>
              <a:rPr lang="ko-KR" altLang="en-US" dirty="0"/>
              <a:t>외부 검색 엔진을 연동해서 문서 검색할지 설정</a:t>
            </a:r>
            <a:r>
              <a:rPr lang="en-US" altLang="ko-KR" dirty="0"/>
              <a:t>(NO-</a:t>
            </a:r>
            <a:r>
              <a:rPr lang="ko-KR" altLang="en-US" dirty="0" err="1"/>
              <a:t>독시젠</a:t>
            </a:r>
            <a:r>
              <a:rPr lang="ko-KR" altLang="en-US" dirty="0"/>
              <a:t> 기본 내장 기능 사용</a:t>
            </a:r>
            <a:r>
              <a:rPr lang="en-US" altLang="ko-KR" dirty="0"/>
              <a:t>)</a:t>
            </a:r>
            <a:endParaRPr lang="ko-KR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91890-1CF2-DA4A-9BF3-5655CA695539}"/>
              </a:ext>
            </a:extLst>
          </p:cNvPr>
          <p:cNvSpPr txBox="1"/>
          <p:nvPr/>
        </p:nvSpPr>
        <p:spPr>
          <a:xfrm>
            <a:off x="6246054" y="232268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SEARCHENGINE_URL : </a:t>
            </a:r>
            <a:r>
              <a:rPr lang="ko-KR" altLang="en-US" dirty="0"/>
              <a:t>외부 검색 엔진을 사용할 때의</a:t>
            </a:r>
            <a:br>
              <a:rPr lang="en-US" altLang="ko-KR" dirty="0"/>
            </a:br>
            <a:r>
              <a:rPr lang="ko-KR" altLang="en-US" dirty="0"/>
              <a:t>검색 요청을 보낼 서버 주소 지정</a:t>
            </a:r>
            <a:endParaRPr lang="ko-KR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B363A-88DE-C572-F63D-60BBAC2E2379}"/>
              </a:ext>
            </a:extLst>
          </p:cNvPr>
          <p:cNvSpPr txBox="1"/>
          <p:nvPr/>
        </p:nvSpPr>
        <p:spPr>
          <a:xfrm>
            <a:off x="6246055" y="302503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SEARCHDATA_FILE : </a:t>
            </a:r>
            <a:r>
              <a:rPr lang="ko-KR" altLang="en-US" dirty="0"/>
              <a:t>소스코드 속 검색 데이터를 수집해 어떤 파일 이름으로 저장할 지 정하는 기능</a:t>
            </a:r>
            <a:endParaRPr lang="ko-KR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A6CB9-E676-AD32-B18D-126191755568}"/>
              </a:ext>
            </a:extLst>
          </p:cNvPr>
          <p:cNvSpPr txBox="1"/>
          <p:nvPr/>
        </p:nvSpPr>
        <p:spPr>
          <a:xfrm>
            <a:off x="6246053" y="372738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EXTERNAL_SEARCH_ID : </a:t>
            </a:r>
            <a:r>
              <a:rPr lang="ko-KR" altLang="en-US" dirty="0"/>
              <a:t>외부 통합 검색을 사용할 때 </a:t>
            </a:r>
            <a:endParaRPr lang="en-US" altLang="ko-KR" dirty="0"/>
          </a:p>
          <a:p>
            <a:pPr>
              <a:lnSpc>
                <a:spcPts val="1800"/>
              </a:lnSpc>
            </a:pPr>
            <a:r>
              <a:rPr lang="ko-KR" altLang="en-US" dirty="0"/>
              <a:t>구별하기 위한 고유한 </a:t>
            </a:r>
            <a:r>
              <a:rPr lang="en-US" altLang="ko-KR" dirty="0"/>
              <a:t>ID</a:t>
            </a:r>
            <a:endParaRPr lang="ko-KR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006CD-BD4F-FD2F-5C84-030D464A4FE3}"/>
              </a:ext>
            </a:extLst>
          </p:cNvPr>
          <p:cNvSpPr txBox="1"/>
          <p:nvPr/>
        </p:nvSpPr>
        <p:spPr>
          <a:xfrm>
            <a:off x="6246055" y="4555025"/>
            <a:ext cx="59459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EXTRA_SEARCH_MAPPINGS :  </a:t>
            </a:r>
            <a:r>
              <a:rPr lang="ko-KR" altLang="ko-KR" dirty="0"/>
              <a:t>외부 검색 엔진이 찾아낸 파일 경로와 실제 웹서버에 배포된</a:t>
            </a:r>
            <a:r>
              <a:rPr lang="en-US" altLang="ko-KR" dirty="0"/>
              <a:t> </a:t>
            </a:r>
            <a:r>
              <a:rPr lang="ko-KR" altLang="en-US" dirty="0"/>
              <a:t>실제 주소가 다를 때 이를 연결해주는 규칙 지정 옵션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169552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9E234-4445-B03F-74D2-2543BF557852}"/>
              </a:ext>
            </a:extLst>
          </p:cNvPr>
          <p:cNvSpPr txBox="1"/>
          <p:nvPr/>
        </p:nvSpPr>
        <p:spPr>
          <a:xfrm>
            <a:off x="1696398" y="2314836"/>
            <a:ext cx="87992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Expert - LaTeX</a:t>
            </a:r>
            <a:endParaRPr kumimoji="1" lang="ko-KR" altLang="en-US" sz="9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2315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18A497-74D5-330A-A6C3-3B1A3A641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75" y="1113693"/>
            <a:ext cx="9154250" cy="51904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AD363-CA2A-5C79-D215-2A5F5ED9C919}"/>
              </a:ext>
            </a:extLst>
          </p:cNvPr>
          <p:cNvSpPr txBox="1"/>
          <p:nvPr/>
        </p:nvSpPr>
        <p:spPr>
          <a:xfrm>
            <a:off x="4296871" y="1276901"/>
            <a:ext cx="4434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형식의 문서를 생성할지 여부를 결정합니다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F42F6-7183-9229-3B48-72291A199AB1}"/>
              </a:ext>
            </a:extLst>
          </p:cNvPr>
          <p:cNvSpPr txBox="1"/>
          <p:nvPr/>
        </p:nvSpPr>
        <p:spPr>
          <a:xfrm>
            <a:off x="4462537" y="1668653"/>
            <a:ext cx="4237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생성된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파일들이 저장될 폴더 경로를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8A4A2-D742-1287-E4DF-0556A72A0842}"/>
              </a:ext>
            </a:extLst>
          </p:cNvPr>
          <p:cNvSpPr txBox="1"/>
          <p:nvPr/>
        </p:nvSpPr>
        <p:spPr>
          <a:xfrm>
            <a:off x="4010889" y="2210778"/>
            <a:ext cx="5841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문서를 컴파일할 때 사용할 명령어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pdflatex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latex)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58E4D-8ADB-0B48-DDD5-0D16586E0EF4}"/>
              </a:ext>
            </a:extLst>
          </p:cNvPr>
          <p:cNvSpPr txBox="1"/>
          <p:nvPr/>
        </p:nvSpPr>
        <p:spPr>
          <a:xfrm>
            <a:off x="4882598" y="2724126"/>
            <a:ext cx="5665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문서의 색인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Index)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생성할 때 사용할 기본 프로그램 명령어를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AAB2B-6F0E-C6C6-E997-448F21388CC8}"/>
              </a:ext>
            </a:extLst>
          </p:cNvPr>
          <p:cNvSpPr txBox="1"/>
          <p:nvPr/>
        </p:nvSpPr>
        <p:spPr>
          <a:xfrm>
            <a:off x="4882598" y="3169679"/>
            <a:ext cx="6006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컴파일 과정에서 색인 생성을 위해 실제로 실행할 구체적인 명령어를 설정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E1903-C897-CFCB-72C0-C93A1F9BA756}"/>
              </a:ext>
            </a:extLst>
          </p:cNvPr>
          <p:cNvSpPr txBox="1"/>
          <p:nvPr/>
        </p:nvSpPr>
        <p:spPr>
          <a:xfrm>
            <a:off x="4296871" y="3486775"/>
            <a:ext cx="6478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여백과 빈 공간을 줄여 페이지 수를 절약하는 압축된 형태의 문서를 생성할지 결정합니다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4D5C6-CC8E-FE24-17F4-6CCE7666442A}"/>
              </a:ext>
            </a:extLst>
          </p:cNvPr>
          <p:cNvSpPr txBox="1"/>
          <p:nvPr/>
        </p:nvSpPr>
        <p:spPr>
          <a:xfrm>
            <a:off x="5358689" y="3846234"/>
            <a:ext cx="470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출력될 문서의 기본 용지 크기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a4, letter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선택합니다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9A316-F58C-3949-DAE1-C47EE245E6AC}"/>
              </a:ext>
            </a:extLst>
          </p:cNvPr>
          <p:cNvSpPr txBox="1"/>
          <p:nvPr/>
        </p:nvSpPr>
        <p:spPr>
          <a:xfrm>
            <a:off x="4022259" y="4256541"/>
            <a:ext cx="507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문서에 추가로 포함시켜 사용할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패키지 이름들을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43369-9E1E-FDCE-9693-AEE88BF2FB4E}"/>
              </a:ext>
            </a:extLst>
          </p:cNvPr>
          <p:cNvSpPr txBox="1"/>
          <p:nvPr/>
        </p:nvSpPr>
        <p:spPr>
          <a:xfrm>
            <a:off x="4033982" y="5839157"/>
            <a:ext cx="5806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독시젠의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기본 헤더를 대체하여 사용할 사용자 정의 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파일의 경로를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2567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C044C86-AB31-A83D-1E8E-65D3F4E99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069" y="445477"/>
            <a:ext cx="9903959" cy="6107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A8C03-97AB-7259-A504-08AF5F25B642}"/>
              </a:ext>
            </a:extLst>
          </p:cNvPr>
          <p:cNvSpPr txBox="1"/>
          <p:nvPr/>
        </p:nvSpPr>
        <p:spPr>
          <a:xfrm>
            <a:off x="3446588" y="500578"/>
            <a:ext cx="69765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독시젠의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기본 꼬리말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Footer)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대체하여 사용할 사용자 정의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꼬리말 파일의 경로를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4A36D-0669-45C5-AD34-68B4AF953B13}"/>
              </a:ext>
            </a:extLst>
          </p:cNvPr>
          <p:cNvSpPr txBox="1"/>
          <p:nvPr/>
        </p:nvSpPr>
        <p:spPr>
          <a:xfrm>
            <a:off x="3614151" y="1552611"/>
            <a:ext cx="7337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  문서의 디자인이나 서식을 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커스텀하기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위해 추가로 적용할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스타일시트 파일들을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43DC8-F7F7-6B1C-0D32-087A90F6DF6B}"/>
              </a:ext>
            </a:extLst>
          </p:cNvPr>
          <p:cNvSpPr txBox="1"/>
          <p:nvPr/>
        </p:nvSpPr>
        <p:spPr>
          <a:xfrm>
            <a:off x="1381162" y="3191561"/>
            <a:ext cx="8775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문서 컴파일에 필요한 추가 파일들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표지에 들어갈 로고 이미지 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출력 폴더로 함께 복사하도록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90481-E1DC-01FC-9CEE-F79EA7E5C782}"/>
              </a:ext>
            </a:extLst>
          </p:cNvPr>
          <p:cNvSpPr txBox="1"/>
          <p:nvPr/>
        </p:nvSpPr>
        <p:spPr>
          <a:xfrm>
            <a:off x="4093423" y="4243594"/>
            <a:ext cx="6468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생성되는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 내의 목차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클래스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함수 등을 이동 가능한 하이퍼링크로 만들지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E0D255-E961-C66A-7DD6-0202C5CB76E1}"/>
              </a:ext>
            </a:extLst>
          </p:cNvPr>
          <p:cNvSpPr txBox="1"/>
          <p:nvPr/>
        </p:nvSpPr>
        <p:spPr>
          <a:xfrm>
            <a:off x="4093423" y="4564603"/>
            <a:ext cx="6702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기존 방식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명령어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대신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pdflatex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명령어를 사용하여 바로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파일을 생성할지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F4F0B-B145-152A-A77D-016E91B3C858}"/>
              </a:ext>
            </a:extLst>
          </p:cNvPr>
          <p:cNvSpPr txBox="1"/>
          <p:nvPr/>
        </p:nvSpPr>
        <p:spPr>
          <a:xfrm>
            <a:off x="4304438" y="4918392"/>
            <a:ext cx="7151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컴파일     중 에러가 발생해도 사용자 입력을 기다리지 않고 끝까지 무시하며 진행할지 설정</a:t>
            </a:r>
            <a:endParaRPr kumimoji="1" lang="ko-KR" altLang="en-US" sz="1400" dirty="0">
              <a:solidFill>
                <a:schemeClr val="bg1"/>
              </a:solidFill>
              <a:highlight>
                <a:srgbClr val="000000"/>
              </a:highlight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3B697-840A-EDAE-9D1E-0191E9DCFB85}"/>
              </a:ext>
            </a:extLst>
          </p:cNvPr>
          <p:cNvSpPr txBox="1"/>
          <p:nvPr/>
        </p:nvSpPr>
        <p:spPr>
          <a:xfrm>
            <a:off x="4044461" y="5290669"/>
            <a:ext cx="7144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생성된 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맨 마지막에 자동으로 추가되는 색인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Index)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 상호 참조 목록 페이지들을 숨길지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6E676-C5D1-913B-FED0-CD598FD2C386}"/>
              </a:ext>
            </a:extLst>
          </p:cNvPr>
          <p:cNvSpPr txBox="1"/>
          <p:nvPr/>
        </p:nvSpPr>
        <p:spPr>
          <a:xfrm>
            <a:off x="4584413" y="5611678"/>
            <a:ext cx="6691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문서에 참고문헌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Bibliography)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목록을 포함할 경우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표시할 양식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plainnat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EE371-352C-A96A-1DC1-C78DFA31A27F}"/>
              </a:ext>
            </a:extLst>
          </p:cNvPr>
          <p:cNvSpPr txBox="1"/>
          <p:nvPr/>
        </p:nvSpPr>
        <p:spPr>
          <a:xfrm>
            <a:off x="3702095" y="6078763"/>
            <a:ext cx="7391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 내용 중 이모지를 사용할 경우</a:t>
            </a:r>
            <a:r>
              <a:rPr lang="en-US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렌더링하기 위한 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이모지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파일들이 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모여있는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폴더 경로를 지정</a:t>
            </a:r>
            <a:endParaRPr kumimoji="1" lang="ko-KR" altLang="en-US" sz="1400" dirty="0">
              <a:solidFill>
                <a:schemeClr val="bg1"/>
              </a:solidFill>
              <a:highlight>
                <a:srgbClr val="000000"/>
              </a:highlight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283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D3475B-6FD6-5131-01D5-217E6F961006}"/>
              </a:ext>
            </a:extLst>
          </p:cNvPr>
          <p:cNvSpPr txBox="1"/>
          <p:nvPr/>
        </p:nvSpPr>
        <p:spPr>
          <a:xfrm>
            <a:off x="2194904" y="1925912"/>
            <a:ext cx="762544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RTF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4189488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950" y="-336550"/>
            <a:ext cx="13963650" cy="73088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550" y="1117600"/>
            <a:ext cx="7334250" cy="7010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7949" y="692150"/>
            <a:ext cx="7977271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=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글자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크기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굵기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표,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서식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저장할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텍스트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형식</a:t>
            </a:r>
            <a:endParaRPr lang="en-US" sz="1904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50" y="88900"/>
            <a:ext cx="85725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37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RTF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36049" y="1282700"/>
            <a:ext cx="2778961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문서를</a:t>
            </a: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생성할지</a:t>
            </a: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결정</a:t>
            </a:r>
            <a:endParaRPr lang="en-US" sz="1704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850" y="1079500"/>
            <a:ext cx="6172200" cy="5905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2787650"/>
            <a:ext cx="1549400" cy="5905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700" y="2273300"/>
            <a:ext cx="6172200" cy="5905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43100"/>
            <a:ext cx="6172200" cy="5905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017000" y="2095500"/>
            <a:ext cx="2603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파일을</a:t>
            </a: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저장할</a:t>
            </a: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폴더</a:t>
            </a:r>
            <a:endParaRPr lang="en-US" sz="1637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04300" y="2425700"/>
            <a:ext cx="25273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7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문서를 압축된 형태로 생성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6950" y="295910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RTF의 글꼴·문단 등의 스타일을 지정하는 파일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1555750"/>
            <a:ext cx="1143000" cy="5905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305800" y="1720850"/>
            <a:ext cx="408940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내부의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클래스·함수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가능한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링크로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만듦</a:t>
            </a:r>
            <a:endParaRPr lang="en-US" sz="1371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36000" y="354965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생성에 사용할 추가 확장 설정 파일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50" y="3359150"/>
            <a:ext cx="1549400" cy="59055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750" y="3949700"/>
            <a:ext cx="1638300" cy="5905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93150" y="414020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문서에 추가할 파일 지정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DCC99-26C3-83FC-6E22-A6DB75C08814}"/>
              </a:ext>
            </a:extLst>
          </p:cNvPr>
          <p:cNvSpPr txBox="1"/>
          <p:nvPr/>
        </p:nvSpPr>
        <p:spPr>
          <a:xfrm>
            <a:off x="890337" y="1588168"/>
            <a:ext cx="99621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Expert MAN</a:t>
            </a:r>
            <a:endParaRPr lang="ko-KR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2789065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F6AA0-843A-0D1C-9885-F8302382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97254F-6566-9CAA-8416-2490FEE2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3134"/>
            <a:ext cx="12192000" cy="4324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FF326-5D4A-12F3-70A7-8B300297AAD0}"/>
              </a:ext>
            </a:extLst>
          </p:cNvPr>
          <p:cNvSpPr txBox="1"/>
          <p:nvPr/>
        </p:nvSpPr>
        <p:spPr>
          <a:xfrm>
            <a:off x="3410418" y="2743200"/>
            <a:ext cx="836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YES로</a:t>
            </a:r>
            <a:r>
              <a:rPr lang="ko-KR" altLang="ko-KR" b="1" dirty="0"/>
              <a:t> 설정하면 </a:t>
            </a:r>
            <a:r>
              <a:rPr lang="ko-KR" altLang="ko-KR" b="1" dirty="0" err="1"/>
              <a:t>Doxygen이</a:t>
            </a:r>
            <a:r>
              <a:rPr lang="ko-KR" altLang="ko-KR" b="1" dirty="0"/>
              <a:t> 클래스 및 파일에 대한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페이지를 생성합니다.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F3C51-3B42-8FB5-9110-E46F2D10BB4E}"/>
              </a:ext>
            </a:extLst>
          </p:cNvPr>
          <p:cNvSpPr txBox="1"/>
          <p:nvPr/>
        </p:nvSpPr>
        <p:spPr>
          <a:xfrm>
            <a:off x="3675112" y="3480593"/>
            <a:ext cx="779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man</a:t>
            </a:r>
            <a:r>
              <a:rPr lang="ko-KR" altLang="ko-KR" b="1" dirty="0"/>
              <a:t> 페이지가 저장될 위치를 지정하는 데 사용됩니다.</a:t>
            </a:r>
            <a:r>
              <a:rPr lang="en-US" altLang="ko-KR" b="1" dirty="0"/>
              <a:t> </a:t>
            </a:r>
            <a:br>
              <a:rPr lang="en-US" altLang="ko-KR" b="1" dirty="0"/>
            </a:br>
            <a:r>
              <a:rPr lang="ko-KR" altLang="ko-KR" b="1" dirty="0" err="1"/>
              <a:t>MAN_OUTPUT에</a:t>
            </a:r>
            <a:r>
              <a:rPr lang="ko-KR" altLang="ko-KR" b="1" dirty="0"/>
              <a:t> 지정된 디렉터리 내부에 man3 디렉터리가 생성됩니다.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BAC7D-9B75-2A50-D325-490C80B7E51B}"/>
              </a:ext>
            </a:extLst>
          </p:cNvPr>
          <p:cNvSpPr txBox="1"/>
          <p:nvPr/>
        </p:nvSpPr>
        <p:spPr>
          <a:xfrm>
            <a:off x="3410418" y="4372401"/>
            <a:ext cx="8567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MAN_EXTENSION 태그는 생성된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페이지에 추가되는 확장자를 결정합니다.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F8C34-2495-9114-C6EB-807690E00725}"/>
              </a:ext>
            </a:extLst>
          </p:cNvPr>
          <p:cNvSpPr txBox="1"/>
          <p:nvPr/>
        </p:nvSpPr>
        <p:spPr>
          <a:xfrm>
            <a:off x="2355215" y="4951799"/>
            <a:ext cx="9057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MAN_OUTPUT 내에 생성되어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페이지가 배치될 디렉터리의 이름을 결정합니다. </a:t>
            </a:r>
            <a:br>
              <a:rPr lang="en-US" altLang="ko-KR" b="1" dirty="0"/>
            </a:br>
            <a:r>
              <a:rPr lang="ko-KR" altLang="ko-KR" b="1" dirty="0"/>
              <a:t>기본값은 </a:t>
            </a:r>
            <a:r>
              <a:rPr lang="ko-KR" altLang="ko-KR" b="1" dirty="0" err="1"/>
              <a:t>man</a:t>
            </a:r>
            <a:r>
              <a:rPr lang="ko-KR" altLang="ko-KR" b="1" dirty="0"/>
              <a:t> 뒤에 첫 점(.)을 제거한 </a:t>
            </a:r>
            <a:r>
              <a:rPr lang="ko-KR" altLang="ko-KR" b="1" dirty="0" err="1"/>
              <a:t>MAN_EXTENSION이</a:t>
            </a:r>
            <a:r>
              <a:rPr lang="ko-KR" altLang="ko-KR" b="1" dirty="0"/>
              <a:t> 붙은 형태입니다.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4E2AE-6696-2D4D-7391-FE2490495F77}"/>
              </a:ext>
            </a:extLst>
          </p:cNvPr>
          <p:cNvSpPr txBox="1"/>
          <p:nvPr/>
        </p:nvSpPr>
        <p:spPr>
          <a:xfrm>
            <a:off x="3274182" y="5640429"/>
            <a:ext cx="8973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실제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페이지에 문서화된 각 엔티티에 대해 하나의 추가 </a:t>
            </a:r>
            <a:r>
              <a:rPr lang="ko-KR" altLang="ko-KR" b="1" dirty="0" err="1"/>
              <a:t>man</a:t>
            </a:r>
            <a:r>
              <a:rPr lang="ko-KR" altLang="ko-KR" b="1" dirty="0"/>
              <a:t> 파일을 생성합니다.</a:t>
            </a:r>
            <a:br>
              <a:rPr lang="en-US" altLang="ko-KR" b="1" dirty="0"/>
            </a:br>
            <a:r>
              <a:rPr lang="ko-KR" altLang="ko-KR" b="1" dirty="0"/>
              <a:t> 이 추가 파일들은 실제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페이지를 참조만 하는 형태이지만, 이 파일이 없으면</a:t>
            </a:r>
            <a:br>
              <a:rPr lang="en-US" altLang="ko-KR" b="1" dirty="0"/>
            </a:br>
            <a:r>
              <a:rPr lang="ko-KR" altLang="ko-KR" b="1" dirty="0"/>
              <a:t> </a:t>
            </a:r>
            <a:r>
              <a:rPr lang="ko-KR" altLang="ko-KR" b="1" dirty="0" err="1"/>
              <a:t>man</a:t>
            </a:r>
            <a:r>
              <a:rPr lang="ko-KR" altLang="ko-KR" b="1" dirty="0"/>
              <a:t> 명령어가 올바른 페이지를 찾지 못할 수 있습니다.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159245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7B8C43-B8AD-FA05-0E93-4276FAD8FDE9}"/>
              </a:ext>
            </a:extLst>
          </p:cNvPr>
          <p:cNvSpPr txBox="1"/>
          <p:nvPr/>
        </p:nvSpPr>
        <p:spPr>
          <a:xfrm>
            <a:off x="890337" y="1588168"/>
            <a:ext cx="99621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Expert XML</a:t>
            </a:r>
            <a:endParaRPr lang="ko-KR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16493339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3E9EA-C5C2-870D-6E86-604662D7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XML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CA1383-3637-9B49-6B84-78B6067B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9838"/>
            <a:ext cx="12192000" cy="460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7B408C-12AD-55AB-E7E1-FCE10CDF8B8E}"/>
              </a:ext>
            </a:extLst>
          </p:cNvPr>
          <p:cNvSpPr txBox="1"/>
          <p:nvPr/>
        </p:nvSpPr>
        <p:spPr>
          <a:xfrm>
            <a:off x="4815685" y="2390274"/>
            <a:ext cx="7458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XML 파일을 </a:t>
            </a:r>
            <a:br>
              <a:rPr lang="en-US" altLang="ko-KR" b="1" dirty="0"/>
            </a:br>
            <a:r>
              <a:rPr lang="ko-KR" altLang="ko-KR" b="1" dirty="0"/>
              <a:t>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6BFED-7A46-2173-89EC-01F8FC0F8905}"/>
              </a:ext>
            </a:extLst>
          </p:cNvPr>
          <p:cNvSpPr txBox="1"/>
          <p:nvPr/>
        </p:nvSpPr>
        <p:spPr>
          <a:xfrm>
            <a:off x="5152712" y="3255275"/>
            <a:ext cx="5949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XML 페이지가 저장될 위치를 지정하는 데 사용됩니다. 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F6883-3ADA-7216-C1C1-A0AB9D8A2ABE}"/>
              </a:ext>
            </a:extLst>
          </p:cNvPr>
          <p:cNvSpPr txBox="1"/>
          <p:nvPr/>
        </p:nvSpPr>
        <p:spPr>
          <a:xfrm>
            <a:off x="5152712" y="3950965"/>
            <a:ext cx="6452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구문 강조 및 상호 참조 정보를 포함한 프로그램 </a:t>
            </a:r>
            <a:br>
              <a:rPr lang="en-US" altLang="ko-KR" b="1" dirty="0"/>
            </a:br>
            <a:r>
              <a:rPr lang="ko-KR" altLang="ko-KR" b="1" dirty="0"/>
              <a:t>소스 코드를 XML 출력에 함께 출력합니다.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46410-5006-DBD4-8296-9ADC4422ECEE}"/>
              </a:ext>
            </a:extLst>
          </p:cNvPr>
          <p:cNvSpPr txBox="1"/>
          <p:nvPr/>
        </p:nvSpPr>
        <p:spPr>
          <a:xfrm>
            <a:off x="5152712" y="4558241"/>
            <a:ext cx="6469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HTML 출력과 동일하게 파일 </a:t>
            </a:r>
            <a:r>
              <a:rPr lang="ko-KR" altLang="ko-KR" b="1" dirty="0" err="1"/>
              <a:t>스코프</a:t>
            </a:r>
            <a:r>
              <a:rPr lang="ko-KR" altLang="ko-KR" b="1" dirty="0"/>
              <a:t>(범위) 내에 </a:t>
            </a:r>
            <a:br>
              <a:rPr lang="en-US" altLang="ko-KR" b="1" dirty="0"/>
            </a:br>
            <a:r>
              <a:rPr lang="ko-KR" altLang="ko-KR" b="1" dirty="0"/>
              <a:t>네임스페이스 멤버도 함께 포함시킵니다.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812515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701344-7954-EFBF-9ECC-FC6B4F5D7504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DocBook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402202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3B4D74EA-60A7-13C2-E071-9E777F9E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Docbook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CDC128-8057-F0EA-C97E-FC8DF480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9438"/>
            <a:ext cx="12192000" cy="202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675824-5AD9-C2DD-5D0F-7D928CEC856B}"/>
              </a:ext>
            </a:extLst>
          </p:cNvPr>
          <p:cNvSpPr txBox="1"/>
          <p:nvPr/>
        </p:nvSpPr>
        <p:spPr>
          <a:xfrm>
            <a:off x="4038399" y="2344275"/>
            <a:ext cx="744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PDF 생성에 사용할 수 있는 </a:t>
            </a:r>
            <a:r>
              <a:rPr lang="ko-KR" altLang="ko-KR" b="1" dirty="0" err="1"/>
              <a:t>Docbook</a:t>
            </a:r>
            <a:r>
              <a:rPr lang="ko-KR" altLang="ko-KR" b="1" dirty="0"/>
              <a:t> 파일을 생성합니다.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66154-F51E-4C66-604E-BE94FC6A3078}"/>
              </a:ext>
            </a:extLst>
          </p:cNvPr>
          <p:cNvSpPr txBox="1"/>
          <p:nvPr/>
        </p:nvSpPr>
        <p:spPr>
          <a:xfrm>
            <a:off x="4992904" y="3120281"/>
            <a:ext cx="6285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Docbook</a:t>
            </a:r>
            <a:r>
              <a:rPr lang="ko-KR" altLang="ko-KR" b="1" dirty="0"/>
              <a:t> 페이지가 저장될 위치를 지정하는 데 사용됩니다.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60019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60DF97-8762-0751-871B-E919F9CDCD30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Autogen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3194545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8425979-D946-B608-0118-C5987AC6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AutoGen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83645D-6456-12EC-52AF-1962D69FF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09825"/>
            <a:ext cx="12192000" cy="1134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103CF-76F8-5792-3CCE-E27206395B78}"/>
              </a:ext>
            </a:extLst>
          </p:cNvPr>
          <p:cNvSpPr txBox="1"/>
          <p:nvPr/>
        </p:nvSpPr>
        <p:spPr>
          <a:xfrm>
            <a:off x="4815685" y="2390274"/>
            <a:ext cx="7624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</a:t>
            </a:r>
            <a:br>
              <a:rPr lang="en-US" altLang="ko-KR" b="1" dirty="0"/>
            </a:br>
            <a:r>
              <a:rPr lang="ko-KR" altLang="ko-KR" b="1" dirty="0" err="1"/>
              <a:t>AutoGen</a:t>
            </a:r>
            <a:r>
              <a:rPr lang="ko-KR" altLang="ko-KR" b="1" dirty="0"/>
              <a:t> </a:t>
            </a:r>
            <a:r>
              <a:rPr lang="ko-KR" altLang="ko-KR" b="1" dirty="0" err="1"/>
              <a:t>Definitions</a:t>
            </a:r>
            <a:r>
              <a:rPr lang="ko-KR" altLang="ko-KR" b="1" dirty="0"/>
              <a:t>(</a:t>
            </a:r>
            <a:r>
              <a:rPr lang="ko-KR" altLang="ko-KR" b="1" dirty="0">
                <a:hlinkClick r:id="rId3"/>
              </a:rPr>
              <a:t>https://autogen.sourceforge.net/</a:t>
            </a:r>
            <a:r>
              <a:rPr lang="ko-KR" altLang="ko-KR" b="1" dirty="0"/>
              <a:t> 참조) 파일을 </a:t>
            </a:r>
            <a:br>
              <a:rPr lang="en-US" altLang="ko-KR" b="1" dirty="0"/>
            </a:br>
            <a:r>
              <a:rPr lang="ko-KR" altLang="ko-KR" b="1" dirty="0"/>
              <a:t>생성합니다. 현재 이 기능은 아직 실험적이며 미완성 상태라는 점에 </a:t>
            </a:r>
            <a:br>
              <a:rPr lang="en-US" altLang="ko-KR" b="1" dirty="0"/>
            </a:br>
            <a:r>
              <a:rPr lang="ko-KR" altLang="ko-KR" b="1" dirty="0"/>
              <a:t>유의하시기 바랍니다.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28131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87307C-A89B-8EEC-EEE8-E4EF5E8CAB30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Sqlite3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977613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8D022-D1E5-1348-1DA4-24821477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Sqlite3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CEF703-04A0-2EFA-75BA-55B3BCA07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954491"/>
            <a:ext cx="12204446" cy="2407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BAE11-A44B-E708-AC5A-0482E502A16F}"/>
              </a:ext>
            </a:extLst>
          </p:cNvPr>
          <p:cNvSpPr txBox="1"/>
          <p:nvPr/>
        </p:nvSpPr>
        <p:spPr>
          <a:xfrm>
            <a:off x="4061706" y="2132360"/>
            <a:ext cx="721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찾은 심볼(</a:t>
            </a:r>
            <a:r>
              <a:rPr lang="ko-KR" altLang="ko-KR" b="1" dirty="0" err="1"/>
              <a:t>symbol</a:t>
            </a:r>
            <a:r>
              <a:rPr lang="ko-KR" altLang="ko-KR" b="1" dirty="0"/>
              <a:t>)들이 테이블 형태로 저장된 SQLite3 </a:t>
            </a:r>
            <a:br>
              <a:rPr lang="en-US" altLang="ko-KR" b="1" dirty="0"/>
            </a:br>
            <a:r>
              <a:rPr lang="ko-KR" altLang="ko-KR" b="1" dirty="0"/>
              <a:t>데이터베이스를 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E65A6-B5A0-0BAB-4FB3-AEE7EE50AC96}"/>
              </a:ext>
            </a:extLst>
          </p:cNvPr>
          <p:cNvSpPr txBox="1"/>
          <p:nvPr/>
        </p:nvSpPr>
        <p:spPr>
          <a:xfrm>
            <a:off x="4859005" y="2956560"/>
            <a:ext cx="691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SQLite3 데이터베이스가 저장될 위치를 지정하는 데 사용됩니다. 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F1CD3-B5A9-D72A-870A-84415BA22ED4}"/>
              </a:ext>
            </a:extLst>
          </p:cNvPr>
          <p:cNvSpPr txBox="1"/>
          <p:nvPr/>
        </p:nvSpPr>
        <p:spPr>
          <a:xfrm>
            <a:off x="4213285" y="3709146"/>
            <a:ext cx="7993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실행될 때마다 기존 doxygen_sqlite3.db 데이터베이스 파일을 </a:t>
            </a:r>
            <a:br>
              <a:rPr lang="en-US" altLang="ko-KR" b="1" dirty="0"/>
            </a:br>
            <a:r>
              <a:rPr lang="ko-KR" altLang="ko-KR" b="1" dirty="0" err="1"/>
              <a:t>재생성합니다</a:t>
            </a:r>
            <a:r>
              <a:rPr lang="ko-KR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820294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82D2C-AC3C-C77C-9D33-F3DE80A1EB4C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Perlmode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25883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DB79A-CA82-F1F5-80D8-731979AB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PerlMod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2D757-A121-943A-27A2-A2B63174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6836"/>
            <a:ext cx="12192001" cy="2944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015170-961A-6F80-EF77-9DF028285690}"/>
              </a:ext>
            </a:extLst>
          </p:cNvPr>
          <p:cNvSpPr txBox="1"/>
          <p:nvPr/>
        </p:nvSpPr>
        <p:spPr>
          <a:xfrm>
            <a:off x="4850849" y="2143782"/>
            <a:ext cx="7152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</a:t>
            </a:r>
            <a:r>
              <a:rPr lang="ko-KR" altLang="ko-KR" b="1" dirty="0" err="1"/>
              <a:t>Perl</a:t>
            </a:r>
            <a:r>
              <a:rPr lang="ko-KR" altLang="ko-KR" b="1" dirty="0"/>
              <a:t> 모듈 </a:t>
            </a:r>
            <a:br>
              <a:rPr lang="en-US" altLang="ko-KR" b="1" dirty="0"/>
            </a:br>
            <a:r>
              <a:rPr lang="ko-KR" altLang="ko-KR" b="1" dirty="0"/>
              <a:t>파일을 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3D1D3-FBE0-4C49-445B-79DB7B9821E5}"/>
              </a:ext>
            </a:extLst>
          </p:cNvPr>
          <p:cNvSpPr txBox="1"/>
          <p:nvPr/>
        </p:nvSpPr>
        <p:spPr>
          <a:xfrm>
            <a:off x="4850849" y="2669648"/>
            <a:ext cx="7458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</a:t>
            </a:r>
            <a:r>
              <a:rPr lang="ko-KR" altLang="ko-KR" b="1" dirty="0" err="1"/>
              <a:t>Perl</a:t>
            </a:r>
            <a:r>
              <a:rPr lang="ko-KR" altLang="ko-KR" b="1" dirty="0"/>
              <a:t> 모듈 출력에서 PDF 및 DVI 출력을 생성할 수 있도록 </a:t>
            </a:r>
            <a:br>
              <a:rPr lang="en-US" altLang="ko-KR" b="1" dirty="0"/>
            </a:br>
            <a:r>
              <a:rPr lang="ko-KR" altLang="ko-KR" b="1" dirty="0"/>
              <a:t>필요한 </a:t>
            </a:r>
            <a:r>
              <a:rPr lang="ko-KR" altLang="ko-KR" b="1" dirty="0" err="1"/>
              <a:t>Makefile</a:t>
            </a:r>
            <a:r>
              <a:rPr lang="ko-KR" altLang="ko-KR" b="1" dirty="0"/>
              <a:t> 규칙, </a:t>
            </a:r>
            <a:r>
              <a:rPr lang="ko-KR" altLang="ko-KR" b="1" dirty="0" err="1"/>
              <a:t>Perl</a:t>
            </a:r>
            <a:r>
              <a:rPr lang="ko-KR" altLang="ko-KR" b="1" dirty="0"/>
              <a:t> 스크립트 및 코드를 생성합니다.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53773-6BD1-0094-321B-141F385936E9}"/>
              </a:ext>
            </a:extLst>
          </p:cNvPr>
          <p:cNvSpPr txBox="1"/>
          <p:nvPr/>
        </p:nvSpPr>
        <p:spPr>
          <a:xfrm>
            <a:off x="4850849" y="3246352"/>
            <a:ext cx="7275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Perl</a:t>
            </a:r>
            <a:r>
              <a:rPr lang="ko-KR" altLang="ko-KR" b="1" dirty="0"/>
              <a:t> 모듈 출력이 사람이 읽고 파악하기 쉽도록 깔끔하게 정렬됩니다.</a:t>
            </a:r>
            <a:br>
              <a:rPr lang="en-US" altLang="ko-KR" b="1" dirty="0"/>
            </a:br>
            <a:r>
              <a:rPr lang="ko-KR" altLang="ko-KR" b="1" dirty="0"/>
              <a:t>이는 내부 동작 구조를 이해하고자 할 때 유용합니다.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5D82C-C314-5F70-A2F1-2BB782A6F437}"/>
              </a:ext>
            </a:extLst>
          </p:cNvPr>
          <p:cNvSpPr txBox="1"/>
          <p:nvPr/>
        </p:nvSpPr>
        <p:spPr>
          <a:xfrm>
            <a:off x="4454737" y="3937126"/>
            <a:ext cx="8253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생성된 </a:t>
            </a:r>
            <a:r>
              <a:rPr lang="ko-KR" altLang="ko-KR" b="1" dirty="0" err="1"/>
              <a:t>doxyrules.make</a:t>
            </a:r>
            <a:r>
              <a:rPr lang="ko-KR" altLang="ko-KR" b="1" dirty="0"/>
              <a:t> 파일 내 </a:t>
            </a:r>
            <a:r>
              <a:rPr lang="ko-KR" altLang="ko-KR" b="1" dirty="0" err="1"/>
              <a:t>make</a:t>
            </a:r>
            <a:r>
              <a:rPr lang="ko-KR" altLang="ko-KR" b="1" dirty="0"/>
              <a:t> 변수들의 이름 앞에 </a:t>
            </a:r>
            <a:br>
              <a:rPr lang="en-US" altLang="ko-KR" b="1" dirty="0"/>
            </a:br>
            <a:r>
              <a:rPr lang="ko-KR" altLang="ko-KR" b="1" dirty="0" err="1"/>
              <a:t>PERLMOD_MAKEVAR_PREFIX에</a:t>
            </a:r>
            <a:r>
              <a:rPr lang="ko-KR" altLang="ko-KR" b="1" dirty="0"/>
              <a:t> 지정한 문자열이 접두사(</a:t>
            </a:r>
            <a:r>
              <a:rPr lang="ko-KR" altLang="ko-KR" b="1" dirty="0" err="1"/>
              <a:t>prefix</a:t>
            </a:r>
            <a:r>
              <a:rPr lang="ko-KR" altLang="ko-KR" b="1" dirty="0"/>
              <a:t>)로 붙습니다.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12770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0EC6A9C-3478-B808-1AF9-DD7511617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779" y="2398880"/>
            <a:ext cx="9144000" cy="1655762"/>
          </a:xfrm>
        </p:spPr>
        <p:txBody>
          <a:bodyPr>
            <a:normAutofit fontScale="92500"/>
          </a:bodyPr>
          <a:lstStyle/>
          <a:p>
            <a:r>
              <a:rPr lang="en-US" altLang="ko-KR" sz="7200" dirty="0"/>
              <a:t>Expert – Preprocessor</a:t>
            </a:r>
          </a:p>
        </p:txBody>
      </p:sp>
    </p:spTree>
    <p:extLst>
      <p:ext uri="{BB962C8B-B14F-4D97-AF65-F5344CB8AC3E}">
        <p14:creationId xmlns:p14="http://schemas.microsoft.com/office/powerpoint/2010/main" val="1630873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1D99-6CDA-0703-8C61-88C82450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Preprocessor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00A6F-DFC4-77B3-2682-2B66D0C9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Doxygen</a:t>
            </a:r>
            <a:r>
              <a:rPr lang="ko-KR" altLang="en-US" dirty="0"/>
              <a:t>이 소스 코드를 문서화하기 전에 전처리기 요소</a:t>
            </a:r>
            <a:r>
              <a:rPr lang="en-US" altLang="ko-KR" dirty="0"/>
              <a:t>(#define, #if, #include…)</a:t>
            </a:r>
            <a:r>
              <a:rPr lang="ko-KR" altLang="en-US" dirty="0"/>
              <a:t>를 어떻게 처리할지 설정한다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Doxygen</a:t>
            </a:r>
            <a:r>
              <a:rPr lang="ko-KR" altLang="en-US" dirty="0"/>
              <a:t>은 기본적으로 조건부 컴파일은 처리하지만 매크로를 실제 값으로 확장하지는 않는다</a:t>
            </a:r>
            <a:r>
              <a:rPr lang="en-US" altLang="ko-KR" dirty="0"/>
              <a:t>. </a:t>
            </a:r>
            <a:r>
              <a:rPr lang="ko-KR" altLang="en-US" dirty="0"/>
              <a:t>필요 시에 </a:t>
            </a:r>
            <a:r>
              <a:rPr lang="en-US" altLang="ko-KR" dirty="0"/>
              <a:t>Preprocessor</a:t>
            </a:r>
            <a:r>
              <a:rPr lang="ko-KR" altLang="en-US" dirty="0"/>
              <a:t>의 설정으로 </a:t>
            </a:r>
            <a:r>
              <a:rPr lang="ko-KR" altLang="en-US" dirty="0" err="1"/>
              <a:t>전처리</a:t>
            </a:r>
            <a:r>
              <a:rPr lang="ko-KR" altLang="en-US" dirty="0"/>
              <a:t> 수준을 조절한다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7744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D38B1-C549-2111-365D-806C240E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928B4-8013-3AB7-C075-192ECBE2F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A Doxygen configuration interface with tabs for various settings such as working directory, project options, and file pattern filters.&#10;&#10;AI 생성 콘텐츠는 정확하지 않을 수 있습니다.">
            <a:extLst>
              <a:ext uri="{FF2B5EF4-FFF2-40B4-BE49-F238E27FC236}">
                <a16:creationId xmlns:a16="http://schemas.microsoft.com/office/drawing/2014/main" id="{EC38A8E8-B73B-6D43-B914-A148018C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1" t="11226"/>
          <a:stretch>
            <a:fillRect/>
          </a:stretch>
        </p:blipFill>
        <p:spPr>
          <a:xfrm>
            <a:off x="-92868" y="-330741"/>
            <a:ext cx="12284868" cy="78607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E62947-005D-7B1A-6BB1-4ACC5CE55E65}"/>
              </a:ext>
            </a:extLst>
          </p:cNvPr>
          <p:cNvSpPr txBox="1"/>
          <p:nvPr/>
        </p:nvSpPr>
        <p:spPr>
          <a:xfrm>
            <a:off x="2023162" y="321730"/>
            <a:ext cx="6629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전처리</a:t>
            </a:r>
            <a:r>
              <a:rPr lang="ko-KR" altLang="en-US" sz="1100" dirty="0"/>
              <a:t> 기능 사용 여부 → </a:t>
            </a:r>
            <a:r>
              <a:rPr lang="en-US" altLang="ko-KR" sz="1100" dirty="0" err="1"/>
              <a:t>Doxygen</a:t>
            </a:r>
            <a:r>
              <a:rPr lang="ko-KR" altLang="en-US" sz="1100" dirty="0"/>
              <a:t>이 소스와 </a:t>
            </a:r>
            <a:r>
              <a:rPr lang="en-US" altLang="ko-KR" sz="1100" dirty="0"/>
              <a:t>include </a:t>
            </a:r>
            <a:r>
              <a:rPr lang="ko-KR" altLang="en-US" sz="1100" dirty="0"/>
              <a:t>파일에 있는 전처리기 지시문을 평가함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FCD68-01F9-651F-A192-FA8D16699CDE}"/>
              </a:ext>
            </a:extLst>
          </p:cNvPr>
          <p:cNvSpPr txBox="1"/>
          <p:nvPr/>
        </p:nvSpPr>
        <p:spPr>
          <a:xfrm>
            <a:off x="2024633" y="539287"/>
            <a:ext cx="7367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매크로를 실제 정의 내용으로 확장 여부 → 모든 매크로 이름을 확장</a:t>
            </a:r>
            <a:r>
              <a:rPr lang="en-US" altLang="ko-KR" sz="1100" dirty="0"/>
              <a:t>. </a:t>
            </a:r>
            <a:r>
              <a:rPr lang="ko-KR" altLang="en-US" sz="1100" dirty="0"/>
              <a:t>해제 시 조건부 컴파일만 수행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AC729-0B56-C63D-F9B2-69F821BD7BA4}"/>
              </a:ext>
            </a:extLst>
          </p:cNvPr>
          <p:cNvSpPr txBox="1"/>
          <p:nvPr/>
        </p:nvSpPr>
        <p:spPr>
          <a:xfrm>
            <a:off x="2020918" y="713990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매크로를 전부 확장하지 않고 내가 지정한 매크로만 확장 여부 → </a:t>
            </a:r>
            <a:r>
              <a:rPr lang="en-US" altLang="ko-KR" sz="1100" dirty="0"/>
              <a:t>ENABLE_PREPORCESSING</a:t>
            </a:r>
            <a:r>
              <a:rPr lang="ko-KR" altLang="en-US" sz="1100" dirty="0"/>
              <a:t>이  </a:t>
            </a:r>
            <a:r>
              <a:rPr lang="en-US" altLang="ko-KR" sz="1100" dirty="0"/>
              <a:t>yes</a:t>
            </a:r>
            <a:r>
              <a:rPr lang="ko-KR" altLang="en-US" sz="1100" dirty="0"/>
              <a:t>인 </a:t>
            </a:r>
            <a:r>
              <a:rPr lang="ko-KR" altLang="en-US" sz="1100" dirty="0" err="1"/>
              <a:t>상태여아</a:t>
            </a:r>
            <a:r>
              <a:rPr lang="ko-KR" altLang="en-US" sz="1100" dirty="0"/>
              <a:t> 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FFEC0-6CFD-8336-917C-27AD975BE8D3}"/>
              </a:ext>
            </a:extLst>
          </p:cNvPr>
          <p:cNvSpPr txBox="1"/>
          <p:nvPr/>
        </p:nvSpPr>
        <p:spPr>
          <a:xfrm>
            <a:off x="2006052" y="899846"/>
            <a:ext cx="10163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#include</a:t>
            </a:r>
            <a:r>
              <a:rPr lang="ko-KR" altLang="en-US" sz="1100" dirty="0"/>
              <a:t>된 파일 찾기 여부 → </a:t>
            </a:r>
            <a:r>
              <a:rPr lang="en-US" altLang="ko-KR" sz="1100" dirty="0"/>
              <a:t>#include</a:t>
            </a:r>
            <a:r>
              <a:rPr lang="ko-KR" altLang="en-US" sz="1100" dirty="0"/>
              <a:t>가 발견됐을 때 </a:t>
            </a:r>
            <a:r>
              <a:rPr lang="en-US" altLang="ko-KR" sz="1100" dirty="0"/>
              <a:t>INCLUDE_PATH</a:t>
            </a:r>
            <a:r>
              <a:rPr lang="ko-KR" altLang="en-US" sz="1100" dirty="0"/>
              <a:t>의 경로에서 해당 </a:t>
            </a:r>
            <a:r>
              <a:rPr lang="en-US" altLang="ko-KR" sz="1100" dirty="0"/>
              <a:t>include </a:t>
            </a:r>
            <a:r>
              <a:rPr lang="ko-KR" altLang="en-US" sz="1100" dirty="0"/>
              <a:t>파일을 검색</a:t>
            </a:r>
            <a:r>
              <a:rPr lang="en-US" altLang="ko-KR" sz="1100" dirty="0"/>
              <a:t>. ENABLE_PROCESSING</a:t>
            </a:r>
            <a:r>
              <a:rPr lang="ko-KR" altLang="en-US" sz="1100" dirty="0"/>
              <a:t>이 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E8A92-CF61-325B-60C4-B80670E6D47A}"/>
              </a:ext>
            </a:extLst>
          </p:cNvPr>
          <p:cNvSpPr txBox="1"/>
          <p:nvPr/>
        </p:nvSpPr>
        <p:spPr>
          <a:xfrm>
            <a:off x="1816477" y="1156316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Include</a:t>
            </a:r>
            <a:r>
              <a:rPr lang="ko-KR" altLang="en-US" sz="1100" dirty="0"/>
              <a:t> 파일을 찾을 디렉터리를 지정한다</a:t>
            </a:r>
            <a:r>
              <a:rPr lang="en-US" altLang="ko-KR" sz="1100" dirty="0"/>
              <a:t>. SEARCH_INCLUDES</a:t>
            </a:r>
            <a:r>
              <a:rPr lang="ko-KR" altLang="en-US" sz="1100" dirty="0"/>
              <a:t>가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006C66-519D-E01C-B913-4A7F943DD61D}"/>
              </a:ext>
            </a:extLst>
          </p:cNvPr>
          <p:cNvSpPr txBox="1"/>
          <p:nvPr/>
        </p:nvSpPr>
        <p:spPr>
          <a:xfrm>
            <a:off x="1816486" y="2539074"/>
            <a:ext cx="84018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Include</a:t>
            </a:r>
            <a:r>
              <a:rPr lang="ko-KR" altLang="en-US" sz="1100" dirty="0"/>
              <a:t> 디렉터리에서 어떤 헤더 파일을 처리할지 필터링</a:t>
            </a:r>
            <a:r>
              <a:rPr lang="en-US" altLang="ko-KR" sz="1100" dirty="0"/>
              <a:t>.(</a:t>
            </a:r>
            <a:r>
              <a:rPr lang="ko-KR" altLang="en-US" sz="1100" dirty="0"/>
              <a:t>확장자와 같은 파일의 패턴을 작성하면 그 파일을 대상으로 처리한다</a:t>
            </a:r>
            <a:r>
              <a:rPr lang="en-US" altLang="ko-KR" sz="1100" dirty="0"/>
              <a:t>.)</a:t>
            </a:r>
          </a:p>
          <a:p>
            <a:r>
              <a:rPr lang="en-US" altLang="ko-KR" sz="1100" dirty="0"/>
              <a:t>ENABLE_PROCESSING</a:t>
            </a:r>
            <a:r>
              <a:rPr lang="ko-KR" altLang="en-US" sz="1100" dirty="0"/>
              <a:t>이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7FDDB8-AC41-54F0-F45A-070C75DF4541}"/>
              </a:ext>
            </a:extLst>
          </p:cNvPr>
          <p:cNvSpPr txBox="1"/>
          <p:nvPr/>
        </p:nvSpPr>
        <p:spPr>
          <a:xfrm>
            <a:off x="1812772" y="3918105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Doxygen</a:t>
            </a:r>
            <a:r>
              <a:rPr lang="ko-KR" altLang="en-US" sz="1100" dirty="0"/>
              <a:t>의 전처리기가 시작되기 전에 미리 정의해둘 매크로 지정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149C9F-097F-18F5-F39B-B6458991603A}"/>
              </a:ext>
            </a:extLst>
          </p:cNvPr>
          <p:cNvSpPr txBox="1"/>
          <p:nvPr/>
        </p:nvSpPr>
        <p:spPr>
          <a:xfrm>
            <a:off x="1820209" y="5285988"/>
            <a:ext cx="84018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소스 코드에 실제로 정의되어 있는 매크로 중에서 확장할 매크로를 지정 </a:t>
            </a:r>
            <a:r>
              <a:rPr lang="en-US" altLang="ko-KR" sz="1100" dirty="0"/>
              <a:t>MACRO_EXPANSION</a:t>
            </a:r>
            <a:r>
              <a:rPr lang="ko-KR" altLang="en-US" sz="1100" dirty="0"/>
              <a:t>과 </a:t>
            </a:r>
            <a:r>
              <a:rPr lang="en-US" altLang="ko-KR" sz="1100" dirty="0"/>
              <a:t>EXPAND_ONLY_PREDEF </a:t>
            </a:r>
            <a:r>
              <a:rPr lang="ko-KR" altLang="en-US" sz="1100" dirty="0"/>
              <a:t>가 동시에 </a:t>
            </a:r>
            <a:r>
              <a:rPr lang="en-US" altLang="ko-KR" sz="1100" dirty="0"/>
              <a:t>yes</a:t>
            </a:r>
            <a:r>
              <a:rPr lang="ko-KR" altLang="en-US" sz="1100" dirty="0"/>
              <a:t>일 때 사용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070A9-556D-5B3E-DB19-0C3324E55EFD}"/>
              </a:ext>
            </a:extLst>
          </p:cNvPr>
          <p:cNvSpPr txBox="1"/>
          <p:nvPr/>
        </p:nvSpPr>
        <p:spPr>
          <a:xfrm>
            <a:off x="2028364" y="6586961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특정 형태의 함수형 매크로를 </a:t>
            </a:r>
            <a:r>
              <a:rPr lang="en-US" altLang="ko-KR" sz="1100" dirty="0" err="1"/>
              <a:t>Doxygen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전처리</a:t>
            </a:r>
            <a:r>
              <a:rPr lang="ko-KR" altLang="en-US" sz="1100" dirty="0"/>
              <a:t> 과정에서 제거 여부</a:t>
            </a:r>
          </a:p>
        </p:txBody>
      </p:sp>
    </p:spTree>
    <p:extLst>
      <p:ext uri="{BB962C8B-B14F-4D97-AF65-F5344CB8AC3E}">
        <p14:creationId xmlns:p14="http://schemas.microsoft.com/office/powerpoint/2010/main" val="21277375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>
            <a:extLst>
              <a:ext uri="{FF2B5EF4-FFF2-40B4-BE49-F238E27FC236}">
                <a16:creationId xmlns:a16="http://schemas.microsoft.com/office/drawing/2014/main" id="{F4927141-1873-66CC-6B23-806E03170DAC}"/>
              </a:ext>
            </a:extLst>
          </p:cNvPr>
          <p:cNvSpPr txBox="1">
            <a:spLocks/>
          </p:cNvSpPr>
          <p:nvPr/>
        </p:nvSpPr>
        <p:spPr>
          <a:xfrm>
            <a:off x="1439779" y="239888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7200" dirty="0"/>
              <a:t>Expert  Terminal</a:t>
            </a:r>
          </a:p>
        </p:txBody>
      </p:sp>
    </p:spTree>
    <p:extLst>
      <p:ext uri="{BB962C8B-B14F-4D97-AF65-F5344CB8AC3E}">
        <p14:creationId xmlns:p14="http://schemas.microsoft.com/office/powerpoint/2010/main" val="37363028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50" y="-355600"/>
            <a:ext cx="13963650" cy="73088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800"/>
            <a:ext cx="8458200" cy="645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520950" y="177800"/>
            <a:ext cx="7366000" cy="463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9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EXTERNAL =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0899" y="241300"/>
            <a:ext cx="6866689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다른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프로젝트에서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만든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Doxygen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문서와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연결할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때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쓰는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300" y="622300"/>
            <a:ext cx="1784350" cy="590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18350" y="1714500"/>
            <a:ext cx="598805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다른 Doxygen 프로젝트의 .tag 파일 지정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26600" y="1028700"/>
            <a:ext cx="800100" cy="5905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300" y="4864100"/>
            <a:ext cx="946150" cy="590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613650" y="503555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내 프로젝트의 .tag 파일 생성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050" y="6165850"/>
            <a:ext cx="2393950" cy="590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5397500"/>
            <a:ext cx="2393950" cy="590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5803900"/>
            <a:ext cx="2393950" cy="5905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467100" y="55499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모든 항목 표시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4400" y="59944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그룹 정보 표시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30600" y="63627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페이지 정보 표시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8C066-0154-2148-8CDE-0D459A58E42D}"/>
              </a:ext>
            </a:extLst>
          </p:cNvPr>
          <p:cNvSpPr txBox="1"/>
          <p:nvPr/>
        </p:nvSpPr>
        <p:spPr>
          <a:xfrm>
            <a:off x="1872916" y="2213811"/>
            <a:ext cx="844616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Dot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3393888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2C90-9502-332D-18AC-F9AE3209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1EB25-DD71-4E8A-5715-B9288A73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562B5-C909-5EC3-9CC6-CDC2804D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4029075" cy="4767263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설정을 통해 세부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에서 다이어그램 관련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에는 총 </a:t>
            </a:r>
            <a:r>
              <a:rPr lang="en-US" altLang="ko-KR" sz="2400" dirty="0"/>
              <a:t>45</a:t>
            </a:r>
            <a:r>
              <a:rPr lang="ko-KR" altLang="en-US" sz="2400" dirty="0"/>
              <a:t>개의 세부 설정이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88D9F3-A1B4-6A0D-D71D-AD3FA0CC3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59" y="125443"/>
            <a:ext cx="7407282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234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B36F-FC9A-534C-90A8-4BFF66A1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8A499-51AF-73DA-2EAB-58C44571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F8736-2971-9FCF-EAE0-555C175F3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HIDE_UNDOC_RELATIONS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사용 관계의 대상이 문서화되지 않았거나 클래스가 아닌 경우 해당 관계를 숨</a:t>
            </a:r>
            <a:r>
              <a:rPr lang="ko-KR" altLang="en-US" sz="2000" dirty="0"/>
              <a:t>긴</a:t>
            </a:r>
            <a:r>
              <a:rPr lang="ko-KR" altLang="ko-KR" sz="2000" dirty="0"/>
              <a:t>다.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E1A6F3-D86B-DC90-7ABC-025103247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804"/>
            <a:ext cx="9563929" cy="179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FACA0C-2D54-96A8-416B-258785780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64" y="2529762"/>
            <a:ext cx="5913632" cy="3505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8895D-9643-F35A-4739-5E7BF581610C}"/>
              </a:ext>
            </a:extLst>
          </p:cNvPr>
          <p:cNvSpPr txBox="1"/>
          <p:nvPr/>
        </p:nvSpPr>
        <p:spPr>
          <a:xfrm>
            <a:off x="1147165" y="6035266"/>
            <a:ext cx="359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YES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D284F-A3A1-24F3-2F40-7F25BF86477A}"/>
              </a:ext>
            </a:extLst>
          </p:cNvPr>
          <p:cNvSpPr txBox="1"/>
          <p:nvPr/>
        </p:nvSpPr>
        <p:spPr>
          <a:xfrm>
            <a:off x="6439763" y="6051308"/>
            <a:ext cx="35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5294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3B46-A223-DCAF-D235-A60A60B6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B3E96-0CDF-AF3B-64FC-B34F2EA5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9FB05-3B1D-042A-5682-72A6CE1A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HAVE_DOT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HAVE_DOT 태그를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Doxygen은</a:t>
            </a:r>
            <a:r>
              <a:rPr lang="ko-KR" altLang="ko-KR" sz="2000" dirty="0"/>
              <a:t> 시스템 경로(PATH)에서 </a:t>
            </a:r>
            <a:r>
              <a:rPr lang="ko-KR" altLang="ko-KR" sz="2000" dirty="0" err="1"/>
              <a:t>Graphviz의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도구를 사용할 수 있다고 가정</a:t>
            </a:r>
            <a:r>
              <a:rPr lang="ko-KR" altLang="en-US" sz="2000" dirty="0"/>
              <a:t>한다</a:t>
            </a:r>
            <a:r>
              <a:rPr lang="ko-KR" altLang="ko-KR" sz="2000" dirty="0"/>
              <a:t>. 이 옵션을 </a:t>
            </a:r>
            <a:r>
              <a:rPr lang="ko-KR" altLang="ko-KR" sz="2000" dirty="0" err="1"/>
              <a:t>NO로</a:t>
            </a:r>
            <a:r>
              <a:rPr lang="ko-KR" altLang="ko-KR" sz="2000" dirty="0"/>
              <a:t> 설정하면 이 섹션의 다른 옵션들은 적용되지 않</a:t>
            </a:r>
            <a:r>
              <a:rPr lang="ko-KR" altLang="en-US" sz="2000" dirty="0"/>
              <a:t>는다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 err="1"/>
              <a:t>GraphViz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그래프를 사용할 것인지 사용하지 않을 것인지 결정하는 옵션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3848352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DE7A-516A-8DA9-CE57-0F7CB8F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406DB-5698-BCB5-8FD9-63DEEF55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5E9B2F-731C-AB99-745C-89D4156BD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28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DOT_NUM_THREADS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512,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병렬로 실행할 수 있는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호출 개수를 지정합니다. 0으로 설정하면 시스템에서 사용 가능한 프로세서 수에 맞추어 자동으로 설정</a:t>
            </a:r>
            <a:r>
              <a:rPr lang="ko-KR" altLang="en-US" sz="2000" dirty="0"/>
              <a:t>된다</a:t>
            </a:r>
            <a:r>
              <a:rPr lang="ko-KR" altLang="ko-KR" sz="2000" dirty="0"/>
              <a:t>. 0보다 큰 값으로 설정하여 CPU 부하와 처리 속도 간의 균형을 직접 제어할 수 있</a:t>
            </a:r>
            <a:r>
              <a:rPr lang="ko-KR" altLang="en-US" sz="2000" dirty="0"/>
              <a:t>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최대 효율을 내고 싶다면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으로 설정하고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너무 많이 </a:t>
            </a:r>
            <a:r>
              <a:rPr lang="en-US" altLang="ko-KR" sz="2000" b="1" dirty="0"/>
              <a:t>CPU</a:t>
            </a:r>
            <a:r>
              <a:rPr lang="ko-KR" altLang="en-US" sz="2000" b="1" dirty="0"/>
              <a:t>를 잡아먹는 것이 싫다면 스레드 수를 낮게 설정하면 된다</a:t>
            </a:r>
            <a:r>
              <a:rPr lang="en-US" altLang="ko-KR" sz="2000" b="1" dirty="0"/>
              <a:t>.</a:t>
            </a:r>
          </a:p>
          <a:p>
            <a:r>
              <a:rPr lang="ko-KR" altLang="ko-KR" sz="2000" dirty="0"/>
              <a:t>DOT_BATCH_SIZE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1000,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dot의</a:t>
            </a:r>
            <a:r>
              <a:rPr lang="ko-KR" altLang="ko-KR" sz="2000" dirty="0"/>
              <a:t> 단일 호출 시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컴파일할 수 있는 그래프의 개수를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1로 설정하면 각 그래프마다 </a:t>
            </a:r>
            <a:r>
              <a:rPr lang="ko-KR" altLang="ko-KR" sz="2000" dirty="0" err="1"/>
              <a:t>dot을</a:t>
            </a:r>
            <a:r>
              <a:rPr lang="ko-KR" altLang="ko-KR" sz="2000" dirty="0"/>
              <a:t> 별도로 호출하므로 CPU 코어가 많은 시스템에서 프로세스 생성 오버헤드가 크게 발생할 수 있다. </a:t>
            </a:r>
            <a:r>
              <a:rPr lang="ko-KR" altLang="ko-KR" sz="2000" dirty="0" err="1"/>
              <a:t>DOT_NUM_THREADS와</a:t>
            </a:r>
            <a:r>
              <a:rPr lang="ko-KR" altLang="ko-KR" sz="2000" dirty="0"/>
              <a:t> 함께 조합하여 특정 시스템의 처리 속도를 최적화할 수 있다.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 하나당 처리할 그래프의 개수를 지정해 너무 많은 오버헤드의 발생을 방지한다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너무 낮으면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를 실행하고 종료하는 빈도가 너무 많아져 오버헤드 방지를 위해 적당한 수치로 지정해야 한다</a:t>
            </a:r>
            <a:r>
              <a:rPr lang="en-US" altLang="ko-KR" sz="2000" b="1" dirty="0"/>
              <a:t>.)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134119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1101-32C8-14BE-F756-5C52D53F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3D0F7-FF41-720F-365F-48E99D8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1668FA-ADC6-E714-228E-A472F114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DOT_COMMON_ATTR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서브그래프의 노드, </a:t>
            </a:r>
            <a:r>
              <a:rPr lang="ko-KR" altLang="ko-KR" sz="2000" dirty="0" err="1"/>
              <a:t>엣지</a:t>
            </a:r>
            <a:r>
              <a:rPr lang="ko-KR" altLang="ko-KR" sz="2000" dirty="0"/>
              <a:t>(연결선), 레이블에 적용되는 공통 속성</a:t>
            </a:r>
            <a:r>
              <a:rPr lang="ko-KR" altLang="en-US" sz="2000" dirty="0"/>
              <a:t>이다</a:t>
            </a:r>
            <a:r>
              <a:rPr lang="ko-KR" altLang="ko-KR" sz="2000" dirty="0"/>
              <a:t>. 폰트를 변경하고 싶다면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fontcolor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fontsize</a:t>
            </a:r>
            <a:r>
              <a:rPr lang="ko-KR" altLang="ko-KR" sz="2000" dirty="0"/>
              <a:t> 속성을 지정할 수 있다.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폰트를 찾을 수 있도록 표준 위치에 배치하거나, DOTFONTPATH 환경 변수 또는 DOT_FONTPATH 태그로 디렉터리를 설정해야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Graphviz</a:t>
            </a:r>
            <a:r>
              <a:rPr lang="ko-KR" altLang="ko-KR" sz="2000" dirty="0"/>
              <a:t> 기본 폰트 크기: 14)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b="1" dirty="0"/>
              <a:t>노드와 선 전체에 적용되는 공통 기본 폰트와 크기를 지정</a:t>
            </a:r>
            <a:r>
              <a:rPr lang="ko-KR" altLang="en-US" sz="2000" b="1" dirty="0"/>
              <a:t>하는 설정</a:t>
            </a:r>
            <a:r>
              <a:rPr lang="en-US" altLang="ko-KR" sz="2000" b="1" dirty="0"/>
              <a:t>.</a:t>
            </a:r>
            <a:r>
              <a:rPr lang="ko-KR" altLang="ko-KR" sz="2000" dirty="0"/>
              <a:t> </a:t>
            </a:r>
            <a:r>
              <a:rPr lang="ko-KR" altLang="en-US" sz="2000" dirty="0"/>
              <a:t>한글 폴더를 사용하였을 경우 글자가 깨지므로 </a:t>
            </a:r>
            <a:r>
              <a:rPr lang="en-US" altLang="ko-KR" sz="2000" dirty="0" err="1"/>
              <a:t>fontname</a:t>
            </a:r>
            <a:r>
              <a:rPr lang="ko-KR" altLang="en-US" sz="2000" dirty="0"/>
              <a:t>를 </a:t>
            </a:r>
            <a:r>
              <a:rPr lang="ko-KR" altLang="ko-KR" sz="2000" dirty="0" err="1"/>
              <a:t>Gulim</a:t>
            </a:r>
            <a:r>
              <a:rPr lang="ko-KR" altLang="en-US" sz="2000" dirty="0" err="1"/>
              <a:t>으로</a:t>
            </a:r>
            <a:r>
              <a:rPr lang="ko-KR" altLang="en-US" sz="2000" dirty="0"/>
              <a:t> 설정해야 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DOT_EDGE_ATTR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labelfontname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Helvetica,labelfontsize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</a:t>
            </a:r>
            <a:r>
              <a:rPr lang="ko-KR" altLang="ko-KR" sz="2000" dirty="0" err="1"/>
              <a:t>엣지에</a:t>
            </a:r>
            <a:r>
              <a:rPr lang="ko-KR" altLang="ko-KR" sz="2000" dirty="0"/>
              <a:t>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(예: </a:t>
            </a:r>
            <a:r>
              <a:rPr lang="ko-KR" altLang="ko-KR" sz="2000" dirty="0" err="1"/>
              <a:t>arrowhead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arrowtail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arrowsize</a:t>
            </a:r>
            <a:r>
              <a:rPr lang="ko-KR" altLang="ko-KR" sz="2000" dirty="0"/>
              <a:t>=0.5)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연결선 디자인을 위해 사용되는 설정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77214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E440-A47E-B2EC-DA62-0C489C43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A7266-328E-CFF6-6DD7-011720158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0CD6A-BDAF-D741-A928-FE0865E0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DOT_NODE_ATTR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box,height</a:t>
            </a:r>
            <a:r>
              <a:rPr lang="ko-KR" altLang="ko-KR" sz="2000" dirty="0"/>
              <a:t>=0.2,width=0.4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노드에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노드 주변의 상자를 없애려면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</a:t>
            </a:r>
            <a:r>
              <a:rPr lang="ko-KR" altLang="ko-KR" sz="2000" dirty="0"/>
              <a:t> 또는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plaintext로</a:t>
            </a:r>
            <a:r>
              <a:rPr lang="ko-KR" altLang="ko-KR" sz="2000" dirty="0"/>
              <a:t>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노드 스타일 지정하는 설정</a:t>
            </a:r>
            <a:endParaRPr lang="en-US" altLang="ko-KR" sz="2000" b="1" dirty="0"/>
          </a:p>
          <a:p>
            <a:r>
              <a:rPr lang="en-US" altLang="ko-KR" sz="2000" dirty="0"/>
              <a:t>DOT_FONTPATH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등에서 </a:t>
            </a:r>
            <a:r>
              <a:rPr lang="ko-KR" altLang="ko-KR" sz="2000" b="1" dirty="0" err="1"/>
              <a:t>fontname으로</a:t>
            </a:r>
            <a:r>
              <a:rPr lang="ko-KR" altLang="ko-KR" sz="2000" b="1" dirty="0"/>
              <a:t> 지정된 폰트를 </a:t>
            </a:r>
            <a:r>
              <a:rPr lang="ko-KR" altLang="ko-KR" sz="2000" b="1" dirty="0" err="1"/>
              <a:t>dot이</a:t>
            </a:r>
            <a:r>
              <a:rPr lang="ko-KR" altLang="ko-KR" sz="2000" b="1" dirty="0"/>
              <a:t> 찾을 수 있는 경로를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320619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5DD1-DEA1-4F4A-7C7F-EC285422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D839D-C0FF-3B9E-22F6-F169AC6E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4560C-A17D-5B59-72B2-18392876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스타일을 지정할 때 사용하는 문법은 </a:t>
            </a:r>
            <a:r>
              <a:rPr lang="en-US" altLang="ko-KR" sz="2000" dirty="0" err="1"/>
              <a:t>Graphviz</a:t>
            </a:r>
            <a:r>
              <a:rPr lang="ko-KR" altLang="en-US" sz="2000" dirty="0"/>
              <a:t>의 </a:t>
            </a:r>
            <a:r>
              <a:rPr lang="en-US" altLang="ko-KR" sz="2000" dirty="0"/>
              <a:t>dot</a:t>
            </a:r>
            <a:r>
              <a:rPr lang="ko-KR" altLang="en-US" sz="2000" dirty="0"/>
              <a:t> 문법이다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528481-050F-4938-B985-B9194C7D2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42" y="1874075"/>
            <a:ext cx="5125121" cy="37727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13BA1D-A1F4-9C67-29C4-97B5D369D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297" y="1906957"/>
            <a:ext cx="5170061" cy="3772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3B45B-EA23-9BF3-F71E-1B49AA78B955}"/>
              </a:ext>
            </a:extLst>
          </p:cNvPr>
          <p:cNvSpPr txBox="1"/>
          <p:nvPr/>
        </p:nvSpPr>
        <p:spPr>
          <a:xfrm>
            <a:off x="1652337" y="580763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스타일 적용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D8ACC-23F0-458D-4C01-23701062CFCB}"/>
              </a:ext>
            </a:extLst>
          </p:cNvPr>
          <p:cNvSpPr txBox="1"/>
          <p:nvPr/>
        </p:nvSpPr>
        <p:spPr>
          <a:xfrm>
            <a:off x="4653461" y="5679704"/>
            <a:ext cx="7538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스타일 적용 후</a:t>
            </a:r>
            <a:endParaRPr lang="en-US" altLang="ko-KR" dirty="0"/>
          </a:p>
          <a:p>
            <a:pPr algn="ctr"/>
            <a:r>
              <a:rPr lang="en-US" altLang="ko-KR" sz="1200" dirty="0"/>
              <a:t>DOT_COMMON_ATTR = </a:t>
            </a:r>
            <a:r>
              <a:rPr lang="en-US" altLang="ko-KR" sz="1200" dirty="0" err="1"/>
              <a:t>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Helvetica,fontsize</a:t>
            </a:r>
            <a:r>
              <a:rPr lang="en-US" altLang="ko-KR" sz="1200" dirty="0"/>
              <a:t>=20</a:t>
            </a:r>
          </a:p>
          <a:p>
            <a:pPr algn="ctr"/>
            <a:r>
              <a:rPr lang="en-US" altLang="ko-KR" sz="1200" dirty="0"/>
              <a:t>DOT_EDGE_ATTR = </a:t>
            </a:r>
            <a:r>
              <a:rPr lang="en-US" altLang="ko-KR" sz="1200" dirty="0" err="1"/>
              <a:t>labelfontname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Helvetica,labelfontsize</a:t>
            </a:r>
            <a:r>
              <a:rPr lang="en-US" altLang="ko-KR" sz="1200" dirty="0"/>
              <a:t>=10,penwidth=2.0,arrowsize=2.0,fillcolor=green</a:t>
            </a:r>
          </a:p>
          <a:p>
            <a:pPr algn="ctr"/>
            <a:r>
              <a:rPr lang="en-US" altLang="ko-KR" sz="1200" dirty="0"/>
              <a:t>DOT_NODE_ATTR = shape=</a:t>
            </a:r>
            <a:r>
              <a:rPr lang="en-US" altLang="ko-KR" sz="1200" dirty="0" err="1"/>
              <a:t>box,height</a:t>
            </a:r>
            <a:r>
              <a:rPr lang="en-US" altLang="ko-KR" sz="1200" dirty="0"/>
              <a:t>=0.2,width=0.4, </a:t>
            </a:r>
            <a:r>
              <a:rPr lang="en-US" altLang="ko-KR" sz="1200" dirty="0" err="1"/>
              <a:t>penwidth</a:t>
            </a:r>
            <a:r>
              <a:rPr lang="en-US" altLang="ko-KR" sz="1200" dirty="0"/>
              <a:t> = 5.0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85120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72B6-913B-5E04-D4EE-DF9228BC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3DAC8-65B7-AC45-1A52-D32711AF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37F06-1B56-9335-0B92-ED7D82BF7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CLASS_GRAPH(Wizard</a:t>
            </a:r>
            <a:r>
              <a:rPr lang="ko-KR" altLang="en-US" sz="2000" dirty="0"/>
              <a:t>의 </a:t>
            </a:r>
            <a:r>
              <a:rPr lang="en-US" altLang="ko-KR" sz="2000" dirty="0"/>
              <a:t>Class graphs</a:t>
            </a:r>
            <a:r>
              <a:rPr lang="ko-KR" altLang="en-US" sz="2000" dirty="0"/>
              <a:t>와 동일 옵션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YES/NO/TEXT/GRAPH/BUILTIN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문서화된 각 클래스에 대해 직접/간접 </a:t>
            </a:r>
            <a:r>
              <a:rPr lang="ko-KR" altLang="ko-KR" sz="2000" b="1" dirty="0"/>
              <a:t>상속 관계 그래프 생성 </a:t>
            </a:r>
            <a:r>
              <a:rPr lang="ko-KR" altLang="ko-KR" sz="2000" dirty="0"/>
              <a:t>여부를 설</a:t>
            </a:r>
            <a:r>
              <a:rPr lang="ko-KR" altLang="en-US" sz="2000" dirty="0"/>
              <a:t>정한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 lvl="1"/>
            <a:r>
              <a:rPr lang="ko-KR" altLang="ko-KR" sz="1800" dirty="0"/>
              <a:t>YES / GRAPH: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활성화되어 있으면 </a:t>
            </a:r>
            <a:r>
              <a:rPr lang="ko-KR" altLang="ko-KR" sz="1800" dirty="0" err="1"/>
              <a:t>dot을</a:t>
            </a:r>
            <a:r>
              <a:rPr lang="ko-KR" altLang="ko-KR" sz="1800" dirty="0"/>
              <a:t> 사용하여 그래프를 생성</a:t>
            </a:r>
            <a:r>
              <a:rPr lang="ko-KR" altLang="en-US" sz="1800" dirty="0"/>
              <a:t>한</a:t>
            </a:r>
            <a:r>
              <a:rPr lang="ko-KR" altLang="ko-KR" sz="1800" dirty="0"/>
              <a:t>다.(YES 설정 시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비활성화되어 있어도 내장 생성기</a:t>
            </a:r>
            <a:r>
              <a:rPr lang="ko-KR" altLang="en-US" sz="1800" dirty="0"/>
              <a:t>가</a:t>
            </a:r>
            <a:r>
              <a:rPr lang="ko-KR" altLang="ko-KR" sz="1800" dirty="0"/>
              <a:t> 사용</a:t>
            </a:r>
            <a:r>
              <a:rPr lang="ko-KR" altLang="en-US" sz="1800" dirty="0"/>
              <a:t>된다</a:t>
            </a:r>
            <a:r>
              <a:rPr lang="ko-KR" altLang="ko-KR" sz="1800" dirty="0"/>
              <a:t>)</a:t>
            </a:r>
          </a:p>
          <a:p>
            <a:pPr lvl="1"/>
            <a:r>
              <a:rPr lang="ko-KR" altLang="ko-KR" sz="1800" dirty="0"/>
              <a:t>BUILTIN: 내장 생성기를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 </a:t>
            </a:r>
          </a:p>
          <a:p>
            <a:pPr lvl="1"/>
            <a:r>
              <a:rPr lang="ko-KR" altLang="ko-KR" sz="1800" dirty="0"/>
              <a:t>TEXT: 텍스트 및 링크 형태로 표현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명령어 \</a:t>
            </a:r>
            <a:r>
              <a:rPr lang="ko-KR" altLang="ko-KR" sz="1800" dirty="0" err="1"/>
              <a:t>inheritancegraph로</a:t>
            </a:r>
            <a:r>
              <a:rPr lang="ko-KR" altLang="ko-KR" sz="1800" dirty="0"/>
              <a:t> 명시적 활성화, \</a:t>
            </a:r>
            <a:r>
              <a:rPr lang="ko-KR" altLang="ko-KR" sz="1800" dirty="0" err="1"/>
              <a:t>hideinheritancegraph로</a:t>
            </a:r>
            <a:r>
              <a:rPr lang="ko-KR" altLang="ko-KR" sz="1800" dirty="0"/>
              <a:t> 비활성화가 가능</a:t>
            </a:r>
            <a:r>
              <a:rPr lang="ko-KR" altLang="en-US" sz="1800" dirty="0"/>
              <a:t>하</a:t>
            </a:r>
            <a:r>
              <a:rPr lang="ko-KR" altLang="ko-KR" sz="1800" dirty="0"/>
              <a:t>다.</a:t>
            </a:r>
            <a:endParaRPr lang="ko-KR" altLang="ko-KR" sz="2000" dirty="0"/>
          </a:p>
          <a:p>
            <a:pPr lvl="1"/>
            <a:endParaRPr lang="en-US" altLang="ko-KR" sz="1600" dirty="0"/>
          </a:p>
          <a:p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C885C-F43F-FD0B-33A0-3BDA361FAF5A}"/>
              </a:ext>
            </a:extLst>
          </p:cNvPr>
          <p:cNvSpPr txBox="1"/>
          <p:nvPr/>
        </p:nvSpPr>
        <p:spPr>
          <a:xfrm>
            <a:off x="838200" y="379333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상속 관계 그래프의 종류를 선택하는 옵션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                       </a:t>
            </a:r>
            <a:r>
              <a:rPr lang="en-US" altLang="ko-KR" sz="2000" dirty="0"/>
              <a:t>	 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상속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+ </a:t>
            </a:r>
            <a:r>
              <a:rPr lang="ko-KR" altLang="en-US" sz="2000" dirty="0"/>
              <a:t>자식 클래스</a:t>
            </a:r>
          </a:p>
        </p:txBody>
      </p:sp>
    </p:spTree>
    <p:extLst>
      <p:ext uri="{BB962C8B-B14F-4D97-AF65-F5344CB8AC3E}">
        <p14:creationId xmlns:p14="http://schemas.microsoft.com/office/powerpoint/2010/main" val="2863649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FA13-41D4-192B-0434-E741A09D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5ED1-D7AA-1C98-EF52-541D539F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417-81AE-6237-B79E-B01DDA43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CLASS_GRAPH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7B933A-75A8-92C3-AD7E-4E084248F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01"/>
          <a:stretch>
            <a:fillRect/>
          </a:stretch>
        </p:blipFill>
        <p:spPr>
          <a:xfrm>
            <a:off x="385012" y="2239182"/>
            <a:ext cx="9865826" cy="350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495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2366-3467-2AC2-0825-8FAB181F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42C94-A564-3324-CBD6-610B9F42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7115D-CE12-8080-C98B-BCC48863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클래스 간의 직접/간접 구현 의존성(상속, 포함, 클래스 참조 변수 등)을 보여주는 협력(</a:t>
            </a:r>
            <a:r>
              <a:rPr lang="ko-KR" altLang="ko-KR" sz="2000" dirty="0" err="1"/>
              <a:t>Collaboration</a:t>
            </a:r>
            <a:r>
              <a:rPr lang="ko-KR" altLang="ko-KR" sz="2000" dirty="0"/>
              <a:t>)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collaborationgraph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hidecollaborationgraph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DFACA-653B-4537-121D-B36111379255}"/>
              </a:ext>
            </a:extLst>
          </p:cNvPr>
          <p:cNvSpPr txBox="1"/>
          <p:nvPr/>
        </p:nvSpPr>
        <p:spPr>
          <a:xfrm>
            <a:off x="822157" y="3081587"/>
            <a:ext cx="11177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dirty="0"/>
              <a:t>직접/간접 구현 의존성</a:t>
            </a:r>
            <a:r>
              <a:rPr lang="en-US" altLang="ko-KR" sz="2000" dirty="0"/>
              <a:t> </a:t>
            </a:r>
            <a:r>
              <a:rPr lang="ko-KR" altLang="en-US" sz="2000" dirty="0"/>
              <a:t>그래프</a:t>
            </a:r>
            <a:r>
              <a:rPr lang="en-US" altLang="ko-KR" sz="2000" dirty="0"/>
              <a:t>, </a:t>
            </a:r>
            <a:r>
              <a:rPr lang="ko-KR" altLang="en-US" sz="2000" dirty="0"/>
              <a:t>즉 협력 관계에 대한 그래프를 생성하는 옵션이</a:t>
            </a:r>
            <a:r>
              <a:rPr lang="en-US" altLang="ko-KR" sz="2000" dirty="0"/>
              <a:t>	    </a:t>
            </a:r>
            <a:r>
              <a:rPr lang="ko-KR" altLang="en-US" sz="2000" dirty="0"/>
              <a:t>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</a:t>
            </a:r>
            <a:endParaRPr lang="en-US" altLang="ko-KR" sz="2000" dirty="0"/>
          </a:p>
          <a:p>
            <a:r>
              <a:rPr lang="en-US" altLang="ko-KR" sz="2000" dirty="0"/>
              <a:t>	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협력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</a:p>
          <a:p>
            <a:r>
              <a:rPr lang="en-US" altLang="ko-KR" sz="2000" dirty="0"/>
              <a:t>	1.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상속받은 상위 클래스</a:t>
            </a:r>
            <a:endParaRPr lang="en-US" altLang="ko-KR" sz="2000" dirty="0"/>
          </a:p>
          <a:p>
            <a:r>
              <a:rPr lang="en-US" altLang="ko-KR" sz="2000" dirty="0"/>
              <a:t>	2. </a:t>
            </a:r>
            <a:r>
              <a:rPr lang="ko-KR" altLang="en-US" sz="2000" dirty="0"/>
              <a:t>멤버 변수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객체 형태로 내부에 직접 소유한 클래스</a:t>
            </a:r>
            <a:endParaRPr lang="en-US" altLang="ko-KR" sz="2000" dirty="0"/>
          </a:p>
          <a:p>
            <a:r>
              <a:rPr lang="en-US" altLang="ko-KR" sz="2000" dirty="0"/>
              <a:t>	3.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/</a:t>
            </a:r>
            <a:r>
              <a:rPr lang="ko-KR" altLang="en-US" sz="2000" dirty="0"/>
              <a:t>참조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포인터나 레퍼런스로 가리키고 있는 클래스</a:t>
            </a:r>
            <a:endParaRPr lang="en-US" altLang="ko-KR" sz="2000" dirty="0"/>
          </a:p>
          <a:p>
            <a:r>
              <a:rPr lang="en-US" altLang="ko-KR" sz="2000" dirty="0"/>
              <a:t>	4. </a:t>
            </a:r>
            <a:r>
              <a:rPr lang="ko-KR" altLang="en-US" sz="2000" dirty="0"/>
              <a:t>템플릿 인스턴스 관계 </a:t>
            </a:r>
            <a:r>
              <a:rPr lang="en-US" altLang="ko-KR" sz="2000" dirty="0"/>
              <a:t>:</a:t>
            </a:r>
            <a:r>
              <a:rPr lang="ko-KR" altLang="ko-KR" dirty="0"/>
              <a:t> </a:t>
            </a:r>
            <a:r>
              <a:rPr lang="ko-KR" altLang="ko-KR" sz="2000" dirty="0"/>
              <a:t>템플릿으로 엮인 </a:t>
            </a:r>
            <a:r>
              <a:rPr lang="ko-KR" altLang="en-US" sz="2000" dirty="0"/>
              <a:t>클</a:t>
            </a:r>
            <a:r>
              <a:rPr lang="ko-KR" altLang="ko-KR" sz="2000" dirty="0"/>
              <a:t>래스</a:t>
            </a:r>
            <a:r>
              <a:rPr lang="en-US" altLang="ko-KR" sz="2000" dirty="0"/>
              <a:t>(</a:t>
            </a:r>
            <a:r>
              <a:rPr lang="ko-KR" altLang="en-US" sz="2000" dirty="0"/>
              <a:t>템플릿 클래스를 상속하거나 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템플릿 타입 매개변수로 클래스를 사용할 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43485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83B7-71BE-ED64-BF58-67B66495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103BB-87B3-D750-7D7E-16E0AE7A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62D49-BC01-74A8-24C6-5C11724EE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2BD6D7-3006-1B48-B290-CE140A663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75904"/>
            <a:ext cx="4507832" cy="4658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153D35-B4BC-64CE-47A9-3E3E6586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480" y="4067174"/>
            <a:ext cx="9398520" cy="2566823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73E236E3-5AE2-7920-6E6C-305C25B1A2C4}"/>
              </a:ext>
            </a:extLst>
          </p:cNvPr>
          <p:cNvCxnSpPr>
            <a:cxnSpLocks/>
          </p:cNvCxnSpPr>
          <p:nvPr/>
        </p:nvCxnSpPr>
        <p:spPr>
          <a:xfrm flipV="1">
            <a:off x="2863516" y="1764632"/>
            <a:ext cx="2783305" cy="898357"/>
          </a:xfrm>
          <a:prstGeom prst="bentConnector3">
            <a:avLst>
              <a:gd name="adj1" fmla="val -14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AB4F94-B33C-37D2-F8F9-8BCD77BF8DF1}"/>
              </a:ext>
            </a:extLst>
          </p:cNvPr>
          <p:cNvSpPr txBox="1"/>
          <p:nvPr/>
        </p:nvSpPr>
        <p:spPr>
          <a:xfrm>
            <a:off x="5791200" y="1591024"/>
            <a:ext cx="73522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부모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상속받은 상위 클래스</a:t>
            </a:r>
            <a:endParaRPr lang="en-US" altLang="ko-KR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멤버 변수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객체 형태로 내부에 직접 소유한 클래스</a:t>
            </a:r>
            <a:endParaRPr lang="en-US" altLang="ko-KR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포인터</a:t>
            </a:r>
            <a:r>
              <a:rPr lang="en-US" altLang="ko-KR" sz="1600" dirty="0"/>
              <a:t>/</a:t>
            </a:r>
            <a:r>
              <a:rPr lang="ko-KR" altLang="en-US" sz="1600" dirty="0"/>
              <a:t>참조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포인터나 레퍼런스로 가리키고 있는 클래스</a:t>
            </a:r>
            <a:endParaRPr lang="en-US" altLang="ko-KR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템플릿 인스턴스 관계 </a:t>
            </a:r>
            <a:r>
              <a:rPr lang="en-US" altLang="ko-KR" sz="1600" dirty="0"/>
              <a:t>:</a:t>
            </a:r>
            <a:r>
              <a:rPr lang="ko-KR" altLang="ko-KR" sz="1600" dirty="0"/>
              <a:t> 템플릿으로 엮인 </a:t>
            </a:r>
            <a:r>
              <a:rPr lang="ko-KR" altLang="en-US" sz="1600" dirty="0"/>
              <a:t>클</a:t>
            </a:r>
            <a:r>
              <a:rPr lang="ko-KR" altLang="ko-KR" sz="1600" dirty="0"/>
              <a:t>래스</a:t>
            </a:r>
            <a:r>
              <a:rPr lang="en-US" altLang="ko-KR" sz="1600" dirty="0"/>
              <a:t>(</a:t>
            </a:r>
            <a:r>
              <a:rPr lang="ko-KR" altLang="en-US" sz="1600" dirty="0"/>
              <a:t>템플릿 클래스를 </a:t>
            </a:r>
            <a:endParaRPr lang="en-US" altLang="ko-KR" sz="1600" dirty="0"/>
          </a:p>
          <a:p>
            <a:r>
              <a:rPr lang="ko-KR" altLang="en-US" sz="1600" dirty="0"/>
              <a:t>상속하거나 템플릿 타입 매개변수로 클래스를 사용할 때</a:t>
            </a:r>
            <a:r>
              <a:rPr lang="en-US" altLang="ko-KR" sz="16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BC0386F-DB36-ECEE-D92E-64936C659350}"/>
              </a:ext>
            </a:extLst>
          </p:cNvPr>
          <p:cNvCxnSpPr>
            <a:cxnSpLocks/>
          </p:cNvCxnSpPr>
          <p:nvPr/>
        </p:nvCxnSpPr>
        <p:spPr>
          <a:xfrm flipV="1">
            <a:off x="2133600" y="1987935"/>
            <a:ext cx="3657600" cy="1300697"/>
          </a:xfrm>
          <a:prstGeom prst="bentConnector3">
            <a:avLst>
              <a:gd name="adj1" fmla="val 377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D8E3ABA6-5600-DDDC-13AB-E8CFC0A72748}"/>
              </a:ext>
            </a:extLst>
          </p:cNvPr>
          <p:cNvCxnSpPr>
            <a:cxnSpLocks/>
          </p:cNvCxnSpPr>
          <p:nvPr/>
        </p:nvCxnSpPr>
        <p:spPr>
          <a:xfrm flipV="1">
            <a:off x="2286000" y="2241158"/>
            <a:ext cx="3505200" cy="1199874"/>
          </a:xfrm>
          <a:prstGeom prst="bentConnector3">
            <a:avLst>
              <a:gd name="adj1" fmla="val 6876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5AAFF1F-010F-AAF0-71C5-E6BFBFE7E694}"/>
              </a:ext>
            </a:extLst>
          </p:cNvPr>
          <p:cNvCxnSpPr>
            <a:cxnSpLocks/>
          </p:cNvCxnSpPr>
          <p:nvPr/>
        </p:nvCxnSpPr>
        <p:spPr>
          <a:xfrm flipV="1">
            <a:off x="3208421" y="2502568"/>
            <a:ext cx="2582779" cy="1149736"/>
          </a:xfrm>
          <a:prstGeom prst="bentConnector3">
            <a:avLst>
              <a:gd name="adj1" fmla="val 673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A2BF57E-170C-BA5C-2C1C-E40AD3D2A500}"/>
              </a:ext>
            </a:extLst>
          </p:cNvPr>
          <p:cNvCxnSpPr>
            <a:cxnSpLocks/>
          </p:cNvCxnSpPr>
          <p:nvPr/>
        </p:nvCxnSpPr>
        <p:spPr>
          <a:xfrm flipV="1">
            <a:off x="3962400" y="2502568"/>
            <a:ext cx="1251284" cy="160421"/>
          </a:xfrm>
          <a:prstGeom prst="bentConnector3">
            <a:avLst>
              <a:gd name="adj1" fmla="val 128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583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DFDF-7175-1F4E-147D-241DAABE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18B2C-1882-BBC1-CEA0-A2F478DF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4A22D4-39C2-5A96-DF25-83BEE2F9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그룹 간의 직접 의존 관계를 보여주는 그래프를 생성합니다.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groupgraph</a:t>
            </a:r>
            <a:r>
              <a:rPr lang="ko-KR" altLang="ko-KR" sz="2000" dirty="0"/>
              <a:t> 및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hidegroupgraph</a:t>
            </a:r>
            <a:r>
              <a:rPr lang="ko-KR" altLang="ko-KR" sz="2000" dirty="0"/>
              <a:t> 명령어로 개별 제어가 가능합니다.</a:t>
            </a:r>
            <a:br>
              <a:rPr lang="en-US" altLang="ko-KR" sz="2000" dirty="0"/>
            </a:br>
            <a:r>
              <a:rPr lang="ko-KR" altLang="en-US" sz="2000" dirty="0"/>
              <a:t>부연 설명</a:t>
            </a:r>
            <a:r>
              <a:rPr lang="en-US" altLang="ko-KR" sz="2000" dirty="0"/>
              <a:t> : </a:t>
            </a:r>
            <a:r>
              <a:rPr lang="ko-KR" altLang="en-US" sz="2000" dirty="0"/>
              <a:t>모듈</a:t>
            </a:r>
            <a:r>
              <a:rPr lang="en-US" altLang="ko-KR" sz="2000" dirty="0"/>
              <a:t>/</a:t>
            </a:r>
            <a:r>
              <a:rPr lang="ko-KR" altLang="en-US" sz="2000" dirty="0"/>
              <a:t>그룹</a:t>
            </a:r>
            <a:r>
              <a:rPr lang="en-US" altLang="ko-KR" sz="2000" dirty="0"/>
              <a:t>(@defgroup, @addtogroup)</a:t>
            </a:r>
            <a:r>
              <a:rPr lang="ko-KR" altLang="en-US" sz="2000" dirty="0"/>
              <a:t>간의 의존 관계 다이어그램을 </a:t>
            </a:r>
            <a:r>
              <a:rPr lang="ko-KR" altLang="en-US" sz="2000" dirty="0" err="1"/>
              <a:t>생성할지의</a:t>
            </a:r>
            <a:r>
              <a:rPr lang="ko-KR" altLang="en-US" sz="2000" dirty="0"/>
              <a:t> 여부를 묻는 옵션</a:t>
            </a:r>
            <a:r>
              <a:rPr lang="en-US" altLang="ko-KR" sz="2000" dirty="0"/>
              <a:t>. </a:t>
            </a:r>
            <a:r>
              <a:rPr lang="ko-KR" altLang="en-US" sz="2000" dirty="0"/>
              <a:t>개발자가 그룹을 만들었을 때 </a:t>
            </a:r>
            <a:r>
              <a:rPr lang="en-US" altLang="ko-KR" sz="2000" dirty="0"/>
              <a:t>topics</a:t>
            </a:r>
            <a:r>
              <a:rPr lang="ko-KR" altLang="en-US" sz="2000" dirty="0"/>
              <a:t>에서 그룹 창에 들어가서 그래프를 확인할 수 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표시되는 관계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하위 그룹 포함 관계: 그룹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 안에 그룹 </a:t>
            </a:r>
            <a:r>
              <a:rPr lang="ko-KR" altLang="ko-KR" sz="2000" dirty="0" err="1"/>
              <a:t>B가</a:t>
            </a:r>
            <a:r>
              <a:rPr lang="ko-KR" altLang="ko-KR" sz="2000" dirty="0"/>
              <a:t> 속해 있는 계층 구조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그룹 간 의존성 관계: 그룹 </a:t>
            </a:r>
            <a:r>
              <a:rPr lang="ko-KR" altLang="ko-KR" sz="2000" dirty="0" err="1"/>
              <a:t>A에</a:t>
            </a:r>
            <a:r>
              <a:rPr lang="ko-KR" altLang="ko-KR" sz="2000" dirty="0"/>
              <a:t> 속한 클래스/함수가 그룹 </a:t>
            </a:r>
            <a:r>
              <a:rPr lang="ko-KR" altLang="ko-KR" sz="2000" dirty="0" err="1"/>
              <a:t>B에</a:t>
            </a:r>
            <a:r>
              <a:rPr lang="ko-KR" altLang="ko-KR" sz="2000" dirty="0"/>
              <a:t> 속한 클래스/함수를 사</a:t>
            </a:r>
            <a:r>
              <a:rPr lang="en-US" altLang="ko-KR" sz="2000" dirty="0"/>
              <a:t>	</a:t>
            </a:r>
            <a:r>
              <a:rPr lang="ko-KR" altLang="ko-KR" sz="2000" dirty="0"/>
              <a:t>용할 때 나타나는 모듈 간 연결</a:t>
            </a:r>
            <a:br>
              <a:rPr lang="en-US" altLang="ko-KR" sz="2000" dirty="0"/>
            </a:br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325559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69CF-1EE1-9E48-FB51-8C8C6CFB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E5ADA-A0DF-6EA6-CCB0-DCC54A02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  <a:r>
              <a:rPr lang="en-US" altLang="ko-KR" sz="3600" dirty="0"/>
              <a:t> 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145795-D388-BDE4-792F-E5DFF72F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623FCBD-8E91-747D-4B37-89B6084E397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69215"/>
          <a:ext cx="8286750" cy="4571673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371995792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332829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404938221"/>
                    </a:ext>
                  </a:extLst>
                </a:gridCol>
              </a:tblGrid>
              <a:tr h="2839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명령어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사용 예시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12734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@defgroup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새로운 그룹(모듈)을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고유한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ID와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Doxygen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문서에 표시될 제목을 지정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@defgroup Network "네트워크 모듈"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48859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@ingroup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[&lt;id2&gt; ...]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특정 클래스, 함수, 파일 등을 지정한 그룹에 포함시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킨다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여러 그룹에 동시 소속도 가능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@ingroup Network */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class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Socket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160811"/>
                  </a:ext>
                </a:extLst>
              </a:tr>
              <a:tr h="87354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기존 그룹에 요소를 추가합니다. 존재하지 않으면 새로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블록</a:t>
                      </a: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조합하여 많이 쓰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05952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@weakgroup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동일하지만, 다른 그룹 설정과의 우선순위 경쟁에서 낮은 우선순위를 갖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는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@weakgroup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60281"/>
                  </a:ext>
                </a:extLst>
              </a:tr>
              <a:tr h="116290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</a:t>
                      </a:r>
                      <a:r>
                        <a:rPr lang="ko-K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그룹 지정 범위(블록)의 시작과 끝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 블록 안의 모든 요소가 해당 그룹에 일괄 소속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된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/**@{*/ 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/**@}*/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9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3973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F3736-CA8D-9542-1000-F73AB7D6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2CCDD-7CCA-6D2F-08C5-8DFDC289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F6121-B14B-80C3-B61F-9510A057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r>
              <a:rPr lang="ko-KR" altLang="en-US" sz="2000" dirty="0"/>
              <a:t>를 사용한 코드 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5B24C5-DBC5-6D06-C9C6-1C8612C23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58" y="2049595"/>
            <a:ext cx="2377646" cy="4282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20E612-8A2A-599B-AF0E-9EDCD73D9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28095"/>
            <a:ext cx="3161690" cy="37629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C34F19-53C1-8F7E-E994-FE0F5AC7D3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191001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650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6576-46EE-4CC1-9D59-3C6CD8F8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690CF-840A-4D67-375A-63BC505D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54397-6D78-E224-B7D3-85DBF156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하위 그룹 포함 관계</a:t>
            </a:r>
            <a:r>
              <a:rPr lang="en-US" altLang="ko-KR" sz="2000" dirty="0"/>
              <a:t>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59A6CE1-BC49-7ED0-26AA-9609FF439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9436"/>
            <a:ext cx="10849186" cy="48393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F3D880-EC14-EED7-2DAF-49AE6B9D5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E06A1D4-FB49-3FEF-3F4D-197A0AE3D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9B389BD-122B-44B9-88E1-83F2CD45C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46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B7CC-DE97-609D-B6C0-BC8D5E9F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A6C29-B08C-1C2A-1544-8D01463E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6E0514-8261-DD9A-0F17-C6E63FF52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그룹 간 의존성 관계</a:t>
            </a:r>
            <a:r>
              <a:rPr lang="en-US" altLang="ko-KR" sz="2000" dirty="0"/>
              <a:t>(</a:t>
            </a:r>
            <a:r>
              <a:rPr lang="ko-KR" altLang="en-US" sz="2000" dirty="0"/>
              <a:t>점선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6C034FC-D36F-2BBC-0B4D-58462006C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1453"/>
            <a:ext cx="10629900" cy="49597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3740CD-7F00-EA38-5ECF-B18F36596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80FB47-BC60-4059-CC83-F13D28F65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A720F2-7494-590B-3BBF-5631C7CB1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12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A71B-B8FA-40E2-5748-332D7767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B903E-F778-0695-E52D-1F9555E4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F668C-8B38-BD39-B98C-3FE73CFFD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047"/>
            <a:ext cx="10744200" cy="569695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UML: </a:t>
            </a:r>
            <a:r>
              <a:rPr lang="ko-KR" altLang="ko-KR" sz="2000" dirty="0"/>
              <a:t>UML(</a:t>
            </a:r>
            <a:r>
              <a:rPr lang="ko-KR" altLang="ko-KR" sz="2000" dirty="0" err="1"/>
              <a:t>Unified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Language</a:t>
            </a:r>
            <a:r>
              <a:rPr lang="ko-KR" altLang="ko-KR" sz="2000" dirty="0"/>
              <a:t>, 통합 모델링 언어)은 객체 지향 소프트웨어 시스템의 구조와 행위를 시각화, 명세화, 구축, 문서화하기 위해 만들어진 </a:t>
            </a:r>
            <a:r>
              <a:rPr lang="ko-KR" altLang="ko-KR" sz="2000" b="1" dirty="0"/>
              <a:t>국제 표준 모델링 </a:t>
            </a:r>
            <a:br>
              <a:rPr lang="en-US" altLang="ko-KR" sz="2000" b="1" dirty="0"/>
            </a:br>
            <a:r>
              <a:rPr lang="ko-KR" altLang="ko-KR" sz="2000" b="1" dirty="0"/>
              <a:t>언어</a:t>
            </a:r>
            <a:r>
              <a:rPr lang="ko-KR" altLang="en-US" sz="2000" dirty="0"/>
              <a:t>이다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소프트웨어 개발이 복잡해지면서 개발자, 기획자, </a:t>
            </a:r>
            <a:r>
              <a:rPr lang="ko-KR" altLang="ko-KR" sz="2000" dirty="0" err="1"/>
              <a:t>아키텍트</a:t>
            </a:r>
            <a:r>
              <a:rPr lang="ko-KR" altLang="ko-KR" sz="2000" dirty="0"/>
              <a:t> 간의 의사소통 오류를 줄이기 위해 OMG(</a:t>
            </a:r>
            <a:r>
              <a:rPr lang="ko-KR" altLang="ko-KR" sz="2000" dirty="0" err="1"/>
              <a:t>Object</a:t>
            </a:r>
            <a:r>
              <a:rPr lang="ko-KR" altLang="ko-KR" sz="2000" dirty="0"/>
              <a:t> Management Group)에서 </a:t>
            </a:r>
            <a:r>
              <a:rPr lang="ko-KR" altLang="ko-KR" sz="2000" dirty="0" err="1"/>
              <a:t>표준화</a:t>
            </a:r>
            <a:r>
              <a:rPr lang="ko-KR" altLang="en-US" sz="2000" dirty="0" err="1"/>
              <a:t>했다</a:t>
            </a:r>
            <a:r>
              <a:rPr lang="ko-KR" altLang="ko-KR" sz="2000" dirty="0"/>
              <a:t>. 단순한 그림이 아니라, 코드로 구현될 소프트웨어의 설계도 역할을 수행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표준화된 문법</a:t>
            </a:r>
            <a:r>
              <a:rPr lang="en-US" altLang="ko-KR" sz="2000" dirty="0"/>
              <a:t>(</a:t>
            </a:r>
            <a:r>
              <a:rPr lang="ko-KR" altLang="en-US" sz="2000" dirty="0"/>
              <a:t>코드가 아닌 시각적 도형 및 기호에 따른 문법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</a:t>
            </a:r>
            <a:r>
              <a:rPr lang="ko-KR" altLang="ko-KR" sz="2000" dirty="0"/>
              <a:t>클래스, 객체, 속성, 메서드, 그리고 이들 간의 관계(상속, 의존, 포함 등)를 표현하는 약속된 기호와 화살표를 사용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시스템의 </a:t>
            </a:r>
            <a:r>
              <a:rPr lang="ko-KR" altLang="en-US" sz="2000" dirty="0"/>
              <a:t>정적인</a:t>
            </a:r>
            <a:r>
              <a:rPr lang="ko-KR" altLang="ko-KR" sz="2000" dirty="0"/>
              <a:t> 형태를 보여주는 구조 다이어그램(</a:t>
            </a:r>
            <a:r>
              <a:rPr lang="ko-KR" altLang="ko-KR" sz="2000" dirty="0" err="1"/>
              <a:t>Structure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)과 </a:t>
            </a:r>
            <a:r>
              <a:rPr lang="ko-KR" altLang="en-US" sz="2000" dirty="0"/>
              <a:t>동적인</a:t>
            </a:r>
            <a:r>
              <a:rPr lang="ko-KR" altLang="ko-KR" sz="2000" dirty="0"/>
              <a:t> 흐름을 보여주는 행위 다이어그램(</a:t>
            </a:r>
            <a:r>
              <a:rPr lang="ko-KR" altLang="ko-KR" sz="2000" dirty="0" err="1"/>
              <a:t>Behavior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</a:t>
            </a:r>
            <a:r>
              <a:rPr lang="ko-KR" altLang="ko-KR" sz="2000" dirty="0" err="1"/>
              <a:t>으로</a:t>
            </a:r>
            <a:r>
              <a:rPr lang="ko-KR" altLang="ko-KR" sz="2000" dirty="0"/>
              <a:t> 나눠 표현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화살표 머리 모양, 선의 종류마다 </a:t>
            </a:r>
            <a:r>
              <a:rPr lang="ko-KR" altLang="ko-KR" sz="2000" b="1" dirty="0"/>
              <a:t>정확한 객체지향 의미</a:t>
            </a:r>
            <a:r>
              <a:rPr lang="ko-KR" altLang="ko-KR" sz="2000" dirty="0"/>
              <a:t> 존재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객체 간 관계, 상태 변화, 시스템 배치, 사용자 상호작용 등</a:t>
            </a:r>
            <a:r>
              <a:rPr lang="ko-KR" altLang="en-US" sz="2000" dirty="0"/>
              <a:t>을</a:t>
            </a:r>
            <a:r>
              <a:rPr lang="ko-KR" altLang="ko-KR" sz="2000" dirty="0"/>
              <a:t> 다각도</a:t>
            </a:r>
            <a:r>
              <a:rPr lang="ko-KR" altLang="en-US" sz="2000" dirty="0"/>
              <a:t>로 표현함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국제 표준이기에 </a:t>
            </a:r>
            <a:r>
              <a:rPr lang="ko-KR" altLang="ko-KR" sz="2000" dirty="0">
                <a:latin typeface="Google Sans Text"/>
              </a:rPr>
              <a:t>UML 규칙을 아는 개발자라면 </a:t>
            </a:r>
            <a:r>
              <a:rPr lang="ko-KR" altLang="ko-KR" sz="2000" b="1" dirty="0">
                <a:latin typeface="Google Sans Text"/>
              </a:rPr>
              <a:t>설명 없이도 설계 의도 파악 가능</a:t>
            </a:r>
            <a:endParaRPr lang="en-US" altLang="ko-KR" sz="2000" b="1" dirty="0">
              <a:latin typeface="Google Sans Text"/>
            </a:endParaRPr>
          </a:p>
          <a:p>
            <a:pPr>
              <a:lnSpc>
                <a:spcPct val="100000"/>
              </a:lnSpc>
            </a:pPr>
            <a:r>
              <a:rPr lang="ko-KR" altLang="ko-KR" sz="2000" dirty="0" err="1"/>
              <a:t>Doxygen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StarUML</a:t>
            </a:r>
            <a:r>
              <a:rPr lang="ko-KR" altLang="ko-KR" sz="2000" dirty="0"/>
              <a:t> 등을 통한 </a:t>
            </a:r>
            <a:r>
              <a:rPr lang="ko-KR" altLang="ko-KR" sz="2000" b="1" dirty="0"/>
              <a:t>자동 코드 생성 및 </a:t>
            </a:r>
            <a:r>
              <a:rPr lang="ko-KR" altLang="ko-KR" sz="2000" b="1" dirty="0" err="1"/>
              <a:t>역공학</a:t>
            </a:r>
            <a:r>
              <a:rPr lang="ko-KR" altLang="ko-KR" sz="2000" b="1" dirty="0"/>
              <a:t>(</a:t>
            </a:r>
            <a:r>
              <a:rPr lang="ko-KR" altLang="ko-KR" sz="2000" b="1" dirty="0" err="1"/>
              <a:t>Reverse</a:t>
            </a:r>
            <a:r>
              <a:rPr lang="ko-KR" altLang="ko-KR" sz="2000" b="1" dirty="0"/>
              <a:t> Engineering)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소스 코드를 분석해 다이어그램을 만드는 것</a:t>
            </a:r>
            <a:r>
              <a:rPr lang="en-US" altLang="ko-KR" sz="2000" b="1" dirty="0"/>
              <a:t>)</a:t>
            </a:r>
            <a:r>
              <a:rPr lang="ko-KR" altLang="ko-KR" sz="2000" dirty="0"/>
              <a:t>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06765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BE55-9FA5-DD76-F298-FA329DD5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43B7-265C-2369-9BA1-9EF94E38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DEB809-72D7-6230-B154-2BD936F9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200" dirty="0"/>
              <a:t>UML_LOOK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YES/NO (</a:t>
            </a:r>
            <a:r>
              <a:rPr lang="ko-KR" altLang="en-US" sz="2200" dirty="0"/>
              <a:t>기본값 </a:t>
            </a:r>
            <a:r>
              <a:rPr lang="en-US" altLang="ko-KR" sz="2200" dirty="0"/>
              <a:t>: NO)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YES로</a:t>
            </a:r>
            <a:r>
              <a:rPr lang="ko-KR" altLang="ko-KR" sz="2200" dirty="0"/>
              <a:t> 설정하면 상속 및 협력 다이어그램을 </a:t>
            </a:r>
            <a:r>
              <a:rPr lang="ko-KR" altLang="ko-KR" sz="2200" dirty="0" err="1"/>
              <a:t>OMG의</a:t>
            </a:r>
            <a:r>
              <a:rPr lang="ko-KR" altLang="ko-KR" sz="2200" dirty="0"/>
              <a:t> UML(</a:t>
            </a:r>
            <a:r>
              <a:rPr lang="ko-KR" altLang="ko-KR" sz="2200" dirty="0" err="1"/>
              <a:t>Unified</a:t>
            </a:r>
            <a:r>
              <a:rPr lang="ko-KR" altLang="ko-KR" sz="2200" dirty="0"/>
              <a:t> </a:t>
            </a:r>
            <a:r>
              <a:rPr lang="ko-KR" altLang="ko-KR" sz="2200" dirty="0" err="1"/>
              <a:t>Modeling</a:t>
            </a:r>
            <a:r>
              <a:rPr lang="ko-KR" altLang="ko-KR" sz="2200" dirty="0"/>
              <a:t> </a:t>
            </a:r>
            <a:r>
              <a:rPr lang="ko-KR" altLang="ko-KR" sz="2200" dirty="0" err="1"/>
              <a:t>Language</a:t>
            </a:r>
            <a:r>
              <a:rPr lang="ko-KR" altLang="ko-KR" sz="2200" dirty="0"/>
              <a:t>) 스타일과 유사하게 생성</a:t>
            </a:r>
            <a:r>
              <a:rPr lang="ko-KR" altLang="en-US" sz="2200" dirty="0"/>
              <a:t>한</a:t>
            </a:r>
            <a:r>
              <a:rPr lang="ko-KR" altLang="ko-KR" sz="2200" dirty="0"/>
              <a:t>다.</a:t>
            </a:r>
            <a:br>
              <a:rPr lang="en-US" altLang="ko-KR" sz="2200" dirty="0"/>
            </a:br>
            <a:r>
              <a:rPr lang="ko-KR" altLang="en-US" sz="2200" dirty="0"/>
              <a:t>부연 설명</a:t>
            </a:r>
            <a:r>
              <a:rPr lang="en-US" altLang="ko-KR" sz="2200" dirty="0"/>
              <a:t> : </a:t>
            </a:r>
            <a:r>
              <a:rPr lang="en-US" altLang="ko-KR" sz="2200" b="1" dirty="0"/>
              <a:t>UML</a:t>
            </a:r>
            <a:r>
              <a:rPr lang="ko-KR" altLang="en-US" sz="2200" b="1" dirty="0"/>
              <a:t> 표준에 따른 다이어그램을 생성한다</a:t>
            </a:r>
            <a:r>
              <a:rPr lang="en-US" altLang="ko-KR" sz="2200" b="1" dirty="0"/>
              <a:t>. </a:t>
            </a:r>
            <a:r>
              <a:rPr lang="ko-KR" altLang="en-US" sz="2200" dirty="0"/>
              <a:t>기존 그래프에 비해 많은 정</a:t>
            </a:r>
            <a:r>
              <a:rPr lang="en-US" altLang="ko-KR" sz="2200" dirty="0"/>
              <a:t>	       </a:t>
            </a:r>
            <a:r>
              <a:rPr lang="ko-KR" altLang="en-US" sz="2200" dirty="0"/>
              <a:t>보가 들어 있다</a:t>
            </a:r>
            <a:r>
              <a:rPr lang="en-US" altLang="ko-KR" sz="2200" dirty="0"/>
              <a:t>.</a:t>
            </a:r>
            <a:endParaRPr lang="en-US" altLang="ko-KR" sz="2200" b="1" dirty="0"/>
          </a:p>
          <a:p>
            <a:pPr>
              <a:lnSpc>
                <a:spcPct val="100000"/>
              </a:lnSpc>
            </a:pPr>
            <a:r>
              <a:rPr lang="en-US" altLang="ko-KR" sz="2200" dirty="0"/>
              <a:t>UML_LIMIT_NUM_FIELDS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노드 내부에 표시되는 필드 및 메서드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 (단, </a:t>
            </a:r>
            <a:r>
              <a:rPr lang="ko-KR" altLang="ko-KR" sz="2200" dirty="0" err="1"/>
              <a:t>설정값의</a:t>
            </a:r>
            <a:r>
              <a:rPr lang="ko-KR" altLang="ko-KR" sz="2200" dirty="0"/>
              <a:t> 50%까지 초과 허용 후 제한이 적용</a:t>
            </a:r>
            <a:r>
              <a:rPr lang="ko-KR" altLang="en-US" sz="2200" dirty="0"/>
              <a:t>된</a:t>
            </a:r>
            <a:r>
              <a:rPr lang="ko-KR" altLang="ko-KR" sz="2200" dirty="0"/>
              <a:t>다. 예: 10으로 설정 시 15개까지는 표시되나 15개를 넘어가면 10개로 제한)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34366911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CED9-9DC1-4F8B-DB71-ADD06C0E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7EED-E9EE-98FB-9FC8-60DA5186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03619-501E-F151-8B32-8E1AF30A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UML_MAX_EDGE_LABELS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</a:t>
            </a:r>
            <a:r>
              <a:rPr lang="ko-KR" altLang="ko-KR" sz="2200" dirty="0"/>
              <a:t>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두 노드 사이의 연결선(</a:t>
            </a:r>
            <a:r>
              <a:rPr lang="ko-KR" altLang="ko-KR" sz="2200" dirty="0" err="1"/>
              <a:t>엣지</a:t>
            </a:r>
            <a:r>
              <a:rPr lang="ko-KR" altLang="ko-KR" sz="2200" dirty="0"/>
              <a:t>)에 표시되는 필드 레이블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</a:t>
            </a:r>
            <a:endParaRPr lang="en-US" altLang="ko-KR" sz="2200" dirty="0"/>
          </a:p>
          <a:p>
            <a:r>
              <a:rPr lang="en-US" altLang="ko-KR" sz="2000" dirty="0"/>
              <a:t>DOT_UML_DETAILS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YES/NO/NONE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UML 그래프의 세부 정보 표시 방식을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1800" dirty="0"/>
              <a:t>NO: 타입과 매개변수 없이 속성과 메서드 이름만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YES: 속성과 메서드에 타입과 매개변수를 포함하여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NONE: 멤버 정보 필드를 생성하지 않고 관계 표현에만 UML 표기법을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61038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9E53-25C5-BB05-BB84-E8CA7C55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195CE-224C-20E2-585D-5CF55A84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B8CC6C-C2F2-B943-4BE6-8D0237898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9641"/>
            <a:ext cx="5823284" cy="39583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84ECB3-3B9B-D4DA-37BC-B5B9A1BAB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15" y="1500955"/>
            <a:ext cx="6676585" cy="535704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26965-930A-76DE-AED2-FED5C310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 </a:t>
            </a:r>
            <a:r>
              <a:rPr lang="ko-KR" altLang="en-US" sz="2200" dirty="0"/>
              <a:t>사용한 다이어그램 예시</a:t>
            </a:r>
            <a:endParaRPr lang="en-US" altLang="ko-KR" sz="2200" dirty="0"/>
          </a:p>
          <a:p>
            <a:r>
              <a:rPr lang="en-US" altLang="ko-KR" sz="1600" dirty="0"/>
              <a:t>UML_LOOK = YES</a:t>
            </a:r>
          </a:p>
          <a:p>
            <a:r>
              <a:rPr lang="en-US" altLang="ko-KR" sz="1600" dirty="0"/>
              <a:t>UML_LIMIT_NUM_FIELDS , UML_MAX_EDGE_LABELS = </a:t>
            </a:r>
            <a:r>
              <a:rPr lang="ko-KR" altLang="ko-KR" sz="1600" dirty="0"/>
              <a:t>10</a:t>
            </a:r>
            <a:endParaRPr lang="en-US" altLang="ko-KR" sz="1600" dirty="0"/>
          </a:p>
          <a:p>
            <a:r>
              <a:rPr lang="en-US" altLang="ko-KR" sz="1600" dirty="0"/>
              <a:t>DOT_UML_DETAILS = YES</a:t>
            </a:r>
          </a:p>
        </p:txBody>
      </p:sp>
    </p:spTree>
    <p:extLst>
      <p:ext uri="{BB962C8B-B14F-4D97-AF65-F5344CB8AC3E}">
        <p14:creationId xmlns:p14="http://schemas.microsoft.com/office/powerpoint/2010/main" val="36940180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495F-73B7-863C-A6E1-A3087AA3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1B2D6-26C8-0AA3-4121-3588C6B7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9486F-4798-45CB-E69A-317BE48A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DOT_WRAP_THRESHOLD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17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한 줄에 표시할 최대 문자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실제 줄 길이가 이 값보다 크게 길어지면 여러 줄로 자동 </a:t>
            </a:r>
            <a:r>
              <a:rPr lang="ko-KR" altLang="ko-KR" sz="2000" dirty="0" err="1"/>
              <a:t>줄바꿈</a:t>
            </a:r>
            <a:r>
              <a:rPr lang="ko-KR" altLang="en-US" sz="2000" dirty="0" err="1"/>
              <a:t>된</a:t>
            </a:r>
            <a:r>
              <a:rPr lang="ko-KR" altLang="ko-KR" sz="2000" dirty="0" err="1"/>
              <a:t>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r>
              <a:rPr lang="en-US" altLang="ko-KR" sz="2000" dirty="0"/>
              <a:t>TEMPLATE_RELATIONS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협력 그래프에 템플릿과 템플릿 인스턴스 간의 관계를 표시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290708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7B6A-1187-D408-10FD-D04E946D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40066-7086-A744-192E-EE47B6C6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7F6629-EC0F-70CC-5634-48E21CABB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42" y="1006929"/>
            <a:ext cx="7603958" cy="58510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1885A-A437-D0E8-E178-D6642FAB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TEMPLATE_RELATIONS = YES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468287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3EBA-685D-E048-8005-EFDA10FA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E2CD-AEF7-AE9E-3F9C-E6A83E4B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B0D7F-4BB4-5633-2DFE-22B4EF71F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파일 간의 직접/간접 #include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INCLUDED_BY_GRAPH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INCLUDED_BY_GRAPH,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해당 파일을 </a:t>
            </a:r>
            <a:r>
              <a:rPr lang="ko-KR" altLang="ko-KR" sz="2000" dirty="0" err="1"/>
              <a:t>include하는</a:t>
            </a:r>
            <a:r>
              <a:rPr lang="ko-KR" altLang="ko-KR" sz="2000" dirty="0"/>
              <a:t> 다른 파일들의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includedbygraph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hideincludedbygraph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각각 </a:t>
            </a:r>
            <a:r>
              <a:rPr lang="en-US" altLang="ko-KR" sz="2000" b="1" dirty="0"/>
              <a:t>include </a:t>
            </a:r>
            <a:r>
              <a:rPr lang="ko-KR" altLang="en-US" sz="2000" b="1" dirty="0"/>
              <a:t>한 파일과 현재 파일을 </a:t>
            </a:r>
            <a:r>
              <a:rPr lang="en-US" altLang="ko-KR" sz="2000" b="1" dirty="0"/>
              <a:t>include</a:t>
            </a:r>
            <a:r>
              <a:rPr lang="ko-KR" altLang="en-US" sz="2000" b="1" dirty="0"/>
              <a:t>한 파일에 대한 그래프를 제공한다</a:t>
            </a:r>
            <a:r>
              <a:rPr lang="en-US" altLang="ko-KR" sz="2000" b="1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페이지 상단에서 확인 가능하다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381413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A469-388A-34C2-02C3-06CB9FD8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4899-1203-D72D-EE64-18724E8B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C467C-C319-0B51-8CE0-4F8E8C12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INCLUDED_BY_GRAPH(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80C8C8-4143-BC00-9B67-940C4D89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1909384"/>
            <a:ext cx="8261684" cy="45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136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0EDB-19E5-3B16-0A54-31B53722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FCAD2-F992-3B4D-31DE-57EDE737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B4431-89E5-BC77-3D2C-4AE2EAAF5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호출 그래프(</a:t>
            </a: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000" dirty="0"/>
              <a:t>CALLER_GRAPH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피호출자 그래프(</a:t>
            </a:r>
            <a:r>
              <a:rPr lang="ko-KR" altLang="ko-KR" sz="2000" dirty="0" err="1"/>
              <a:t>Caller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callergraph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hidecallergraph를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특정 함수가 내부에서 호출하는 함수에 대한 그래프</a:t>
            </a:r>
            <a:r>
              <a:rPr lang="ko-KR" altLang="en-US" sz="2000" dirty="0"/>
              <a:t>를 만드는 옵션이 </a:t>
            </a:r>
            <a:r>
              <a:rPr lang="en-US" altLang="ko-KR" sz="2000" dirty="0"/>
              <a:t>		       	       CALL_GRAPH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특정 함수가 어디에서 호출되었는지 나타내는 그래프</a:t>
            </a:r>
            <a:r>
              <a:rPr lang="ko-KR" altLang="en-US" sz="2000" dirty="0"/>
              <a:t>를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만드는 옵션이 </a:t>
            </a:r>
            <a:r>
              <a:rPr lang="en-US" altLang="ko-KR" sz="2000" dirty="0"/>
              <a:t>CALLER_GRAPH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각 클래스 파일 내부에 있는 멤버 함수 문서화 부분</a:t>
            </a:r>
            <a:r>
              <a:rPr lang="en-US" altLang="ko-KR" sz="2000" dirty="0"/>
              <a:t>(</a:t>
            </a:r>
            <a:r>
              <a:rPr lang="ko-KR" altLang="en-US" sz="2000" dirty="0"/>
              <a:t>목차에서 확인</a:t>
            </a:r>
            <a:r>
              <a:rPr lang="en-US" altLang="ko-KR" sz="2000" dirty="0"/>
              <a:t>)</a:t>
            </a:r>
            <a:r>
              <a:rPr lang="ko-KR" altLang="en-US" sz="2000" dirty="0"/>
              <a:t>에서 확인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가능하다</a:t>
            </a:r>
            <a:r>
              <a:rPr lang="en-US" altLang="ko-KR" sz="2000" dirty="0"/>
              <a:t>.</a:t>
            </a:r>
          </a:p>
          <a:p>
            <a:endParaRPr lang="ko-KR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309093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4BA2-B730-68AD-D34D-2F9673DA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04173-9EEE-8942-2913-E07B81714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40E07-25F8-6860-2C33-782B4085F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CALLER_GRAPH(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A06CDD-17F9-08BA-BA11-2C958EEC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7244"/>
            <a:ext cx="12192000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725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3A06-EF8E-F48A-9423-6213F6D1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E398D-7FB0-D77F-9C38-D71B305B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46FD7-7CB4-73EB-5ACE-9059B179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b="1" dirty="0"/>
              <a:t>전체 클래스 계층 구조를 텍스트 대신 그래픽 형태로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-&gt; </a:t>
            </a:r>
            <a:r>
              <a:rPr lang="ko-KR" altLang="en-US" sz="2000" dirty="0"/>
              <a:t>클래스 계통도를 눌렀을 때 그래프로 볼 수 있게 해주는 옵션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113613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8A01-3F6D-016A-69CA-6029546C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B910A-8EFE-EB96-AA91-ACE22108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22F965-3696-9FAF-74F0-150B854F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 </a:t>
            </a:r>
            <a:r>
              <a:rPr lang="ko-KR" altLang="en-US" sz="2000" dirty="0"/>
              <a:t>예시</a:t>
            </a:r>
            <a:r>
              <a:rPr lang="en-US" altLang="ko-KR" sz="2000" dirty="0"/>
              <a:t> – </a:t>
            </a:r>
            <a:r>
              <a:rPr lang="ko-KR" altLang="en-US" sz="2000" dirty="0"/>
              <a:t>왼쪽이 </a:t>
            </a:r>
            <a:r>
              <a:rPr lang="en-US" altLang="ko-KR" sz="2000" dirty="0"/>
              <a:t>NO,</a:t>
            </a:r>
            <a:r>
              <a:rPr lang="ko-KR" altLang="en-US" sz="2000" dirty="0"/>
              <a:t> 오른쪽이 </a:t>
            </a:r>
            <a:r>
              <a:rPr lang="en-US" altLang="ko-KR" sz="2000" dirty="0"/>
              <a:t>YES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47C37-E194-13FB-F669-67D2FD125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68" y="1790312"/>
            <a:ext cx="4130398" cy="48263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DA2E26-867A-A740-D072-A01946042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336" y="1770259"/>
            <a:ext cx="3701734" cy="50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93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6E1E-7FA3-73C8-94E5-401F69B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724EB-87A4-4FC2-A623-5E126E97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BAA8F-5AF5-BAC8-B7FC-8825B0C06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디렉터리 간의 #include 관계를 기반으로 </a:t>
            </a:r>
            <a:r>
              <a:rPr lang="ko-KR" altLang="ko-KR" sz="2000" b="1" dirty="0"/>
              <a:t>디렉터리 의존성 그래프를 생성</a:t>
            </a:r>
            <a:r>
              <a:rPr lang="ko-KR" altLang="en-US" sz="2000" b="1" dirty="0"/>
              <a:t>한</a:t>
            </a:r>
            <a:r>
              <a:rPr lang="ko-KR" altLang="ko-KR" sz="2000" b="1" dirty="0"/>
              <a:t>다. </a:t>
            </a:r>
            <a:r>
              <a:rPr lang="ko-KR" altLang="ko-KR" sz="2000" dirty="0"/>
              <a:t>\</a:t>
            </a:r>
            <a:r>
              <a:rPr lang="ko-KR" altLang="ko-KR" sz="2000" dirty="0" err="1"/>
              <a:t>directorygraph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hidedirectorygraph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목록 </a:t>
            </a:r>
            <a:r>
              <a:rPr lang="en-US" altLang="ko-KR" sz="2000" dirty="0"/>
              <a:t>-&gt; </a:t>
            </a:r>
            <a:r>
              <a:rPr lang="ko-KR" altLang="en-US" sz="2000" dirty="0"/>
              <a:t>폴더에서 폴더 창에 들어가면 디렉터리 의존성 그래프가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DIR_GRAPH_MAX_DEPTH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25, 기본값: 1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디렉터리 의존성 그래프에서 생성할 하위 디렉터리의 최대 깊이 단계를 제한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042455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FFB8-EE21-FFA9-E13F-564403F9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19C33-3BE4-9B80-3618-A23E0A7F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CB04F-7698-51CD-9D5F-D42E5127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0AAFC1-FD90-9C44-E440-22DD3BB43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8155"/>
            <a:ext cx="10844463" cy="50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385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35F3-7245-604F-88B6-9E99361F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56A6F-5DD6-6774-DE29-FBD22202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이미지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DCB43-A4F6-FA03-9D24-F4731B82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DOT_IMAGE_FORMAT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가능한 값: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jpg:gdiplus:gdiplus</a:t>
            </a:r>
            <a:r>
              <a:rPr lang="en-US" altLang="ko-KR" sz="2000" dirty="0"/>
              <a:t>, </a:t>
            </a:r>
            <a:r>
              <a:rPr lang="ko-KR" altLang="ko-KR" sz="2000" b="1" dirty="0"/>
              <a:t>기본값: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png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생성할 이미지 파일의 포맷을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참고: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 포맷은 INTERACTIVE_SVG 옵션과 함께 사용할 수 없다.</a:t>
            </a:r>
            <a:endParaRPr lang="en-US" altLang="ko-KR" sz="2000" dirty="0"/>
          </a:p>
          <a:p>
            <a:r>
              <a:rPr lang="en-US" altLang="ko-KR" sz="2000" dirty="0"/>
              <a:t>INTERACTIVE_SVG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DOT_IMAGE_FORMAT이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svg:svg:core일</a:t>
            </a:r>
            <a:r>
              <a:rPr lang="ko-KR" altLang="ko-KR" sz="2000" dirty="0"/>
              <a:t> 때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확대/축소 및 이동(</a:t>
            </a:r>
            <a:r>
              <a:rPr lang="ko-KR" altLang="ko-KR" sz="2000" dirty="0" err="1"/>
              <a:t>Pan</a:t>
            </a:r>
            <a:r>
              <a:rPr lang="ko-KR" altLang="ko-KR" sz="2000" dirty="0"/>
              <a:t>)이 가능한 대화형 SVG 이미지를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(최신 브라우저 필요)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61541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9D80-4E62-2645-0F47-0A03D6E6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5CC01-7F6B-718E-240F-2D4590A1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경로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97870A-153C-A983-C4E5-46448ECF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DOT_PATH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도구가 설치된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시스템 PATH 환경 변수를 참조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DOTFILE_DIRS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dotfile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107333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DF3F-5EE6-64BA-AACD-4889C0AD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7C7CB-0A46-F25B-E643-44CFBE25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F9C3AE-2136-0E57-B7E8-CBC19F25E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5717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DIA : </a:t>
            </a:r>
            <a:r>
              <a:rPr lang="ko-KR" altLang="ko-KR" sz="2000" dirty="0"/>
              <a:t>구조화된 다이어그램을 그릴 수 있는 무료 오픈소스 그래픽 편집기 프로그램</a:t>
            </a:r>
            <a:r>
              <a:rPr lang="en-US" altLang="ko-KR" sz="2000" dirty="0"/>
              <a:t>. </a:t>
            </a:r>
            <a:r>
              <a:rPr lang="en-US" altLang="ko-KR" sz="2000" b="1" dirty="0" err="1"/>
              <a:t>Doxygen</a:t>
            </a:r>
            <a:r>
              <a:rPr lang="ko-KR" altLang="en-US" sz="2000" b="1" dirty="0"/>
              <a:t>은 </a:t>
            </a:r>
            <a:r>
              <a:rPr lang="en-US" altLang="ko-KR" sz="2000" b="1" dirty="0"/>
              <a:t>DIA</a:t>
            </a:r>
            <a:r>
              <a:rPr lang="ko-KR" altLang="en-US" sz="2000" b="1" dirty="0"/>
              <a:t>로 그린 외부 다이어그램 파일</a:t>
            </a:r>
            <a:r>
              <a:rPr lang="en-US" altLang="ko-KR" sz="2000" b="1" dirty="0"/>
              <a:t>(.</a:t>
            </a:r>
            <a:r>
              <a:rPr lang="en-US" altLang="ko-KR" sz="2000" b="1" dirty="0" err="1"/>
              <a:t>dia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자동으로 이미지로 변환하여 문서에 삽입하는 기능</a:t>
            </a:r>
            <a:r>
              <a:rPr lang="ko-KR" altLang="en-US" sz="2000" dirty="0"/>
              <a:t>이 있다</a:t>
            </a:r>
            <a:r>
              <a:rPr lang="en-US" altLang="ko-KR" sz="2000" dirty="0"/>
              <a:t>. DIA_PATH</a:t>
            </a:r>
            <a:r>
              <a:rPr lang="ko-KR" altLang="en-US" sz="2000" dirty="0"/>
              <a:t>로 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실행 파일 디렉터리를 지정하고 </a:t>
            </a:r>
            <a:r>
              <a:rPr lang="en-US" altLang="ko-KR" sz="2000" dirty="0"/>
              <a:t>DIAFILE_DIRS</a:t>
            </a:r>
            <a:r>
              <a:rPr lang="ko-KR" altLang="en-US" sz="2000" dirty="0"/>
              <a:t>로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파일이 있는 디렉터리를 지정한 뒤 문법에 따라 주석을 남기면 개발자가 직접 만든 다이어그램을 가져올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 err="1"/>
              <a:t>doxygen</a:t>
            </a:r>
            <a:r>
              <a:rPr lang="ko-KR" altLang="ko-KR" sz="2000" dirty="0"/>
              <a:t>이 코드로 자동 추적할 수 없어 개발자가 직접 </a:t>
            </a:r>
            <a:r>
              <a:rPr lang="ko-KR" altLang="ko-KR" sz="2000" dirty="0" err="1"/>
              <a:t>그려놓은</a:t>
            </a:r>
            <a:r>
              <a:rPr lang="ko-KR" altLang="ko-KR" sz="2000" dirty="0"/>
              <a:t> 설계도나 시스템 아키텍처 그림을 문서에 자연스럽게 통합해 주는 역할을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 </a:t>
            </a:r>
            <a:r>
              <a:rPr lang="ko-KR" altLang="en-US" sz="2000" dirty="0"/>
              <a:t>주석 문법</a:t>
            </a:r>
            <a:br>
              <a:rPr lang="en-US" altLang="ko-KR" sz="2000" dirty="0"/>
            </a:br>
            <a:r>
              <a:rPr lang="ko-KR" altLang="ko-KR" sz="2000" dirty="0"/>
              <a:t>@diafile &lt;</a:t>
            </a:r>
            <a:r>
              <a:rPr lang="ko-KR" altLang="ko-KR" sz="2000" dirty="0" err="1"/>
              <a:t>file-name</a:t>
            </a:r>
            <a:r>
              <a:rPr lang="ko-KR" altLang="ko-KR" sz="2000" dirty="0"/>
              <a:t>&gt; ["</a:t>
            </a:r>
            <a:r>
              <a:rPr lang="ko-KR" altLang="en-US" sz="2000" dirty="0"/>
              <a:t>다이어그램 하단 설명 문구</a:t>
            </a:r>
            <a:r>
              <a:rPr lang="ko-KR" altLang="ko-KR" sz="2000" dirty="0"/>
              <a:t>"] [&lt;</a:t>
            </a:r>
            <a:r>
              <a:rPr lang="ko-KR" altLang="ko-KR" sz="2000" dirty="0" err="1"/>
              <a:t>sizeindication</a:t>
            </a:r>
            <a:r>
              <a:rPr lang="ko-KR" altLang="ko-KR" sz="2000" dirty="0"/>
              <a:t>&gt;=&lt;</a:t>
            </a:r>
            <a:r>
              <a:rPr lang="ko-KR" altLang="ko-KR" sz="2000" dirty="0" err="1"/>
              <a:t>size</a:t>
            </a:r>
            <a:r>
              <a:rPr lang="ko-KR" altLang="ko-KR" sz="2000" dirty="0"/>
              <a:t>&gt;</a:t>
            </a:r>
            <a:r>
              <a:rPr lang="en-US" altLang="ko-KR" sz="2000" dirty="0"/>
              <a:t>(</a:t>
            </a:r>
            <a:r>
              <a:rPr lang="ko-KR" altLang="en-US" sz="2000" dirty="0"/>
              <a:t>이미지 출력 제한</a:t>
            </a:r>
            <a:r>
              <a:rPr lang="en-US" altLang="ko-KR" sz="2000" dirty="0"/>
              <a:t>)</a:t>
            </a:r>
            <a:r>
              <a:rPr lang="ko-KR" altLang="ko-KR" sz="2000" dirty="0"/>
              <a:t>]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ko-KR" sz="2000" dirty="0"/>
              <a:t>@diafile </a:t>
            </a:r>
            <a:r>
              <a:rPr lang="ko-KR" altLang="ko-KR" sz="2000" dirty="0" err="1"/>
              <a:t>packet_flow.dia</a:t>
            </a:r>
            <a:r>
              <a:rPr lang="ko-KR" altLang="ko-KR" sz="2000" dirty="0"/>
              <a:t> "데이터 패킷 흐름도"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=14cm </a:t>
            </a:r>
            <a:br>
              <a:rPr lang="en-US" altLang="ko-KR" sz="2000" dirty="0"/>
            </a:br>
            <a:r>
              <a:rPr lang="ko-KR" altLang="en-US" sz="2000" dirty="0"/>
              <a:t>매체별 크기 지정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HTML 페이지에만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htmlonly</a:t>
            </a:r>
            <a:r>
              <a:rPr lang="ko-KR" altLang="ko-KR" sz="2000" dirty="0"/>
              <a:t> 800px \</a:t>
            </a:r>
            <a:r>
              <a:rPr lang="ko-KR" altLang="ko-KR" sz="2000" dirty="0" err="1"/>
              <a:t>endhtmlonly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PDF/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 문서에만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latexonly</a:t>
            </a:r>
            <a:r>
              <a:rPr lang="ko-KR" altLang="ko-KR" sz="2000" dirty="0"/>
              <a:t> 10cm \</a:t>
            </a:r>
            <a:r>
              <a:rPr lang="ko-KR" altLang="ko-KR" sz="2000" dirty="0" err="1"/>
              <a:t>endlatexonly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535705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BA00-726D-B024-9C6B-77566205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99298-20BA-43F5-27FE-11DE65BF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661F47-15A4-B897-C300-4848A6C3F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DIA_PATH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다이어그램 도구 실행 파일이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기본 검색 경로를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diafile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242094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942-CA63-87EC-66DC-2D5507FB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A216-CFED-2A46-1420-005BF18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29C92-640C-35C7-F2F8-12B155B0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PlantUML</a:t>
            </a:r>
            <a:r>
              <a:rPr lang="en-US" altLang="ko-KR" sz="2000" dirty="0"/>
              <a:t> :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</a:t>
            </a:r>
            <a:r>
              <a:rPr lang="ko-KR" altLang="ko-KR" sz="2000" b="1" dirty="0"/>
              <a:t>텍스트 코드 기반으로 UML 다이어그램을 자동 생성해 주는 대표적인 '</a:t>
            </a:r>
            <a:r>
              <a:rPr lang="ko-KR" altLang="ko-KR" sz="2000" b="1" dirty="0" err="1"/>
              <a:t>Diagrams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as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Code</a:t>
            </a:r>
            <a:r>
              <a:rPr lang="ko-KR" altLang="ko-KR" sz="2000" b="1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텍스트 코드 기반으로 UML 다이어그램을 자동 생성해 주는 대표적인 '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Code</a:t>
            </a:r>
            <a:r>
              <a:rPr lang="ko-KR" altLang="ko-KR" sz="2000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 내부의 </a:t>
            </a:r>
            <a:r>
              <a:rPr lang="ko-KR" altLang="ko-KR" sz="2000" dirty="0"/>
              <a:t>@startuml과 @enduml 사이에 정해진 문법으로 작성하면 다이어그램 이미지가 출력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주석 예시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@startuml </a:t>
            </a:r>
            <a:br>
              <a:rPr lang="en-US" altLang="ko-KR" sz="2000" dirty="0"/>
            </a:br>
            <a:r>
              <a:rPr lang="ko-KR" altLang="ko-KR" sz="2000" dirty="0" err="1"/>
              <a:t>actor</a:t>
            </a:r>
            <a:r>
              <a:rPr lang="ko-KR" altLang="ko-KR" sz="2000" dirty="0"/>
              <a:t> 사용자 </a:t>
            </a:r>
            <a:br>
              <a:rPr lang="en-US" altLang="ko-KR" sz="2000" dirty="0"/>
            </a:br>
            <a:r>
              <a:rPr lang="ko-KR" altLang="ko-KR" sz="2000" dirty="0" err="1"/>
              <a:t>participant</a:t>
            </a:r>
            <a:r>
              <a:rPr lang="ko-KR" altLang="ko-KR" sz="2000" dirty="0"/>
              <a:t> "웹 서버"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Server </a:t>
            </a:r>
            <a:br>
              <a:rPr lang="en-US" altLang="ko-KR" sz="2000" dirty="0"/>
            </a:br>
            <a:r>
              <a:rPr lang="ko-KR" altLang="ko-KR" sz="2000" dirty="0" err="1"/>
              <a:t>database</a:t>
            </a:r>
            <a:r>
              <a:rPr lang="ko-KR" altLang="ko-KR" sz="2000" dirty="0"/>
              <a:t> "데이터베이스"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DB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ko-KR" sz="2000" dirty="0"/>
              <a:t>사용자 -&gt; Server: 로그인 요청 (ID/PW) </a:t>
            </a:r>
            <a:br>
              <a:rPr lang="en-US" altLang="ko-KR" sz="2000" dirty="0"/>
            </a:br>
            <a:r>
              <a:rPr lang="ko-KR" altLang="ko-KR" sz="2000" dirty="0"/>
              <a:t>Server -&gt; DB: 사용자 정보 조회 </a:t>
            </a:r>
            <a:br>
              <a:rPr lang="en-US" altLang="ko-KR" sz="2000" dirty="0"/>
            </a:br>
            <a:r>
              <a:rPr lang="ko-KR" altLang="ko-KR" sz="2000" dirty="0"/>
              <a:t>DB --&gt; Server: 회원 정보 반환 </a:t>
            </a:r>
            <a:br>
              <a:rPr lang="en-US" altLang="ko-KR" sz="2000" dirty="0"/>
            </a:br>
            <a:r>
              <a:rPr lang="ko-KR" altLang="ko-KR" sz="2000" dirty="0"/>
              <a:t>Server --&gt; 사용자: 로그인 성공 응답 </a:t>
            </a:r>
            <a:br>
              <a:rPr lang="en-US" altLang="ko-KR" sz="2000" dirty="0"/>
            </a:br>
            <a:r>
              <a:rPr lang="ko-KR" altLang="ko-KR" sz="2000" dirty="0"/>
              <a:t>@enduml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414983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FC40-17E9-E3C8-EA22-13727D98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EC2EF-EF86-2423-6E30-575DD7FB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C3553F-D6F3-4324-8851-54CA9D65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PLANTUML_JAR_PATH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사용 시 plantuml.jar 파일의 경로 또는 파일명을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</a:t>
            </a:r>
            <a:r>
              <a:rPr lang="ko-KR" altLang="ko-KR" sz="2000" dirty="0" err="1"/>
              <a:t>PlantUML을</a:t>
            </a:r>
            <a:r>
              <a:rPr lang="ko-KR" altLang="ko-KR" sz="2000" dirty="0"/>
              <a:t> 사용하지 않는 것으로 간주하여 \</a:t>
            </a:r>
            <a:r>
              <a:rPr lang="ko-KR" altLang="ko-KR" sz="2000" dirty="0" err="1"/>
              <a:t>startuml</a:t>
            </a:r>
            <a:r>
              <a:rPr lang="ko-KR" altLang="ko-KR" sz="2000" dirty="0"/>
              <a:t> 명령어 발견 시 경고가 발생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PLANTUML_CFG_FILE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PlantUML용</a:t>
            </a:r>
            <a:r>
              <a:rPr lang="ko-KR" altLang="ko-KR" sz="2000" dirty="0"/>
              <a:t>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ko-KR" sz="2000" dirty="0"/>
              <a:t>PLANTUML_INCLUDE_PATH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코드 내의 !</a:t>
            </a:r>
            <a:r>
              <a:rPr lang="ko-KR" altLang="ko-KR" sz="2000" dirty="0" err="1"/>
              <a:t>include</a:t>
            </a:r>
            <a:r>
              <a:rPr lang="ko-KR" altLang="ko-KR" sz="2000" dirty="0"/>
              <a:t> 문에서 참조할 파일들을 검색할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plantumlfile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293959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4736-6AEE-C67F-C66E-8DB80FAD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08693-FF7A-9791-EBBE-216B9A00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592E3-FACC-A287-9A86-4042413F1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 : MERMAID</a:t>
            </a:r>
            <a:r>
              <a:rPr lang="ko-KR" altLang="en-US" sz="2000" dirty="0"/>
              <a:t>는 </a:t>
            </a:r>
            <a:r>
              <a:rPr lang="ko-KR" altLang="ko-KR" sz="2000" dirty="0"/>
              <a:t>텍스트 코드를 작성하면 다이어그램을 자동으로 그려주는</a:t>
            </a:r>
            <a:r>
              <a:rPr lang="en-US" altLang="ko-KR" sz="2000" dirty="0"/>
              <a:t> </a:t>
            </a:r>
            <a:r>
              <a:rPr lang="ko-KR" altLang="ko-KR" sz="2000" dirty="0"/>
              <a:t>오픈소스 자바스크립트(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) 라이브러리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주석이나 마크다운 문서</a:t>
            </a:r>
            <a:r>
              <a:rPr lang="en-US" altLang="ko-KR" sz="2000" dirty="0"/>
              <a:t>(.md) </a:t>
            </a:r>
            <a:r>
              <a:rPr lang="ko-KR" altLang="en-US" sz="2000" dirty="0"/>
              <a:t>내부에 </a:t>
            </a:r>
            <a:r>
              <a:rPr lang="en-US" altLang="ko-KR" sz="2000" dirty="0"/>
              <a:t>Mermaid </a:t>
            </a:r>
            <a:r>
              <a:rPr lang="ko-KR" altLang="en-US" sz="2000" dirty="0"/>
              <a:t>문법에 맞는 블록을 지정해 작성하면 된다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mermaid</a:t>
            </a:r>
            <a:br>
              <a:rPr lang="en-US" altLang="ko-KR" sz="2000" dirty="0"/>
            </a:br>
            <a:r>
              <a:rPr lang="ko-KR" altLang="ko-KR" sz="2000" dirty="0" err="1"/>
              <a:t>flowchart</a:t>
            </a:r>
            <a:r>
              <a:rPr lang="ko-KR" altLang="ko-KR" sz="2000" dirty="0"/>
              <a:t> TD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A</a:t>
            </a:r>
            <a:r>
              <a:rPr lang="ko-KR" altLang="ko-KR" sz="2000" dirty="0"/>
              <a:t>[사용자 요청] --&gt; </a:t>
            </a:r>
            <a:r>
              <a:rPr lang="ko-KR" altLang="ko-KR" sz="2000" dirty="0" err="1"/>
              <a:t>B</a:t>
            </a:r>
            <a:r>
              <a:rPr lang="ko-KR" altLang="ko-KR" sz="2000" dirty="0"/>
              <a:t>{로그인 여부}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예 --&gt; C[메인 페이지]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</a:t>
            </a:r>
            <a:r>
              <a:rPr lang="ko-KR" altLang="ko-KR" sz="2000" dirty="0" err="1"/>
              <a:t>아니오</a:t>
            </a:r>
            <a:r>
              <a:rPr lang="ko-KR" altLang="ko-KR" sz="2000" dirty="0"/>
              <a:t> --&gt; </a:t>
            </a:r>
            <a:r>
              <a:rPr lang="ko-KR" altLang="ko-KR" sz="2000" dirty="0" err="1"/>
              <a:t>D</a:t>
            </a:r>
            <a:r>
              <a:rPr lang="ko-KR" altLang="ko-KR" sz="2000" dirty="0"/>
              <a:t>[로그인 페이지] 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endmermaid</a:t>
            </a:r>
            <a:endParaRPr lang="ko-KR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26218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C5E1-EB33-C7C8-42C3-58F2F383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21B0-C96E-004F-34DE-DB8713FF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8BFF83-2D5A-CA5A-788A-6E850A8F2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 실행 파일이 위치한 디렉터리를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CLI 렌더링이 비활성화</a:t>
            </a:r>
            <a:r>
              <a:rPr lang="ko-KR" altLang="en-US" sz="2000" dirty="0"/>
              <a:t>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 클라이언트 렌더링을 사용하지만,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출력을 위해 이미지를 사전 생성하려면 </a:t>
            </a:r>
            <a:r>
              <a:rPr lang="ko-KR" altLang="ko-KR" sz="2000" dirty="0" err="1"/>
              <a:t>mmdc가</a:t>
            </a:r>
            <a:r>
              <a:rPr lang="ko-KR" altLang="ko-KR" sz="2000" dirty="0"/>
              <a:t> 필요</a:t>
            </a:r>
            <a:r>
              <a:rPr lang="ko-KR" altLang="en-US" sz="2000" dirty="0"/>
              <a:t>하</a:t>
            </a:r>
            <a:r>
              <a:rPr lang="ko-KR" altLang="ko-KR" sz="2000" dirty="0"/>
              <a:t>다.)</a:t>
            </a:r>
            <a:endParaRPr lang="en-US" altLang="ko-KR" sz="2000" dirty="0"/>
          </a:p>
          <a:p>
            <a:r>
              <a:rPr lang="en-US" altLang="ko-KR" sz="2000" dirty="0"/>
              <a:t>MERMAID_CONFIG_FILE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)에서 사용할 JSON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(테마 및 기타 옵션 설정 가능)</a:t>
            </a:r>
            <a:endParaRPr lang="en-US" altLang="ko-KR" sz="2000" dirty="0"/>
          </a:p>
          <a:p>
            <a:r>
              <a:rPr lang="en-US" altLang="ko-KR" sz="2000" dirty="0"/>
              <a:t>MERMAID_RENDER_MODE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AUTO/CLI/CLIENT_SIDE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AUTO)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다이어그램의 렌더링 방식을 선택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AUTO: 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클라이언트 측 렌더링,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등은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CLI를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CLI: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도구를 사용하여 이미지를 사전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(Node.js 및 </a:t>
            </a:r>
            <a:r>
              <a:rPr lang="ko-KR" altLang="ko-KR" sz="2000" dirty="0" err="1"/>
              <a:t>mermaid-cli</a:t>
            </a:r>
            <a:r>
              <a:rPr lang="ko-KR" altLang="ko-KR" sz="2000" dirty="0"/>
              <a:t> 필요)</a:t>
            </a:r>
          </a:p>
          <a:p>
            <a:pPr lvl="1"/>
            <a:r>
              <a:rPr lang="ko-KR" altLang="ko-KR" sz="2000" dirty="0"/>
              <a:t>CLIENT_SIDE: HTML 출력물에 </a:t>
            </a:r>
            <a:r>
              <a:rPr lang="ko-KR" altLang="ko-KR" sz="2000" dirty="0" err="1"/>
              <a:t>mermaid.js를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임베드하여</a:t>
            </a:r>
            <a:r>
              <a:rPr lang="ko-KR" altLang="ko-KR" sz="2000" dirty="0"/>
              <a:t> 브라우저에서 렌더링</a:t>
            </a:r>
            <a:r>
              <a:rPr lang="ko-KR" altLang="en-US" sz="2000" dirty="0"/>
              <a:t>한</a:t>
            </a:r>
            <a:r>
              <a:rPr lang="ko-KR" altLang="ko-KR" sz="2000" dirty="0"/>
              <a:t>다. (HTML 전용)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00107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23F8E-F80C-2AC4-4D25-C7F75724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3254E-0DEF-EFEA-CA86-FA899729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991E3-8139-2168-2DBB-6A8F92279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MERMAID_JS_URL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기본값: [https://cdn.jsdelivr.net/npm/mermaid@11/dist/mermaid.esm.min.mjs](https://cdn.jsdelivr.net/npm/mermaid@11/dist/mermaid.esm.min.mjs)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클라이언트 측 렌더링 시 사용할 mermaid.js 스크립트의 </a:t>
            </a:r>
            <a:r>
              <a:rPr lang="ko-KR" altLang="ko-KR" sz="2000" dirty="0" err="1"/>
              <a:t>URL을</a:t>
            </a:r>
            <a:r>
              <a:rPr lang="ko-KR" altLang="ko-KR" sz="2000" dirty="0"/>
              <a:t>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오프라인 환경에서는 라이브러리 파일을 직접 다운로드하여 상대 경로로 지정하거나 CLI 모드를 사용해야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MERMAIDFILE_DIRS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mermaidfile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44593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C296-B8C5-B762-4251-C63DE544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0290A-35D5-0FDF-3822-0BC6E96C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14D9A-F539-2630-C1DD-4F15D3D04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DOT_GRAPH_MAX_NODES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그래프에 표시할 최대 노드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이 값을 초과하면 그래프가 잘리며 해당 노드는 빨간색 상자로 표시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MAX_DOT_GRAPH_DEPTH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최대 깊이를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(예: 3으로 설정 시 루트에서 최대 3개의 연결선을 거쳐 도달하는 노드만 표시). 0으로 설정하면 깊이 제한이 없다.</a:t>
            </a:r>
            <a:endParaRPr lang="en-US" altLang="ko-KR" sz="2000" dirty="0"/>
          </a:p>
          <a:p>
            <a:r>
              <a:rPr lang="en-US" altLang="ko-KR" sz="2000" dirty="0"/>
              <a:t>GENERATE_LEGEND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상자 및 화살표 의미를 설명하는 범례 페이지를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UML_LOOK이</a:t>
            </a:r>
            <a:r>
              <a:rPr lang="ko-KR" altLang="ko-KR" sz="2000" dirty="0"/>
              <a:t> 비활성화되어 있을 때 적용)</a:t>
            </a:r>
            <a:endParaRPr lang="en-US" altLang="ko-KR" sz="2000" dirty="0"/>
          </a:p>
          <a:p>
            <a:r>
              <a:rPr lang="en-US" altLang="ko-KR" sz="2000" dirty="0"/>
              <a:t>DOT_CLEANUP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그래프 생성 과정에서 사용된 중간/임시 파일들을 삭제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임시 파일 공통 적용)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742111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777C-F620-5B7C-4D85-0AB0ADD1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4F067-9A5C-2308-86F5-DFAADF4C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F2A48-7FDB-CC7A-A81A-90AD59C5B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3187AA-209E-36A4-0A03-5F8177918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7888"/>
            <a:ext cx="12192000" cy="4524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1642C3-BED0-84FA-7E5F-F056193D4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58" y="1736505"/>
            <a:ext cx="6188241" cy="4280906"/>
          </a:xfrm>
          <a:prstGeom prst="rect">
            <a:avLst/>
          </a:prstGeom>
        </p:spPr>
      </p:pic>
      <p:sp>
        <p:nvSpPr>
          <p:cNvPr id="13" name="액자 12">
            <a:extLst>
              <a:ext uri="{FF2B5EF4-FFF2-40B4-BE49-F238E27FC236}">
                <a16:creationId xmlns:a16="http://schemas.microsoft.com/office/drawing/2014/main" id="{9F25FEC1-5990-FEEF-59FB-C7393B6D957D}"/>
              </a:ext>
            </a:extLst>
          </p:cNvPr>
          <p:cNvSpPr/>
          <p:nvPr/>
        </p:nvSpPr>
        <p:spPr>
          <a:xfrm>
            <a:off x="7828547" y="5325978"/>
            <a:ext cx="1026696" cy="691433"/>
          </a:xfrm>
          <a:prstGeom prst="frame">
            <a:avLst>
              <a:gd name="adj1" fmla="val 871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1762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D6B3-5ED9-FF28-2707-75436967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1B9AC-0979-9059-E87D-6E546692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3F4F7-F5FF-373A-F9BB-8CC5F64E7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EEC368-660C-DBC4-6461-63E5443E5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134"/>
            <a:ext cx="11871158" cy="53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077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122E-028E-4241-340D-AA79D8FA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C4E3F-64FE-B9C0-705C-B4B25F4E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DC8B0-8665-1E41-341F-683CD4889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FFC203-B916-FD21-5FA9-112C33AC5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470"/>
            <a:ext cx="12192000" cy="15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70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B451-A034-62C0-00DD-65C0D5D6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B0C8D-81EB-8687-88B9-5C9640CB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98D1A-F591-002A-89E6-E7FD3DC67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 :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(</a:t>
            </a:r>
            <a:r>
              <a:rPr lang="ko-KR" altLang="ko-KR" sz="2000" dirty="0" err="1"/>
              <a:t>Message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Sequence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Chart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Generator</a:t>
            </a:r>
            <a:r>
              <a:rPr lang="ko-KR" altLang="ko-KR" sz="2000" dirty="0"/>
              <a:t>)은 텍스트로 작성된 가독성 높은 코드를 읽어 시퀀스 다이어그램(순서도) 이미지로 변환해 주는 대표적인 오픈소스 도구</a:t>
            </a:r>
            <a:r>
              <a:rPr lang="ko-KR" altLang="en-US" sz="2000" dirty="0"/>
              <a:t>이다</a:t>
            </a:r>
            <a:r>
              <a:rPr lang="en-US" altLang="ko-KR" sz="2000" dirty="0"/>
              <a:t>. MSC </a:t>
            </a:r>
            <a:r>
              <a:rPr lang="ko-KR" altLang="en-US" sz="2000" dirty="0"/>
              <a:t>문법에 따라 작성하여 그래프를 만든다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doxygen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Mscgen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크게 </a:t>
            </a:r>
            <a:r>
              <a:rPr lang="en-US" altLang="ko-KR" sz="2000" dirty="0"/>
              <a:t>2</a:t>
            </a:r>
            <a:r>
              <a:rPr lang="ko-KR" altLang="en-US" sz="2000" dirty="0"/>
              <a:t>가지 방법으로 사용된다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주석 안에 직접 차트 그리기 (\</a:t>
            </a:r>
            <a:r>
              <a:rPr lang="ko-KR" altLang="ko-KR" sz="1800" dirty="0" err="1"/>
              <a:t>msc</a:t>
            </a:r>
            <a:r>
              <a:rPr lang="ko-KR" altLang="ko-KR" sz="1800" dirty="0"/>
              <a:t> ~ \</a:t>
            </a:r>
            <a:r>
              <a:rPr lang="ko-KR" altLang="ko-KR" sz="1800" dirty="0" err="1"/>
              <a:t>mscend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개발자가 소스 코드 함수 위에 주석을 달면서, 그 함수의 내부 동작 흐름을 </a:t>
            </a:r>
            <a:r>
              <a:rPr lang="ko-KR" altLang="ko-KR" sz="1800" dirty="0" err="1"/>
              <a:t>Mscgen</a:t>
            </a:r>
            <a:r>
              <a:rPr lang="ko-KR" altLang="ko-KR" sz="1800" dirty="0"/>
              <a:t> 문법으로 직접 작성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외부 차트 파일 불러오기 (\</a:t>
            </a:r>
            <a:r>
              <a:rPr lang="ko-KR" altLang="ko-KR" sz="1800" dirty="0" err="1"/>
              <a:t>mscfile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차트 내용이 너무 길어 코드 주석이 </a:t>
            </a:r>
            <a:r>
              <a:rPr lang="ko-KR" altLang="ko-KR" sz="1800" dirty="0" err="1"/>
              <a:t>지저분해진다면</a:t>
            </a:r>
            <a:r>
              <a:rPr lang="ko-KR" altLang="ko-KR" sz="1800" dirty="0"/>
              <a:t>, 별도의 텍스트 파일(예: </a:t>
            </a:r>
            <a:r>
              <a:rPr lang="ko-KR" altLang="ko-KR" sz="1800" dirty="0" err="1"/>
              <a:t>auth_flow.msc</a:t>
            </a:r>
            <a:r>
              <a:rPr lang="ko-KR" altLang="ko-KR" sz="1800" dirty="0"/>
              <a:t>)로 분리해 저장할 수 있다. </a:t>
            </a:r>
            <a:r>
              <a:rPr lang="ko-KR" altLang="en-US" sz="1800" dirty="0"/>
              <a:t>이때 파일은 </a:t>
            </a:r>
            <a:r>
              <a:rPr lang="ko-KR" altLang="ko-KR" sz="1800" dirty="0" err="1"/>
              <a:t>MSCFILE_DIRS</a:t>
            </a:r>
            <a:r>
              <a:rPr lang="ko-KR" altLang="en-US" sz="1800" dirty="0" err="1"/>
              <a:t>설정을</a:t>
            </a:r>
            <a:r>
              <a:rPr lang="ko-KR" altLang="en-US" sz="1800" dirty="0"/>
              <a:t> 통해 지정한 경로에 저장해야 한다</a:t>
            </a:r>
            <a:r>
              <a:rPr lang="ko-KR" altLang="ko-KR" sz="1800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9828660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D31E-C942-0185-9DE1-F834B775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4660-1091-6496-AB7B-1541EF4C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08AF1-0D6B-AAC4-6DA1-DAEA6502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MSCGEN_TOOL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주석 내에서 \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명령어로 메시지 시퀀스 차트를 생성할 때 사용할 도구를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내장된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 도구를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 외부 도구를 지정하는 경우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eps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ismap</a:t>
            </a:r>
            <a:r>
              <a:rPr lang="ko-KR" altLang="ko-KR" sz="2000" dirty="0"/>
              <a:t> 포맷 출력을 지원해야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MSCFILE_DIRS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mscfile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05876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8424</Words>
  <Application>Microsoft Office PowerPoint</Application>
  <PresentationFormat>와이드스크린</PresentationFormat>
  <Paragraphs>540</Paragraphs>
  <Slides>108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9" baseType="lpstr">
      <vt:lpstr>Arial Unicode MS</vt:lpstr>
      <vt:lpstr>Google Sans Text</vt:lpstr>
      <vt:lpstr>G마켓 산스 TTF Bold</vt:lpstr>
      <vt:lpstr>G마켓 산스 TTF Medium</vt:lpstr>
      <vt:lpstr>Pretendard</vt:lpstr>
      <vt:lpstr>Pretendard Medium</vt:lpstr>
      <vt:lpstr>Pretendard Regular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Export input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Export Sourec browser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Man</vt:lpstr>
      <vt:lpstr>PowerPoint 프레젠테이션</vt:lpstr>
      <vt:lpstr>XML</vt:lpstr>
      <vt:lpstr>PowerPoint 프레젠테이션</vt:lpstr>
      <vt:lpstr>Docbook</vt:lpstr>
      <vt:lpstr>PowerPoint 프레젠테이션</vt:lpstr>
      <vt:lpstr>AutoGen</vt:lpstr>
      <vt:lpstr>PowerPoint 프레젠테이션</vt:lpstr>
      <vt:lpstr>Sqlite3</vt:lpstr>
      <vt:lpstr>PowerPoint 프레젠테이션</vt:lpstr>
      <vt:lpstr>PerlMod</vt:lpstr>
      <vt:lpstr>PowerPoint 프레젠테이션</vt:lpstr>
      <vt:lpstr>Preprocessor</vt:lpstr>
      <vt:lpstr>PowerPoint 프레젠테이션</vt:lpstr>
      <vt:lpstr>PowerPoint 프레젠테이션</vt:lpstr>
      <vt:lpstr>PowerPoint 프레젠테이션</vt:lpstr>
      <vt:lpstr>PowerPoint 프레젠테이션</vt:lpstr>
      <vt:lpstr>2. Expart 설정</vt:lpstr>
      <vt:lpstr>2. Expart 설정</vt:lpstr>
      <vt:lpstr>2. Expart 설정 – dot 실행 설정</vt:lpstr>
      <vt:lpstr>2. Expart 설정 – dot 실행 설정</vt:lpstr>
      <vt:lpstr>2. Expart 설정 – 그래프 스타일</vt:lpstr>
      <vt:lpstr>2. Expart 설정 – 그래프 스타일</vt:lpstr>
      <vt:lpstr>2. Expart 설정 – 그래프 스타일</vt:lpstr>
      <vt:lpstr>2. Expart 설정 – 그래프 생성1</vt:lpstr>
      <vt:lpstr>2. Expart 설정 – 그래프 생성1</vt:lpstr>
      <vt:lpstr>2. Expart 설정 - 그래프 생성1</vt:lpstr>
      <vt:lpstr>2. Expart 설정 -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UML 설정</vt:lpstr>
      <vt:lpstr>2. Expart 설정 – UML 설정</vt:lpstr>
      <vt:lpstr>2. Expart 설정 – UML 설정</vt:lpstr>
      <vt:lpstr>2. Expart 설정 – UML 설정</vt:lpstr>
      <vt:lpstr>2. Expart 설정 – 기타 설정 1</vt:lpstr>
      <vt:lpstr>2. Expart 설정 – 기타 설정 1</vt:lpstr>
      <vt:lpstr>2. Expart 설정 – include, included 그래프 설정</vt:lpstr>
      <vt:lpstr>2. Expart 설정 – include, included 그래프 설정</vt:lpstr>
      <vt:lpstr>2. Expart 설정 – call, caller 그래프</vt:lpstr>
      <vt:lpstr>2. Expart 설정 – call, caller 그래프</vt:lpstr>
      <vt:lpstr>2. Expart 설정 – 그래프 생성2</vt:lpstr>
      <vt:lpstr>2. Expart 설정 – 그래프 생성2</vt:lpstr>
      <vt:lpstr>2. Expart 설정 – 그래프 생성2</vt:lpstr>
      <vt:lpstr>2. Expart 설정 – 그래프 생성2</vt:lpstr>
      <vt:lpstr>2. Expart 설정 – 그래프 이미지 설정</vt:lpstr>
      <vt:lpstr>2. Expart 설정 – 경로 설정</vt:lpstr>
      <vt:lpstr>2. Expart 설정 – DIA 설정</vt:lpstr>
      <vt:lpstr>2. Expart 설정 – DIA 설정</vt:lpstr>
      <vt:lpstr>2. Expart 설정 – PLANTUML 설정</vt:lpstr>
      <vt:lpstr>2. Expart 설정 – PLANTUML 설정</vt:lpstr>
      <vt:lpstr>2. Expart 설정 – MERMAID 설정</vt:lpstr>
      <vt:lpstr>2. Expart 설정 – MERMAID 설정</vt:lpstr>
      <vt:lpstr>2. Expart 설정 – MERMAID 설정</vt:lpstr>
      <vt:lpstr>2. Expart 설정 – 기타 설정2</vt:lpstr>
      <vt:lpstr>2. Expart 설정 – 기타 설정2</vt:lpstr>
      <vt:lpstr>2. Expart 설정 – 기타 설정2</vt:lpstr>
      <vt:lpstr>2. Expart 설정 – 기타 설정2</vt:lpstr>
      <vt:lpstr>2. Expart 설정 – msc 설정</vt:lpstr>
      <vt:lpstr>2. Expart 설정 – msc 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재준 명</dc:creator>
  <cp:lastModifiedBy>재준 명</cp:lastModifiedBy>
  <cp:revision>2</cp:revision>
  <dcterms:created xsi:type="dcterms:W3CDTF">2026-08-19T02:11:57Z</dcterms:created>
  <dcterms:modified xsi:type="dcterms:W3CDTF">2026-08-19T02:13:04Z</dcterms:modified>
</cp:coreProperties>
</file>